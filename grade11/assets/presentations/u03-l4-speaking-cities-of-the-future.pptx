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12192000"/>
  <p:embeddedFontLst>
    <p:embeddedFont>
      <p:font typeface="Be Vietnam Pro" pitchFamily="2" charset="77"/>
      <p:regular r:id="rId25"/>
      <p:bold r:id="rId26"/>
    </p:embeddedFont>
    <p:embeddedFont>
      <p:font typeface="Calibri" panose="020F0502020204030204" pitchFamily="34" charset="0"/>
      <p:regular r:id="rId27"/>
      <p:bold r:id="rId28"/>
      <p:italic r:id="rId29"/>
      <p:boldItalic r:id="rId30"/>
    </p:embeddedFont>
    <p:embeddedFont>
      <p:font typeface="Nunito Sans" pitchFamily="2" charset="77"/>
      <p:regular r:id="rId31"/>
      <p:bold r:id="rId32"/>
      <p:italic r:id="rId33"/>
      <p:boldItalic r:id="rId34"/>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004"/>
    <p:restoredTop sz="94610"/>
  </p:normalViewPr>
  <p:slideViewPr>
    <p:cSldViewPr snapToGrid="0" snapToObjects="1">
      <p:cViewPr varScale="1">
        <p:scale>
          <a:sx n="75" d="100"/>
          <a:sy n="75" d="100"/>
        </p:scale>
        <p:origin x="176" y="11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21" Type="http://schemas.openxmlformats.org/officeDocument/2006/relationships/slide" Target="slides/slide20.xml"/><Relationship Id="rId34" Type="http://schemas.openxmlformats.org/officeDocument/2006/relationships/font" Target="fonts/font10.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864005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Speaking Unit 3 (Global Success 11, trang 32–33): Discussing cities of the future. Các slide đi cùng handout “Speaking Input &amp; Practice” (bản v2). Gợi ý thời lượng: warm-up 5 phút, Task 1–2 8 phút, input + Task 3 12 phút, problems &amp; solutions 5 phút, Task 4 12 phút, exit ticket 3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Giới thiệu nhanh 3 mục tiêu (1 phút). Nhấn mạnh công thức nói sẽ dùng xuyên suốt bài: Feature → How it works → Benefit.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Warm-up 3–4 phút. Cách chơi: chiếu slide trước khi nói tên bài (hoặc che các cột), chia lớp thành 3 đội, mỗi đội có 1 phút gọi lại càng nhiều từ/ý của một bài (Getting Started, Reading, Listening) càng tốt. Sau đó mở slide để đối chiếu. Đây cũng là phần “Make connections” ở trang 1 handout.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(2 phút): học sinh làm theo cặp, nhìn sơ đồ trang 32. Hỏi thêm: “Which word in the idea helped you?” (vehicles → transport; skyscrapers → infrastructure; quality of life → living conditions). Slide sau là đáp án.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Đáp án Task 1: (1) B, (2) C, (3) A. Gọi 3 cặp đọc to một nhánh của sơ đồ, kể cả câu có sẵn trong sách, để luyện phát âm trước khi sang Task 2.</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(2 phút): học sinh nối câu hỏi với câu trả lời, rồi luyện hội thoại theo cặp. Gợi ý: tìm từ khóa nối hai câu (travel → use public transport; Why → Because).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Đáp án Task 2: 1 – c, 2 – a, 3 – b. Cho học sinh luyện theo cặp 1 lần, đổi vai 1 lần. Chỉ ra cấu trúc: câu hỏi Wh- → trả lời → hỏi tiếp “Really? Why…?”. Đây là mô hình cho Task 3.</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Mô hình hóa công thức bằng ví dụ xe buýt điện (3 phút). Sau đó gọi 2–3 học sinh hoàn thành câu “smart street lights” ở dưới. Gợi ý: They will turn off when the streets are empty. This will help save energy.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bank (trang 1 handout). Cho học sinh chọn 1 ý ở cột Key ideas, ghép với 1 ý ở cột Benefits và nói thành câu theo công thức vừa học.</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toolkit (trang 2 handout). Nhấn mạnh bị động với will: will be equipped with / will be controlled by / will be used to. Hai dòng cuối dùng cho phần thảo luận vấn đề và Task 4.</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bank (trang 3 handout). Học sinh chọn 1 nhóm, hỏi đáp 2–3 câu. Nhóm “Smart city challenges” lấy ý từ bài Listening (privacy, loneliness, sense of community), dành cho học sinh khá.</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 phần Tips trong sách (trang 33): dùng câu hỏi Wh- để tìm thêm thông tin và phát triển ý. Yêu cầu khi luyện Task 3: mỗi người hỏi ít nhất 2 câu Wh- và 1 câu follow-up, và phản hồi lại bạn bằng một câu ở hàng Reacting.</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Hội thoại mẫu 1 (trang 4 handout). Đọc mẫu cùng một học sinh, sau đó cả lớp luyện theo cặp. Chỉ ra các câu follow-up: “That sounds interesting! Why…?”, “How will technology…?”.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Hội thoại mẫu 2 (trang 4 handout). Ba lượt cuối nối với bài Listening: lo ngại về chuyện cô đơn (lonely, interact face to face less) và giải pháp (community events, sense of community). Có thể cho học sinh khá thay câu trả lời của B bằng ý khác.</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3 (5–6 phút): luyện theo cặp 3 phút, đổi vai, rồi gọi 2 cặp trình bày trước lớp. Học sinh yếu có thể đọc theo hội thoại mẫu và chỉ thay từ khóa; học sinh khá dùng nhóm câu hỏi “Smart city challenges”.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này giúp học sinh trả lời câu hỏi “Why…?”: nêu vấn đề hiện nay rồi đến giải pháp. Ví dụ: Nowadays, traffic jams are a serious problem in big cities. In the future, smart systems will predict traffic and warn drivers. Lưu ý chia động từ (traffic jams are / air pollution is).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Ý lấy từ bài Listening (phỏng vấn Ms Stevens: privacy, robots, interact, sense of community). Hỏi lớp: “Which problem is the most serious? Why?” rồi cho học sinh nói 1 câu theo khung. Phần này hỗ trợ đoạn “Challenge (optional)” trong bài thuyết trình nhóm.</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Liên hệ thực tế (trang 5 handout, mục 06). Hỏi: “What is your city like now? What will it be like in 2050?” Cho học sinh nói 1–2 câu theo khung. Có thể thay ví dụ bằng thành phố/tỉnh của trường.</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4, bước 1 (4 phút): mỗi nhóm 4 người chọn 1 ý ở mỗi nhóm (mục 07 handout, có ô tick) và thảo luận theo các câu hỏi bên phải. Nhắc học sinh dùng công thức Feature → How it works → Benefit cho từng ý.</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thuyết trình mẫu (mục 08 handout). Đọc mẫu 1 lần, hỏi lớp: “Which words help the audience follow the talk?” (First, Second, Finally, However, In conclusion). Đoạn Challenge chỉ dành cho nhóm khá.</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4, bước 2 (8 phút): nhóm phân vai, ghi ý vào bảng “Plan your group presentation” ở cuối handout, tập 1 lần rồi trình bày. Mỗi nhóm 1 phút. Các nhóm khác nghe và hỏi 1 câu Wh- sau mỗi bài.</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(2–3 phút): học sinh nói với bạn cùng bàn hoặc viết 2–3 câu ra giấy nhỏ, nộp khi ra về. Dùng để kiểm tra nhanh học sinh đã dùng được công thức nói và từ vựng của bài chưa.</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BFAF6"/>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051520"/>
            <a:ext cx="10566400" cy="419100"/>
          </a:xfrm>
          <a:prstGeom prst="rect">
            <a:avLst/>
          </a:prstGeom>
          <a:noFill/>
          <a:ln/>
        </p:spPr>
        <p:txBody>
          <a:bodyPr wrap="square" lIns="0" tIns="0" rIns="0" bIns="0" rtlCol="0" anchor="t"/>
          <a:lstStyle>
            <a:lvl1pPr marL="0" indent="0" algn="l">
              <a:lnSpc>
                <a:spcPct val="115000"/>
              </a:lnSpc>
              <a:buNone/>
              <a:defRPr lang="en-US" sz="3000" dirty="0">
                <a:solidFill>
                  <a:srgbClr val="1D3557"/>
                </a:solidFill>
                <a:latin typeface="Be Vietnam Pro" pitchFamily="34" charset="0"/>
                <a:ea typeface="Be Vietnam Pro" pitchFamily="34" charset="-122"/>
                <a:cs typeface="Be Vietnam Pro"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800" y="1775420"/>
            <a:ext cx="10566400" cy="4269780"/>
          </a:xfrm>
          <a:prstGeom prst="rect">
            <a:avLst/>
          </a:prstGeom>
          <a:noFill/>
          <a:ln/>
        </p:spPr>
        <p:txBody>
          <a:bodyPr wrap="square" lIns="0" tIns="0" rIns="0" bIns="0" rtlCol="0" anchor="t"/>
          <a:lstStyle>
            <a:lvl1pPr marL="0" indent="0" algn="l">
              <a:lnSpc>
                <a:spcPct val="140000"/>
              </a:lnSpc>
              <a:buNone/>
              <a:defRPr lang="en-US" sz="1600" dirty="0">
                <a:solidFill>
                  <a:srgbClr val="2A3646"/>
                </a:solidFill>
                <a:latin typeface="Nunito Sans" pitchFamily="34" charset="0"/>
                <a:ea typeface="Nunito Sans" pitchFamily="34" charset="-122"/>
                <a:cs typeface="Nunito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051520"/>
            <a:ext cx="10566400" cy="419100"/>
          </a:xfrm>
          <a:prstGeom prst="rect">
            <a:avLst/>
          </a:prstGeom>
          <a:noFill/>
          <a:ln/>
        </p:spPr>
        <p:txBody>
          <a:bodyPr wrap="square" lIns="0" tIns="0" rIns="0" bIns="0" rtlCol="0" anchor="t"/>
          <a:lstStyle>
            <a:lvl1pPr marL="0" indent="0" algn="l">
              <a:lnSpc>
                <a:spcPct val="115000"/>
              </a:lnSpc>
              <a:buNone/>
              <a:defRPr lang="en-US" sz="3000" dirty="0">
                <a:solidFill>
                  <a:srgbClr val="1D3557"/>
                </a:solidFill>
                <a:latin typeface="Be Vietnam Pro" pitchFamily="34" charset="0"/>
                <a:ea typeface="Be Vietnam Pro" pitchFamily="34" charset="-122"/>
                <a:cs typeface="Be Vietnam Pro"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800" y="1775420"/>
            <a:ext cx="10566400" cy="4269780"/>
          </a:xfrm>
          <a:prstGeom prst="rect">
            <a:avLst/>
          </a:prstGeom>
          <a:noFill/>
          <a:ln/>
        </p:spPr>
        <p:txBody>
          <a:bodyPr wrap="square" lIns="0" tIns="0" rIns="0" bIns="0" rtlCol="0" anchor="t"/>
          <a:lstStyle>
            <a:lvl1pPr marL="0" indent="0" algn="l">
              <a:lnSpc>
                <a:spcPct val="140000"/>
              </a:lnSpc>
              <a:buNone/>
              <a:defRPr lang="en-US" sz="1600" dirty="0">
                <a:solidFill>
                  <a:srgbClr val="2A3646"/>
                </a:solidFill>
                <a:latin typeface="Nunito Sans" pitchFamily="34" charset="0"/>
                <a:ea typeface="Nunito Sans" pitchFamily="34" charset="-122"/>
                <a:cs typeface="Nunito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D3557"/>
        </a:solidFill>
        <a:effectLst/>
      </p:bgPr>
    </p:bg>
    <p:spTree>
      <p:nvGrpSpPr>
        <p:cNvPr id="1" name=""/>
        <p:cNvGrpSpPr/>
        <p:nvPr/>
      </p:nvGrpSpPr>
      <p:grpSpPr>
        <a:xfrm>
          <a:off x="0" y="0"/>
          <a:ext cx="0" cy="0"/>
          <a:chOff x="0" y="0"/>
          <a:chExt cx="0" cy="0"/>
        </a:xfrm>
      </p:grpSpPr>
      <p:sp>
        <p:nvSpPr>
          <p:cNvPr id="2" name="Shape 0"/>
          <p:cNvSpPr/>
          <p:nvPr/>
        </p:nvSpPr>
        <p:spPr>
          <a:xfrm>
            <a:off x="812800" y="812800"/>
            <a:ext cx="762000" cy="50800"/>
          </a:xfrm>
          <a:prstGeom prst="roundRect">
            <a:avLst>
              <a:gd name="adj" fmla="val 50000"/>
            </a:avLst>
          </a:prstGeom>
          <a:solidFill>
            <a:srgbClr val="E8762A"/>
          </a:solidFill>
          <a:ln/>
        </p:spPr>
      </p:sp>
      <p:sp>
        <p:nvSpPr>
          <p:cNvPr id="3" name="Text 1"/>
          <p:cNvSpPr/>
          <p:nvPr/>
        </p:nvSpPr>
        <p:spPr>
          <a:xfrm>
            <a:off x="812800" y="10160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F0A060"/>
                </a:solidFill>
                <a:latin typeface="Nunito Sans" pitchFamily="34" charset="0"/>
                <a:ea typeface="Nunito Sans" pitchFamily="34" charset="-122"/>
                <a:cs typeface="Nunito Sans" pitchFamily="34" charset="-120"/>
              </a:rPr>
              <a:t>ENGLISH 11 • UNIT 3 • SPEAKING</a:t>
            </a:r>
            <a:endParaRPr lang="en-US" sz="1400" dirty="0"/>
          </a:p>
        </p:txBody>
      </p:sp>
      <p:sp>
        <p:nvSpPr>
          <p:cNvPr id="4" name="Text 2"/>
          <p:cNvSpPr>
            <a:spLocks noGrp="1"/>
          </p:cNvSpPr>
          <p:nvPr>
            <p:ph type="title"/>
          </p:nvPr>
        </p:nvSpPr>
        <p:spPr>
          <a:xfrm>
            <a:off x="812800" y="2806750"/>
            <a:ext cx="10883392" cy="772120"/>
          </a:xfrm>
          <a:prstGeom prst="rect">
            <a:avLst/>
          </a:prstGeom>
          <a:noFill/>
          <a:ln/>
        </p:spPr>
        <p:txBody>
          <a:bodyPr wrap="square" lIns="0" tIns="0" rIns="0" bIns="0" rtlCol="0" anchor="t">
            <a:normAutofit/>
          </a:bodyPr>
          <a:lstStyle/>
          <a:p>
            <a:pPr marL="0" indent="0" algn="l">
              <a:lnSpc>
                <a:spcPts val="5880"/>
              </a:lnSpc>
              <a:buNone/>
            </a:pPr>
            <a:r>
              <a:rPr lang="en-US" sz="5600" b="1" i="0" dirty="0">
                <a:solidFill>
                  <a:srgbClr val="F3F1EA"/>
                </a:solidFill>
                <a:latin typeface="Be Vietnam Pro" pitchFamily="34" charset="0"/>
                <a:ea typeface="Be Vietnam Pro" pitchFamily="34" charset="-122"/>
                <a:cs typeface="Be Vietnam Pro" pitchFamily="34" charset="-120"/>
              </a:rPr>
              <a:t>Cities of the future</a:t>
            </a:r>
            <a:endParaRPr lang="en-US" sz="5600" dirty="0"/>
          </a:p>
        </p:txBody>
      </p:sp>
      <p:sp>
        <p:nvSpPr>
          <p:cNvPr id="5" name="Text 3"/>
          <p:cNvSpPr/>
          <p:nvPr/>
        </p:nvSpPr>
        <p:spPr>
          <a:xfrm>
            <a:off x="812800" y="3731270"/>
            <a:ext cx="10883392" cy="34543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BFD3DA"/>
                </a:solidFill>
                <a:latin typeface="Nunito Sans" pitchFamily="34" charset="0"/>
                <a:ea typeface="Nunito Sans" pitchFamily="34" charset="-122"/>
                <a:cs typeface="Nunito Sans" pitchFamily="34" charset="-120"/>
              </a:rPr>
              <a:t>Discussing what our cities will be like in 2050</a:t>
            </a:r>
            <a:endParaRPr lang="en-US" sz="1800" dirty="0"/>
          </a:p>
        </p:txBody>
      </p:sp>
      <p:sp>
        <p:nvSpPr>
          <p:cNvPr id="6" name="Text 4"/>
          <p:cNvSpPr/>
          <p:nvPr/>
        </p:nvSpPr>
        <p:spPr>
          <a:xfrm>
            <a:off x="819150" y="5599460"/>
            <a:ext cx="1224558" cy="439390"/>
          </a:xfrm>
          <a:prstGeom prst="roundRect">
            <a:avLst>
              <a:gd name="adj" fmla="val 50000"/>
            </a:avLst>
          </a:prstGeom>
          <a:noFill/>
          <a:ln w="12700">
            <a:solidFill>
              <a:srgbClr val="4F7096"/>
            </a:solidFill>
            <a:prstDash val="solid"/>
          </a:ln>
        </p:spPr>
        <p:txBody>
          <a:bodyPr wrap="none" lIns="0" tIns="0" rIns="0" bIns="0" rtlCol="0" anchor="ctr">
            <a:normAutofit/>
          </a:bodyPr>
          <a:lstStyle/>
          <a:p>
            <a:pPr marL="0" indent="0" algn="ctr">
              <a:lnSpc>
                <a:spcPts val="1960"/>
              </a:lnSpc>
              <a:buNone/>
            </a:pPr>
            <a:r>
              <a:rPr lang="en-US" sz="1400" b="1" dirty="0">
                <a:solidFill>
                  <a:srgbClr val="F3F1EA"/>
                </a:solidFill>
                <a:latin typeface="Nunito Sans" pitchFamily="34" charset="0"/>
                <a:ea typeface="Nunito Sans" pitchFamily="34" charset="-122"/>
                <a:cs typeface="Nunito Sans" pitchFamily="34" charset="-120"/>
              </a:rPr>
              <a:t>Transport</a:t>
            </a:r>
            <a:endParaRPr lang="en-US" sz="1400" dirty="0"/>
          </a:p>
        </p:txBody>
      </p:sp>
      <p:sp>
        <p:nvSpPr>
          <p:cNvPr id="7" name="Text 5"/>
          <p:cNvSpPr/>
          <p:nvPr/>
        </p:nvSpPr>
        <p:spPr>
          <a:xfrm>
            <a:off x="2183408" y="5599460"/>
            <a:ext cx="1550839" cy="439390"/>
          </a:xfrm>
          <a:prstGeom prst="roundRect">
            <a:avLst>
              <a:gd name="adj" fmla="val 50000"/>
            </a:avLst>
          </a:prstGeom>
          <a:noFill/>
          <a:ln w="12700">
            <a:solidFill>
              <a:srgbClr val="4F7096"/>
            </a:solidFill>
            <a:prstDash val="solid"/>
          </a:ln>
        </p:spPr>
        <p:txBody>
          <a:bodyPr wrap="none" lIns="0" tIns="0" rIns="0" bIns="0" rtlCol="0" anchor="ctr">
            <a:normAutofit/>
          </a:bodyPr>
          <a:lstStyle/>
          <a:p>
            <a:pPr marL="0" indent="0" algn="ctr">
              <a:lnSpc>
                <a:spcPts val="1960"/>
              </a:lnSpc>
              <a:buNone/>
            </a:pPr>
            <a:r>
              <a:rPr lang="en-US" sz="1400" b="1" dirty="0">
                <a:solidFill>
                  <a:srgbClr val="F3F1EA"/>
                </a:solidFill>
                <a:latin typeface="Nunito Sans" pitchFamily="34" charset="0"/>
                <a:ea typeface="Nunito Sans" pitchFamily="34" charset="-122"/>
                <a:cs typeface="Nunito Sans" pitchFamily="34" charset="-120"/>
              </a:rPr>
              <a:t>Infrastructure</a:t>
            </a:r>
            <a:endParaRPr lang="en-US" sz="1400" dirty="0"/>
          </a:p>
        </p:txBody>
      </p:sp>
      <p:sp>
        <p:nvSpPr>
          <p:cNvPr id="8" name="Text 6"/>
          <p:cNvSpPr/>
          <p:nvPr/>
        </p:nvSpPr>
        <p:spPr>
          <a:xfrm>
            <a:off x="3873946" y="5599460"/>
            <a:ext cx="1810246" cy="439390"/>
          </a:xfrm>
          <a:prstGeom prst="roundRect">
            <a:avLst>
              <a:gd name="adj" fmla="val 50000"/>
            </a:avLst>
          </a:prstGeom>
          <a:noFill/>
          <a:ln w="12700">
            <a:solidFill>
              <a:srgbClr val="4F7096"/>
            </a:solidFill>
            <a:prstDash val="solid"/>
          </a:ln>
        </p:spPr>
        <p:txBody>
          <a:bodyPr wrap="none" lIns="0" tIns="0" rIns="0" bIns="0" rtlCol="0" anchor="ctr">
            <a:normAutofit/>
          </a:bodyPr>
          <a:lstStyle/>
          <a:p>
            <a:pPr marL="0" indent="0" algn="ctr">
              <a:lnSpc>
                <a:spcPts val="1960"/>
              </a:lnSpc>
              <a:buNone/>
            </a:pPr>
            <a:r>
              <a:rPr lang="en-US" sz="1400" b="1" dirty="0">
                <a:solidFill>
                  <a:srgbClr val="F3F1EA"/>
                </a:solidFill>
                <a:latin typeface="Nunito Sans" pitchFamily="34" charset="0"/>
                <a:ea typeface="Nunito Sans" pitchFamily="34" charset="-122"/>
                <a:cs typeface="Nunito Sans" pitchFamily="34" charset="-120"/>
              </a:rPr>
              <a:t>Living conditions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AF6"/>
        </a:solidFill>
        <a:effectLst/>
      </p:bgPr>
    </p:bg>
    <p:spTree>
      <p:nvGrpSpPr>
        <p:cNvPr id="1" name=""/>
        <p:cNvGrpSpPr/>
        <p:nvPr/>
      </p:nvGrpSpPr>
      <p:grpSpPr>
        <a:xfrm>
          <a:off x="0" y="0"/>
          <a:ext cx="0" cy="0"/>
          <a:chOff x="0" y="0"/>
          <a:chExt cx="0" cy="0"/>
        </a:xfrm>
      </p:grpSpPr>
      <p:sp>
        <p:nvSpPr>
          <p:cNvPr id="2" name="Text 0"/>
          <p:cNvSpPr/>
          <p:nvPr/>
        </p:nvSpPr>
        <p:spPr>
          <a:xfrm>
            <a:off x="812800" y="7620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17279"/>
                </a:solidFill>
                <a:latin typeface="Nunito Sans" pitchFamily="34" charset="0"/>
                <a:ea typeface="Nunito Sans" pitchFamily="34" charset="-122"/>
                <a:cs typeface="Nunito Sans" pitchFamily="34" charset="-120"/>
              </a:rPr>
              <a:t>LESSON GOALS</a:t>
            </a:r>
            <a:endParaRPr lang="en-US" sz="1200" dirty="0"/>
          </a:p>
        </p:txBody>
      </p:sp>
      <p:sp>
        <p:nvSpPr>
          <p:cNvPr id="3" name="Text 1"/>
          <p:cNvSpPr>
            <a:spLocks noGrp="1"/>
          </p:cNvSpPr>
          <p:nvPr>
            <p:ph type="title"/>
          </p:nvPr>
        </p:nvSpPr>
        <p:spPr>
          <a:xfrm>
            <a:off x="812800" y="10515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D3557"/>
                </a:solidFill>
                <a:latin typeface="Be Vietnam Pro" pitchFamily="34" charset="0"/>
                <a:ea typeface="Be Vietnam Pro" pitchFamily="34" charset="-122"/>
                <a:cs typeface="Be Vietnam Pro" pitchFamily="34" charset="-120"/>
              </a:rPr>
              <a:t>Today’s mission</a:t>
            </a:r>
            <a:endParaRPr lang="en-US" sz="3000" dirty="0"/>
          </a:p>
        </p:txBody>
      </p:sp>
      <p:sp>
        <p:nvSpPr>
          <p:cNvPr id="4" name="Shape 2"/>
          <p:cNvSpPr/>
          <p:nvPr/>
        </p:nvSpPr>
        <p:spPr>
          <a:xfrm>
            <a:off x="819150" y="1832570"/>
            <a:ext cx="3373934" cy="2343001"/>
          </a:xfrm>
          <a:prstGeom prst="roundRect">
            <a:avLst>
              <a:gd name="adj" fmla="val 6233"/>
            </a:avLst>
          </a:prstGeom>
          <a:solidFill>
            <a:srgbClr val="FFFEFB"/>
          </a:solidFill>
          <a:ln w="12700">
            <a:solidFill>
              <a:srgbClr val="DCE5E8"/>
            </a:solidFill>
            <a:prstDash val="solid"/>
          </a:ln>
        </p:spPr>
      </p:sp>
      <p:sp>
        <p:nvSpPr>
          <p:cNvPr id="5" name="Text 3"/>
          <p:cNvSpPr/>
          <p:nvPr/>
        </p:nvSpPr>
        <p:spPr>
          <a:xfrm>
            <a:off x="1130300" y="2143720"/>
            <a:ext cx="2834183"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B4500F"/>
                </a:solidFill>
                <a:latin typeface="Be Vietnam Pro" pitchFamily="34" charset="0"/>
                <a:ea typeface="Be Vietnam Pro" pitchFamily="34" charset="-122"/>
                <a:cs typeface="Be Vietnam Pro" pitchFamily="34" charset="-120"/>
              </a:rPr>
              <a:t>01</a:t>
            </a:r>
            <a:endParaRPr lang="en-US" sz="3000" dirty="0"/>
          </a:p>
        </p:txBody>
      </p:sp>
      <p:sp>
        <p:nvSpPr>
          <p:cNvPr id="6" name="Text 4"/>
          <p:cNvSpPr/>
          <p:nvPr/>
        </p:nvSpPr>
        <p:spPr>
          <a:xfrm>
            <a:off x="1130300" y="2689820"/>
            <a:ext cx="2834183"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D3557"/>
                </a:solidFill>
                <a:latin typeface="Be Vietnam Pro" pitchFamily="34" charset="0"/>
                <a:ea typeface="Be Vietnam Pro" pitchFamily="34" charset="-122"/>
                <a:cs typeface="Be Vietnam Pro" pitchFamily="34" charset="-120"/>
              </a:rPr>
              <a:t>Describe</a:t>
            </a:r>
            <a:endParaRPr lang="en-US" sz="1800" dirty="0"/>
          </a:p>
        </p:txBody>
      </p:sp>
      <p:sp>
        <p:nvSpPr>
          <p:cNvPr id="7" name="Text 5"/>
          <p:cNvSpPr/>
          <p:nvPr/>
        </p:nvSpPr>
        <p:spPr>
          <a:xfrm>
            <a:off x="1130300" y="3091111"/>
            <a:ext cx="2834183" cy="798711"/>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2A3646"/>
                </a:solidFill>
                <a:latin typeface="Nunito Sans" pitchFamily="34" charset="0"/>
                <a:ea typeface="Nunito Sans" pitchFamily="34" charset="-122"/>
                <a:cs typeface="Nunito Sans" pitchFamily="34" charset="-120"/>
              </a:rPr>
              <a:t>Talk about one feature of a future city: what it is, how it works and why it helps people.</a:t>
            </a:r>
            <a:endParaRPr lang="en-US" sz="1400" dirty="0"/>
          </a:p>
        </p:txBody>
      </p:sp>
      <p:sp>
        <p:nvSpPr>
          <p:cNvPr id="8" name="Shape 6"/>
          <p:cNvSpPr/>
          <p:nvPr/>
        </p:nvSpPr>
        <p:spPr>
          <a:xfrm>
            <a:off x="4408984" y="1832570"/>
            <a:ext cx="3373983" cy="2343001"/>
          </a:xfrm>
          <a:prstGeom prst="roundRect">
            <a:avLst>
              <a:gd name="adj" fmla="val 6233"/>
            </a:avLst>
          </a:prstGeom>
          <a:solidFill>
            <a:srgbClr val="FFFEFB"/>
          </a:solidFill>
          <a:ln w="12700">
            <a:solidFill>
              <a:srgbClr val="DCE5E8"/>
            </a:solidFill>
            <a:prstDash val="solid"/>
          </a:ln>
        </p:spPr>
      </p:sp>
      <p:sp>
        <p:nvSpPr>
          <p:cNvPr id="9" name="Text 7"/>
          <p:cNvSpPr/>
          <p:nvPr/>
        </p:nvSpPr>
        <p:spPr>
          <a:xfrm>
            <a:off x="4720134" y="2143720"/>
            <a:ext cx="2834234"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B4500F"/>
                </a:solidFill>
                <a:latin typeface="Be Vietnam Pro" pitchFamily="34" charset="0"/>
                <a:ea typeface="Be Vietnam Pro" pitchFamily="34" charset="-122"/>
                <a:cs typeface="Be Vietnam Pro" pitchFamily="34" charset="-120"/>
              </a:rPr>
              <a:t>02</a:t>
            </a:r>
            <a:endParaRPr lang="en-US" sz="3000" dirty="0"/>
          </a:p>
        </p:txBody>
      </p:sp>
      <p:sp>
        <p:nvSpPr>
          <p:cNvPr id="10" name="Text 8"/>
          <p:cNvSpPr/>
          <p:nvPr/>
        </p:nvSpPr>
        <p:spPr>
          <a:xfrm>
            <a:off x="4720134" y="2689820"/>
            <a:ext cx="2834234"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D3557"/>
                </a:solidFill>
                <a:latin typeface="Be Vietnam Pro" pitchFamily="34" charset="0"/>
                <a:ea typeface="Be Vietnam Pro" pitchFamily="34" charset="-122"/>
                <a:cs typeface="Be Vietnam Pro" pitchFamily="34" charset="-120"/>
              </a:rPr>
              <a:t>Discuss</a:t>
            </a:r>
            <a:endParaRPr lang="en-US" sz="1800" dirty="0"/>
          </a:p>
        </p:txBody>
      </p:sp>
      <p:sp>
        <p:nvSpPr>
          <p:cNvPr id="11" name="Text 9"/>
          <p:cNvSpPr/>
          <p:nvPr/>
        </p:nvSpPr>
        <p:spPr>
          <a:xfrm>
            <a:off x="4720134" y="3091111"/>
            <a:ext cx="2834234" cy="798711"/>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2A3646"/>
                </a:solidFill>
                <a:latin typeface="Nunito Sans" pitchFamily="34" charset="0"/>
                <a:ea typeface="Nunito Sans" pitchFamily="34" charset="-122"/>
                <a:cs typeface="Nunito Sans" pitchFamily="34" charset="-120"/>
              </a:rPr>
              <a:t>Ask and answer Wh-questions, then talk about possible problems and solutions.</a:t>
            </a:r>
            <a:endParaRPr lang="en-US" sz="1400" dirty="0"/>
          </a:p>
        </p:txBody>
      </p:sp>
      <p:sp>
        <p:nvSpPr>
          <p:cNvPr id="12" name="Shape 10"/>
          <p:cNvSpPr/>
          <p:nvPr/>
        </p:nvSpPr>
        <p:spPr>
          <a:xfrm>
            <a:off x="7998867" y="1832570"/>
            <a:ext cx="3373983" cy="2343001"/>
          </a:xfrm>
          <a:prstGeom prst="roundRect">
            <a:avLst>
              <a:gd name="adj" fmla="val 6233"/>
            </a:avLst>
          </a:prstGeom>
          <a:solidFill>
            <a:srgbClr val="FFFEFB"/>
          </a:solidFill>
          <a:ln w="12700">
            <a:solidFill>
              <a:srgbClr val="DCE5E8"/>
            </a:solidFill>
            <a:prstDash val="solid"/>
          </a:ln>
        </p:spPr>
      </p:sp>
      <p:sp>
        <p:nvSpPr>
          <p:cNvPr id="13" name="Text 11"/>
          <p:cNvSpPr/>
          <p:nvPr/>
        </p:nvSpPr>
        <p:spPr>
          <a:xfrm>
            <a:off x="8310017" y="2143720"/>
            <a:ext cx="2834234"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B4500F"/>
                </a:solidFill>
                <a:latin typeface="Be Vietnam Pro" pitchFamily="34" charset="0"/>
                <a:ea typeface="Be Vietnam Pro" pitchFamily="34" charset="-122"/>
                <a:cs typeface="Be Vietnam Pro" pitchFamily="34" charset="-120"/>
              </a:rPr>
              <a:t>03</a:t>
            </a:r>
            <a:endParaRPr lang="en-US" sz="3000" dirty="0"/>
          </a:p>
        </p:txBody>
      </p:sp>
      <p:sp>
        <p:nvSpPr>
          <p:cNvPr id="14" name="Text 12"/>
          <p:cNvSpPr/>
          <p:nvPr/>
        </p:nvSpPr>
        <p:spPr>
          <a:xfrm>
            <a:off x="8310017" y="2689820"/>
            <a:ext cx="2834234"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D3557"/>
                </a:solidFill>
                <a:latin typeface="Be Vietnam Pro" pitchFamily="34" charset="0"/>
                <a:ea typeface="Be Vietnam Pro" pitchFamily="34" charset="-122"/>
                <a:cs typeface="Be Vietnam Pro" pitchFamily="34" charset="-120"/>
              </a:rPr>
              <a:t>Present</a:t>
            </a:r>
            <a:endParaRPr lang="en-US" sz="1800" dirty="0"/>
          </a:p>
        </p:txBody>
      </p:sp>
      <p:sp>
        <p:nvSpPr>
          <p:cNvPr id="15" name="Text 13"/>
          <p:cNvSpPr/>
          <p:nvPr/>
        </p:nvSpPr>
        <p:spPr>
          <a:xfrm>
            <a:off x="8310017" y="3091111"/>
            <a:ext cx="2834234" cy="798711"/>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2A3646"/>
                </a:solidFill>
                <a:latin typeface="Nunito Sans" pitchFamily="34" charset="0"/>
                <a:ea typeface="Nunito Sans" pitchFamily="34" charset="-122"/>
                <a:cs typeface="Nunito Sans" pitchFamily="34" charset="-120"/>
              </a:rPr>
              <a:t>Work in groups to design your future city and present it to the class.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EF4F3"/>
        </a:solidFill>
        <a:effectLst/>
      </p:bgPr>
    </p:bg>
    <p:spTree>
      <p:nvGrpSpPr>
        <p:cNvPr id="1" name=""/>
        <p:cNvGrpSpPr/>
        <p:nvPr/>
      </p:nvGrpSpPr>
      <p:grpSpPr>
        <a:xfrm>
          <a:off x="0" y="0"/>
          <a:ext cx="0" cy="0"/>
          <a:chOff x="0" y="0"/>
          <a:chExt cx="0" cy="0"/>
        </a:xfrm>
      </p:grpSpPr>
      <p:sp>
        <p:nvSpPr>
          <p:cNvPr id="2" name="Text 0"/>
          <p:cNvSpPr/>
          <p:nvPr/>
        </p:nvSpPr>
        <p:spPr>
          <a:xfrm>
            <a:off x="812800" y="7620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17279"/>
                </a:solidFill>
                <a:latin typeface="Nunito Sans" pitchFamily="34" charset="0"/>
                <a:ea typeface="Nunito Sans" pitchFamily="34" charset="-122"/>
                <a:cs typeface="Nunito Sans" pitchFamily="34" charset="-120"/>
              </a:rPr>
              <a:t>WARM-UP • MAKE CONNECTIONS</a:t>
            </a:r>
            <a:endParaRPr lang="en-US" sz="1200" dirty="0"/>
          </a:p>
        </p:txBody>
      </p:sp>
      <p:sp>
        <p:nvSpPr>
          <p:cNvPr id="3" name="Text 1"/>
          <p:cNvSpPr>
            <a:spLocks noGrp="1"/>
          </p:cNvSpPr>
          <p:nvPr>
            <p:ph type="title"/>
          </p:nvPr>
        </p:nvSpPr>
        <p:spPr>
          <a:xfrm>
            <a:off x="812800" y="10515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D3557"/>
                </a:solidFill>
                <a:latin typeface="Be Vietnam Pro" pitchFamily="34" charset="0"/>
                <a:ea typeface="Be Vietnam Pro" pitchFamily="34" charset="-122"/>
                <a:cs typeface="Be Vietnam Pro" pitchFamily="34" charset="-120"/>
              </a:rPr>
              <a:t>What do we already know about future cities?</a:t>
            </a:r>
            <a:endParaRPr lang="en-US" sz="3000" dirty="0"/>
          </a:p>
        </p:txBody>
      </p:sp>
      <p:sp>
        <p:nvSpPr>
          <p:cNvPr id="4" name="Shape 2"/>
          <p:cNvSpPr/>
          <p:nvPr/>
        </p:nvSpPr>
        <p:spPr>
          <a:xfrm>
            <a:off x="812800" y="1775420"/>
            <a:ext cx="3386634" cy="2506712"/>
          </a:xfrm>
          <a:prstGeom prst="roundRect">
            <a:avLst>
              <a:gd name="adj" fmla="val 5066"/>
            </a:avLst>
          </a:prstGeom>
          <a:solidFill>
            <a:srgbClr val="FFFEFB"/>
          </a:solidFill>
          <a:ln/>
        </p:spPr>
      </p:sp>
      <p:sp>
        <p:nvSpPr>
          <p:cNvPr id="5" name="Shape 3"/>
          <p:cNvSpPr/>
          <p:nvPr/>
        </p:nvSpPr>
        <p:spPr>
          <a:xfrm>
            <a:off x="812800" y="1775420"/>
            <a:ext cx="3386634" cy="2506712"/>
          </a:xfrm>
          <a:custGeom>
            <a:avLst/>
            <a:gdLst/>
            <a:ahLst/>
            <a:cxnLst/>
            <a:rect l="l" t="t" r="r" b="b"/>
            <a:pathLst>
              <a:path w="3386634" h="2506712">
                <a:moveTo>
                  <a:pt x="0" y="127000"/>
                </a:moveTo>
                <a:lnTo>
                  <a:pt x="0" y="127000"/>
                </a:lnTo>
                <a:arcTo wR="127000" hR="127000" stAng="10800000" swAng="5400000"/>
                <a:lnTo>
                  <a:pt x="3259634" y="0"/>
                </a:lnTo>
                <a:arcTo wR="127000" hR="127000" stAng="16200000" swAng="5400000"/>
                <a:lnTo>
                  <a:pt x="3386634" y="127000"/>
                </a:lnTo>
                <a:arcTo wR="127000" hR="76200" stAng="0" swAng="-5400000"/>
                <a:lnTo>
                  <a:pt x="127000" y="50800"/>
                </a:lnTo>
                <a:arcTo wR="127000" hR="76200" stAng="16200000" swAng="-5400000"/>
                <a:close/>
              </a:path>
            </a:pathLst>
          </a:custGeom>
          <a:solidFill>
            <a:srgbClr val="117279"/>
          </a:solidFill>
          <a:ln/>
        </p:spPr>
      </p:sp>
      <p:sp>
        <p:nvSpPr>
          <p:cNvPr id="6" name="Text 4"/>
          <p:cNvSpPr/>
          <p:nvPr/>
        </p:nvSpPr>
        <p:spPr>
          <a:xfrm>
            <a:off x="1092200" y="2080220"/>
            <a:ext cx="2912669"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D3557"/>
                </a:solidFill>
                <a:latin typeface="Be Vietnam Pro" pitchFamily="34" charset="0"/>
                <a:ea typeface="Be Vietnam Pro" pitchFamily="34" charset="-122"/>
                <a:cs typeface="Be Vietnam Pro" pitchFamily="34" charset="-120"/>
              </a:rPr>
              <a:t>Getting Started</a:t>
            </a:r>
            <a:endParaRPr lang="en-US" sz="1800" dirty="0"/>
          </a:p>
        </p:txBody>
      </p:sp>
      <p:sp>
        <p:nvSpPr>
          <p:cNvPr id="7" name="Text 5"/>
          <p:cNvSpPr/>
          <p:nvPr/>
        </p:nvSpPr>
        <p:spPr>
          <a:xfrm>
            <a:off x="1176782" y="2481511"/>
            <a:ext cx="2820467" cy="1056481"/>
          </a:xfrm>
          <a:prstGeom prst="rect">
            <a:avLst/>
          </a:prstGeom>
          <a:noFill/>
          <a:ln/>
        </p:spPr>
        <p:txBody>
          <a:bodyPr wrap="square" lIns="0" tIns="0" rIns="0" bIns="0" rtlCol="0" anchor="t">
            <a:normAutofit/>
          </a:bodyPr>
          <a:lstStyle/>
          <a:p>
            <a:pPr marL="169418" indent="-169418" algn="l">
              <a:lnSpc>
                <a:spcPts val="2030"/>
              </a:lnSpc>
              <a:buSzPct val="100000"/>
              <a:buChar char="•"/>
            </a:pPr>
            <a:r>
              <a:rPr lang="en-US" sz="1400" dirty="0">
                <a:solidFill>
                  <a:srgbClr val="2A3646"/>
                </a:solidFill>
                <a:latin typeface="Nunito Sans" pitchFamily="34" charset="0"/>
                <a:ea typeface="Nunito Sans" pitchFamily="34" charset="-122"/>
                <a:cs typeface="Nunito Sans" pitchFamily="34" charset="-120"/>
              </a:rPr>
              <a:t>green areas (more than 50%)</a:t>
            </a:r>
            <a:endParaRPr lang="en-US" sz="1400" dirty="0"/>
          </a:p>
          <a:p>
            <a:pPr marL="169418" indent="-169418" algn="l">
              <a:lnSpc>
                <a:spcPts val="2030"/>
              </a:lnSpc>
              <a:buSzPct val="100000"/>
              <a:buChar char="•"/>
            </a:pPr>
            <a:r>
              <a:rPr lang="en-US" sz="1400" dirty="0">
                <a:solidFill>
                  <a:srgbClr val="2A3646"/>
                </a:solidFill>
                <a:latin typeface="Nunito Sans" pitchFamily="34" charset="0"/>
                <a:ea typeface="Nunito Sans" pitchFamily="34" charset="-122"/>
                <a:cs typeface="Nunito Sans" pitchFamily="34" charset="-120"/>
              </a:rPr>
              <a:t>trams and electric buses</a:t>
            </a:r>
            <a:endParaRPr lang="en-US" sz="1400" dirty="0"/>
          </a:p>
          <a:p>
            <a:pPr marL="169418" indent="-169418" algn="l">
              <a:lnSpc>
                <a:spcPts val="2030"/>
              </a:lnSpc>
              <a:buSzPct val="100000"/>
              <a:buChar char="•"/>
            </a:pPr>
            <a:r>
              <a:rPr lang="en-US" sz="1400" dirty="0">
                <a:solidFill>
                  <a:srgbClr val="2A3646"/>
                </a:solidFill>
                <a:latin typeface="Nunito Sans" pitchFamily="34" charset="0"/>
                <a:ea typeface="Nunito Sans" pitchFamily="34" charset="-122"/>
                <a:cs typeface="Nunito Sans" pitchFamily="34" charset="-120"/>
              </a:rPr>
              <a:t>cameras and smart sensors</a:t>
            </a:r>
            <a:endParaRPr lang="en-US" sz="1400" dirty="0"/>
          </a:p>
          <a:p>
            <a:pPr marL="169418" indent="-169418" algn="l">
              <a:lnSpc>
                <a:spcPts val="2030"/>
              </a:lnSpc>
              <a:buSzPct val="100000"/>
              <a:buChar char="•"/>
            </a:pPr>
            <a:r>
              <a:rPr lang="en-US" sz="1400" dirty="0">
                <a:solidFill>
                  <a:srgbClr val="2A3646"/>
                </a:solidFill>
                <a:latin typeface="Nunito Sans" pitchFamily="34" charset="0"/>
                <a:ea typeface="Nunito Sans" pitchFamily="34" charset="-122"/>
                <a:cs typeface="Nunito Sans" pitchFamily="34" charset="-120"/>
              </a:rPr>
              <a:t>high-rise buildings</a:t>
            </a:r>
            <a:endParaRPr lang="en-US" sz="1400" dirty="0"/>
          </a:p>
        </p:txBody>
      </p:sp>
      <p:sp>
        <p:nvSpPr>
          <p:cNvPr id="8" name="Shape 6"/>
          <p:cNvSpPr/>
          <p:nvPr/>
        </p:nvSpPr>
        <p:spPr>
          <a:xfrm>
            <a:off x="4402634" y="1775420"/>
            <a:ext cx="3386683" cy="2506712"/>
          </a:xfrm>
          <a:prstGeom prst="roundRect">
            <a:avLst>
              <a:gd name="adj" fmla="val 5066"/>
            </a:avLst>
          </a:prstGeom>
          <a:solidFill>
            <a:srgbClr val="FFFEFB"/>
          </a:solidFill>
          <a:ln/>
        </p:spPr>
      </p:sp>
      <p:sp>
        <p:nvSpPr>
          <p:cNvPr id="9" name="Shape 7"/>
          <p:cNvSpPr/>
          <p:nvPr/>
        </p:nvSpPr>
        <p:spPr>
          <a:xfrm>
            <a:off x="4402634" y="1775420"/>
            <a:ext cx="3386683" cy="2506712"/>
          </a:xfrm>
          <a:custGeom>
            <a:avLst/>
            <a:gdLst/>
            <a:ahLst/>
            <a:cxnLst/>
            <a:rect l="l" t="t" r="r" b="b"/>
            <a:pathLst>
              <a:path w="3386683" h="2506712">
                <a:moveTo>
                  <a:pt x="0" y="127000"/>
                </a:moveTo>
                <a:lnTo>
                  <a:pt x="0" y="127000"/>
                </a:lnTo>
                <a:arcTo wR="127000" hR="127000" stAng="10800000" swAng="5400000"/>
                <a:lnTo>
                  <a:pt x="3259683" y="0"/>
                </a:lnTo>
                <a:arcTo wR="127000" hR="127000" stAng="16200000" swAng="5400000"/>
                <a:lnTo>
                  <a:pt x="3386683" y="127000"/>
                </a:lnTo>
                <a:arcTo wR="127000" hR="76200" stAng="0" swAng="-5400000"/>
                <a:lnTo>
                  <a:pt x="127000" y="50800"/>
                </a:lnTo>
                <a:arcTo wR="127000" hR="76200" stAng="16200000" swAng="-5400000"/>
                <a:close/>
              </a:path>
            </a:pathLst>
          </a:custGeom>
          <a:solidFill>
            <a:srgbClr val="E8762A"/>
          </a:solidFill>
          <a:ln/>
        </p:spPr>
      </p:sp>
      <p:sp>
        <p:nvSpPr>
          <p:cNvPr id="10" name="Text 8"/>
          <p:cNvSpPr/>
          <p:nvPr/>
        </p:nvSpPr>
        <p:spPr>
          <a:xfrm>
            <a:off x="4682034" y="2080220"/>
            <a:ext cx="2912720"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D3557"/>
                </a:solidFill>
                <a:latin typeface="Be Vietnam Pro" pitchFamily="34" charset="0"/>
                <a:ea typeface="Be Vietnam Pro" pitchFamily="34" charset="-122"/>
                <a:cs typeface="Be Vietnam Pro" pitchFamily="34" charset="-120"/>
              </a:rPr>
              <a:t>Reading</a:t>
            </a:r>
            <a:endParaRPr lang="en-US" sz="1800" dirty="0"/>
          </a:p>
        </p:txBody>
      </p:sp>
      <p:sp>
        <p:nvSpPr>
          <p:cNvPr id="11" name="Text 9"/>
          <p:cNvSpPr/>
          <p:nvPr/>
        </p:nvSpPr>
        <p:spPr>
          <a:xfrm>
            <a:off x="4766616" y="2481511"/>
            <a:ext cx="2820518" cy="1572022"/>
          </a:xfrm>
          <a:prstGeom prst="rect">
            <a:avLst/>
          </a:prstGeom>
          <a:noFill/>
          <a:ln/>
        </p:spPr>
        <p:txBody>
          <a:bodyPr wrap="square" lIns="0" tIns="0" rIns="0" bIns="0" rtlCol="0" anchor="t">
            <a:normAutofit/>
          </a:bodyPr>
          <a:lstStyle/>
          <a:p>
            <a:pPr marL="169418" indent="-169418" algn="l">
              <a:lnSpc>
                <a:spcPts val="2030"/>
              </a:lnSpc>
              <a:buSzPct val="100000"/>
              <a:buChar char="•"/>
            </a:pPr>
            <a:r>
              <a:rPr lang="en-US" sz="1400" dirty="0">
                <a:solidFill>
                  <a:srgbClr val="2A3646"/>
                </a:solidFill>
                <a:latin typeface="Nunito Sans" pitchFamily="34" charset="0"/>
                <a:ea typeface="Nunito Sans" pitchFamily="34" charset="-122"/>
                <a:cs typeface="Nunito Sans" pitchFamily="34" charset="-120"/>
              </a:rPr>
              <a:t>traffic prediction</a:t>
            </a:r>
            <a:endParaRPr lang="en-US" sz="1400" dirty="0"/>
          </a:p>
          <a:p>
            <a:pPr marL="169418" indent="-169418" algn="l">
              <a:lnSpc>
                <a:spcPts val="2030"/>
              </a:lnSpc>
              <a:buSzPct val="100000"/>
              <a:buChar char="•"/>
            </a:pPr>
            <a:r>
              <a:rPr lang="en-US" sz="1400" dirty="0">
                <a:solidFill>
                  <a:srgbClr val="2A3646"/>
                </a:solidFill>
                <a:latin typeface="Nunito Sans" pitchFamily="34" charset="0"/>
                <a:ea typeface="Nunito Sans" pitchFamily="34" charset="-122"/>
                <a:cs typeface="Nunito Sans" pitchFamily="34" charset="-120"/>
              </a:rPr>
              <a:t>sensors for full bins</a:t>
            </a:r>
            <a:endParaRPr lang="en-US" sz="1400" dirty="0"/>
          </a:p>
          <a:p>
            <a:pPr marL="169418" indent="-169418" algn="l">
              <a:lnSpc>
                <a:spcPts val="2030"/>
              </a:lnSpc>
              <a:buSzPct val="100000"/>
              <a:buChar char="•"/>
            </a:pPr>
            <a:r>
              <a:rPr lang="en-US" sz="1400" dirty="0">
                <a:solidFill>
                  <a:srgbClr val="2A3646"/>
                </a:solidFill>
                <a:latin typeface="Nunito Sans" pitchFamily="34" charset="0"/>
                <a:ea typeface="Nunito Sans" pitchFamily="34" charset="-122"/>
                <a:cs typeface="Nunito Sans" pitchFamily="34" charset="-120"/>
              </a:rPr>
              <a:t>roof gardens, rooftop farming</a:t>
            </a:r>
            <a:endParaRPr lang="en-US" sz="1400" dirty="0"/>
          </a:p>
          <a:p>
            <a:pPr marL="169418" indent="-169418" algn="l">
              <a:lnSpc>
                <a:spcPts val="2030"/>
              </a:lnSpc>
              <a:buSzPct val="100000"/>
              <a:buChar char="•"/>
            </a:pPr>
            <a:r>
              <a:rPr lang="en-US" sz="1400" dirty="0">
                <a:solidFill>
                  <a:srgbClr val="2A3646"/>
                </a:solidFill>
                <a:latin typeface="Nunito Sans" pitchFamily="34" charset="0"/>
                <a:ea typeface="Nunito Sans" pitchFamily="34" charset="-122"/>
                <a:cs typeface="Nunito Sans" pitchFamily="34" charset="-120"/>
              </a:rPr>
              <a:t>biodiversity</a:t>
            </a:r>
            <a:endParaRPr lang="en-US" sz="1400" dirty="0"/>
          </a:p>
          <a:p>
            <a:pPr marL="169418" indent="-169418" algn="l">
              <a:lnSpc>
                <a:spcPts val="2030"/>
              </a:lnSpc>
              <a:buSzPct val="100000"/>
              <a:buChar char="•"/>
            </a:pPr>
            <a:r>
              <a:rPr lang="en-US" sz="1400" dirty="0">
                <a:solidFill>
                  <a:srgbClr val="2A3646"/>
                </a:solidFill>
                <a:latin typeface="Nunito Sans" pitchFamily="34" charset="0"/>
                <a:ea typeface="Nunito Sans" pitchFamily="34" charset="-122"/>
                <a:cs typeface="Nunito Sans" pitchFamily="34" charset="-120"/>
              </a:rPr>
              <a:t>renewable energy</a:t>
            </a:r>
            <a:endParaRPr lang="en-US" sz="1400" dirty="0"/>
          </a:p>
          <a:p>
            <a:pPr marL="169418" indent="-169418" algn="l">
              <a:lnSpc>
                <a:spcPts val="2030"/>
              </a:lnSpc>
              <a:buSzPct val="100000"/>
              <a:buChar char="•"/>
            </a:pPr>
            <a:r>
              <a:rPr lang="en-US" sz="1400" dirty="0">
                <a:solidFill>
                  <a:srgbClr val="2A3646"/>
                </a:solidFill>
                <a:latin typeface="Nunito Sans" pitchFamily="34" charset="0"/>
                <a:ea typeface="Nunito Sans" pitchFamily="34" charset="-122"/>
                <a:cs typeface="Nunito Sans" pitchFamily="34" charset="-120"/>
              </a:rPr>
              <a:t>pedestrian zones, cycle paths</a:t>
            </a:r>
            <a:endParaRPr lang="en-US" sz="1400" dirty="0"/>
          </a:p>
        </p:txBody>
      </p:sp>
      <p:sp>
        <p:nvSpPr>
          <p:cNvPr id="12" name="Shape 10"/>
          <p:cNvSpPr/>
          <p:nvPr/>
        </p:nvSpPr>
        <p:spPr>
          <a:xfrm>
            <a:off x="7992517" y="1775420"/>
            <a:ext cx="3386683" cy="2506712"/>
          </a:xfrm>
          <a:prstGeom prst="roundRect">
            <a:avLst>
              <a:gd name="adj" fmla="val 5066"/>
            </a:avLst>
          </a:prstGeom>
          <a:solidFill>
            <a:srgbClr val="FFFEFB"/>
          </a:solidFill>
          <a:ln/>
        </p:spPr>
      </p:sp>
      <p:sp>
        <p:nvSpPr>
          <p:cNvPr id="13" name="Shape 11"/>
          <p:cNvSpPr/>
          <p:nvPr/>
        </p:nvSpPr>
        <p:spPr>
          <a:xfrm>
            <a:off x="7992517" y="1775420"/>
            <a:ext cx="3386683" cy="2506712"/>
          </a:xfrm>
          <a:custGeom>
            <a:avLst/>
            <a:gdLst/>
            <a:ahLst/>
            <a:cxnLst/>
            <a:rect l="l" t="t" r="r" b="b"/>
            <a:pathLst>
              <a:path w="3386683" h="2506712">
                <a:moveTo>
                  <a:pt x="0" y="127000"/>
                </a:moveTo>
                <a:lnTo>
                  <a:pt x="0" y="127000"/>
                </a:lnTo>
                <a:arcTo wR="127000" hR="127000" stAng="10800000" swAng="5400000"/>
                <a:lnTo>
                  <a:pt x="3259683" y="0"/>
                </a:lnTo>
                <a:arcTo wR="127000" hR="127000" stAng="16200000" swAng="5400000"/>
                <a:lnTo>
                  <a:pt x="3386683" y="127000"/>
                </a:lnTo>
                <a:arcTo wR="127000" hR="76200" stAng="0" swAng="-5400000"/>
                <a:lnTo>
                  <a:pt x="127000" y="50800"/>
                </a:lnTo>
                <a:arcTo wR="127000" hR="76200" stAng="16200000" swAng="-5400000"/>
                <a:close/>
              </a:path>
            </a:pathLst>
          </a:custGeom>
          <a:solidFill>
            <a:srgbClr val="1D3557"/>
          </a:solidFill>
          <a:ln/>
        </p:spPr>
      </p:sp>
      <p:sp>
        <p:nvSpPr>
          <p:cNvPr id="14" name="Text 12"/>
          <p:cNvSpPr/>
          <p:nvPr/>
        </p:nvSpPr>
        <p:spPr>
          <a:xfrm>
            <a:off x="8271917" y="2080220"/>
            <a:ext cx="2912720"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D3557"/>
                </a:solidFill>
                <a:latin typeface="Be Vietnam Pro" pitchFamily="34" charset="0"/>
                <a:ea typeface="Be Vietnam Pro" pitchFamily="34" charset="-122"/>
                <a:cs typeface="Be Vietnam Pro" pitchFamily="34" charset="-120"/>
              </a:rPr>
              <a:t>Listening</a:t>
            </a:r>
            <a:endParaRPr lang="en-US" sz="1800" dirty="0"/>
          </a:p>
        </p:txBody>
      </p:sp>
      <p:sp>
        <p:nvSpPr>
          <p:cNvPr id="15" name="Text 13"/>
          <p:cNvSpPr/>
          <p:nvPr/>
        </p:nvSpPr>
        <p:spPr>
          <a:xfrm>
            <a:off x="8356499" y="2481511"/>
            <a:ext cx="2820518" cy="1056481"/>
          </a:xfrm>
          <a:prstGeom prst="rect">
            <a:avLst/>
          </a:prstGeom>
          <a:noFill/>
          <a:ln/>
        </p:spPr>
        <p:txBody>
          <a:bodyPr wrap="square" lIns="0" tIns="0" rIns="0" bIns="0" rtlCol="0" anchor="t">
            <a:normAutofit/>
          </a:bodyPr>
          <a:lstStyle/>
          <a:p>
            <a:pPr marL="169418" indent="-169418" algn="l">
              <a:lnSpc>
                <a:spcPts val="2030"/>
              </a:lnSpc>
              <a:buSzPct val="100000"/>
              <a:buChar char="•"/>
            </a:pPr>
            <a:r>
              <a:rPr lang="en-US" sz="1400" dirty="0">
                <a:solidFill>
                  <a:srgbClr val="2A3646"/>
                </a:solidFill>
                <a:latin typeface="Nunito Sans" pitchFamily="34" charset="0"/>
                <a:ea typeface="Nunito Sans" pitchFamily="34" charset="-122"/>
                <a:cs typeface="Nunito Sans" pitchFamily="34" charset="-120"/>
              </a:rPr>
              <a:t>privacy</a:t>
            </a:r>
            <a:endParaRPr lang="en-US" sz="1400" dirty="0"/>
          </a:p>
          <a:p>
            <a:pPr marL="169418" indent="-169418" algn="l">
              <a:lnSpc>
                <a:spcPts val="2030"/>
              </a:lnSpc>
              <a:buSzPct val="100000"/>
              <a:buChar char="•"/>
            </a:pPr>
            <a:r>
              <a:rPr lang="en-US" sz="1400" dirty="0">
                <a:solidFill>
                  <a:srgbClr val="2A3646"/>
                </a:solidFill>
                <a:latin typeface="Nunito Sans" pitchFamily="34" charset="0"/>
                <a:ea typeface="Nunito Sans" pitchFamily="34" charset="-122"/>
                <a:cs typeface="Nunito Sans" pitchFamily="34" charset="-120"/>
              </a:rPr>
              <a:t>robots for household chores</a:t>
            </a:r>
            <a:endParaRPr lang="en-US" sz="1400" dirty="0"/>
          </a:p>
          <a:p>
            <a:pPr marL="169418" indent="-169418" algn="l">
              <a:lnSpc>
                <a:spcPts val="2030"/>
              </a:lnSpc>
              <a:buSzPct val="100000"/>
              <a:buChar char="•"/>
            </a:pPr>
            <a:r>
              <a:rPr lang="en-US" sz="1400" dirty="0">
                <a:solidFill>
                  <a:srgbClr val="2A3646"/>
                </a:solidFill>
                <a:latin typeface="Nunito Sans" pitchFamily="34" charset="0"/>
                <a:ea typeface="Nunito Sans" pitchFamily="34" charset="-122"/>
                <a:cs typeface="Nunito Sans" pitchFamily="34" charset="-120"/>
              </a:rPr>
              <a:t>less face-to-face interaction</a:t>
            </a:r>
            <a:endParaRPr lang="en-US" sz="1400" dirty="0"/>
          </a:p>
          <a:p>
            <a:pPr marL="169418" indent="-169418" algn="l">
              <a:lnSpc>
                <a:spcPts val="2030"/>
              </a:lnSpc>
              <a:buSzPct val="100000"/>
              <a:buChar char="•"/>
            </a:pPr>
            <a:r>
              <a:rPr lang="en-US" sz="1400" dirty="0">
                <a:solidFill>
                  <a:srgbClr val="2A3646"/>
                </a:solidFill>
                <a:latin typeface="Nunito Sans" pitchFamily="34" charset="0"/>
                <a:ea typeface="Nunito Sans" pitchFamily="34" charset="-122"/>
                <a:cs typeface="Nunito Sans" pitchFamily="34" charset="-120"/>
              </a:rPr>
              <a:t>sense of community</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AF6"/>
        </a:solidFill>
        <a:effectLst/>
      </p:bgPr>
    </p:bg>
    <p:spTree>
      <p:nvGrpSpPr>
        <p:cNvPr id="1" name=""/>
        <p:cNvGrpSpPr/>
        <p:nvPr/>
      </p:nvGrpSpPr>
      <p:grpSpPr>
        <a:xfrm>
          <a:off x="0" y="0"/>
          <a:ext cx="0" cy="0"/>
          <a:chOff x="0" y="0"/>
          <a:chExt cx="0" cy="0"/>
        </a:xfrm>
      </p:grpSpPr>
      <p:sp>
        <p:nvSpPr>
          <p:cNvPr id="2" name="Text 0"/>
          <p:cNvSpPr/>
          <p:nvPr/>
        </p:nvSpPr>
        <p:spPr>
          <a:xfrm>
            <a:off x="812800" y="7620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17279"/>
                </a:solidFill>
                <a:latin typeface="Nunito Sans" pitchFamily="34" charset="0"/>
                <a:ea typeface="Nunito Sans" pitchFamily="34" charset="-122"/>
                <a:cs typeface="Nunito Sans" pitchFamily="34" charset="-120"/>
              </a:rPr>
              <a:t>TASK 1 • PAIR WORK</a:t>
            </a:r>
            <a:endParaRPr lang="en-US" sz="1200" dirty="0"/>
          </a:p>
        </p:txBody>
      </p:sp>
      <p:sp>
        <p:nvSpPr>
          <p:cNvPr id="3" name="Text 1"/>
          <p:cNvSpPr>
            <a:spLocks noGrp="1"/>
          </p:cNvSpPr>
          <p:nvPr>
            <p:ph type="title"/>
          </p:nvPr>
        </p:nvSpPr>
        <p:spPr>
          <a:xfrm>
            <a:off x="812800" y="10515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D3557"/>
                </a:solidFill>
                <a:latin typeface="Be Vietnam Pro" pitchFamily="34" charset="0"/>
                <a:ea typeface="Be Vietnam Pro" pitchFamily="34" charset="-122"/>
                <a:cs typeface="Be Vietnam Pro" pitchFamily="34" charset="-120"/>
              </a:rPr>
              <a:t>Complete the diagram with ideas A, B and C</a:t>
            </a:r>
            <a:endParaRPr lang="en-US" sz="3000" dirty="0"/>
          </a:p>
        </p:txBody>
      </p:sp>
      <p:sp>
        <p:nvSpPr>
          <p:cNvPr id="4" name="Text 2"/>
          <p:cNvSpPr/>
          <p:nvPr/>
        </p:nvSpPr>
        <p:spPr>
          <a:xfrm>
            <a:off x="812800" y="1775420"/>
            <a:ext cx="4572678"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5D6877"/>
                </a:solidFill>
                <a:latin typeface="Nunito Sans" pitchFamily="34" charset="0"/>
                <a:ea typeface="Nunito Sans" pitchFamily="34" charset="-122"/>
                <a:cs typeface="Nunito Sans" pitchFamily="34" charset="-120"/>
              </a:rPr>
              <a:t>SMART AND SUSTAINABLE CITIES</a:t>
            </a:r>
            <a:endParaRPr lang="en-US" sz="1200" dirty="0"/>
          </a:p>
        </p:txBody>
      </p:sp>
      <p:sp>
        <p:nvSpPr>
          <p:cNvPr id="5" name="Shape 3"/>
          <p:cNvSpPr/>
          <p:nvPr/>
        </p:nvSpPr>
        <p:spPr>
          <a:xfrm>
            <a:off x="819150" y="2147491"/>
            <a:ext cx="4426793" cy="652760"/>
          </a:xfrm>
          <a:prstGeom prst="roundRect">
            <a:avLst>
              <a:gd name="adj" fmla="val 18483"/>
            </a:avLst>
          </a:prstGeom>
          <a:solidFill>
            <a:srgbClr val="FFFEFB"/>
          </a:solidFill>
          <a:ln w="12700">
            <a:solidFill>
              <a:srgbClr val="DCE5E8"/>
            </a:solidFill>
            <a:prstDash val="solid"/>
          </a:ln>
        </p:spPr>
      </p:sp>
      <p:sp>
        <p:nvSpPr>
          <p:cNvPr id="6" name="Text 4"/>
          <p:cNvSpPr/>
          <p:nvPr/>
        </p:nvSpPr>
        <p:spPr>
          <a:xfrm>
            <a:off x="1054100" y="2331641"/>
            <a:ext cx="1962150"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D3557"/>
                </a:solidFill>
                <a:latin typeface="Be Vietnam Pro" pitchFamily="34" charset="0"/>
                <a:ea typeface="Be Vietnam Pro" pitchFamily="34" charset="-122"/>
                <a:cs typeface="Be Vietnam Pro" pitchFamily="34" charset="-120"/>
              </a:rPr>
              <a:t>Transport</a:t>
            </a:r>
            <a:endParaRPr lang="en-US" sz="1600" dirty="0"/>
          </a:p>
        </p:txBody>
      </p:sp>
      <p:sp>
        <p:nvSpPr>
          <p:cNvPr id="7" name="Text 5"/>
          <p:cNvSpPr/>
          <p:nvPr/>
        </p:nvSpPr>
        <p:spPr>
          <a:xfrm>
            <a:off x="3111500" y="2331641"/>
            <a:ext cx="1118295"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B4500F"/>
                </a:solidFill>
                <a:latin typeface="Nunito Sans" pitchFamily="34" charset="0"/>
                <a:ea typeface="Nunito Sans" pitchFamily="34" charset="-122"/>
                <a:cs typeface="Nunito Sans" pitchFamily="34" charset="-120"/>
              </a:rPr>
              <a:t>(1) ______</a:t>
            </a:r>
            <a:endParaRPr lang="en-US" sz="1600" dirty="0"/>
          </a:p>
        </p:txBody>
      </p:sp>
      <p:sp>
        <p:nvSpPr>
          <p:cNvPr id="8" name="Shape 6"/>
          <p:cNvSpPr/>
          <p:nvPr/>
        </p:nvSpPr>
        <p:spPr>
          <a:xfrm>
            <a:off x="819150" y="2965351"/>
            <a:ext cx="4426793" cy="652760"/>
          </a:xfrm>
          <a:prstGeom prst="roundRect">
            <a:avLst>
              <a:gd name="adj" fmla="val 18483"/>
            </a:avLst>
          </a:prstGeom>
          <a:solidFill>
            <a:srgbClr val="FFFEFB"/>
          </a:solidFill>
          <a:ln w="12700">
            <a:solidFill>
              <a:srgbClr val="DCE5E8"/>
            </a:solidFill>
            <a:prstDash val="solid"/>
          </a:ln>
        </p:spPr>
      </p:sp>
      <p:sp>
        <p:nvSpPr>
          <p:cNvPr id="9" name="Text 7"/>
          <p:cNvSpPr/>
          <p:nvPr/>
        </p:nvSpPr>
        <p:spPr>
          <a:xfrm>
            <a:off x="1054100" y="3149501"/>
            <a:ext cx="1962150"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D3557"/>
                </a:solidFill>
                <a:latin typeface="Be Vietnam Pro" pitchFamily="34" charset="0"/>
                <a:ea typeface="Be Vietnam Pro" pitchFamily="34" charset="-122"/>
                <a:cs typeface="Be Vietnam Pro" pitchFamily="34" charset="-120"/>
              </a:rPr>
              <a:t>Infrastructure</a:t>
            </a:r>
            <a:endParaRPr lang="en-US" sz="1600" dirty="0"/>
          </a:p>
        </p:txBody>
      </p:sp>
      <p:sp>
        <p:nvSpPr>
          <p:cNvPr id="10" name="Text 8"/>
          <p:cNvSpPr/>
          <p:nvPr/>
        </p:nvSpPr>
        <p:spPr>
          <a:xfrm>
            <a:off x="3111500" y="3149501"/>
            <a:ext cx="1118295"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B4500F"/>
                </a:solidFill>
                <a:latin typeface="Nunito Sans" pitchFamily="34" charset="0"/>
                <a:ea typeface="Nunito Sans" pitchFamily="34" charset="-122"/>
                <a:cs typeface="Nunito Sans" pitchFamily="34" charset="-120"/>
              </a:rPr>
              <a:t>(2) ______</a:t>
            </a:r>
            <a:endParaRPr lang="en-US" sz="1600" dirty="0"/>
          </a:p>
        </p:txBody>
      </p:sp>
      <p:sp>
        <p:nvSpPr>
          <p:cNvPr id="11" name="Shape 9"/>
          <p:cNvSpPr/>
          <p:nvPr/>
        </p:nvSpPr>
        <p:spPr>
          <a:xfrm>
            <a:off x="819150" y="3783211"/>
            <a:ext cx="4426793" cy="652760"/>
          </a:xfrm>
          <a:prstGeom prst="roundRect">
            <a:avLst>
              <a:gd name="adj" fmla="val 18483"/>
            </a:avLst>
          </a:prstGeom>
          <a:solidFill>
            <a:srgbClr val="FFFEFB"/>
          </a:solidFill>
          <a:ln w="12700">
            <a:solidFill>
              <a:srgbClr val="DCE5E8"/>
            </a:solidFill>
            <a:prstDash val="solid"/>
          </a:ln>
        </p:spPr>
      </p:sp>
      <p:sp>
        <p:nvSpPr>
          <p:cNvPr id="12" name="Text 10"/>
          <p:cNvSpPr/>
          <p:nvPr/>
        </p:nvSpPr>
        <p:spPr>
          <a:xfrm>
            <a:off x="1054100" y="3967361"/>
            <a:ext cx="1962150"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D3557"/>
                </a:solidFill>
                <a:latin typeface="Be Vietnam Pro" pitchFamily="34" charset="0"/>
                <a:ea typeface="Be Vietnam Pro" pitchFamily="34" charset="-122"/>
                <a:cs typeface="Be Vietnam Pro" pitchFamily="34" charset="-120"/>
              </a:rPr>
              <a:t>Living conditions</a:t>
            </a:r>
            <a:endParaRPr lang="en-US" sz="1600" dirty="0"/>
          </a:p>
        </p:txBody>
      </p:sp>
      <p:sp>
        <p:nvSpPr>
          <p:cNvPr id="13" name="Text 11"/>
          <p:cNvSpPr/>
          <p:nvPr/>
        </p:nvSpPr>
        <p:spPr>
          <a:xfrm>
            <a:off x="3111500" y="3967361"/>
            <a:ext cx="1118295"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B4500F"/>
                </a:solidFill>
                <a:latin typeface="Nunito Sans" pitchFamily="34" charset="0"/>
                <a:ea typeface="Nunito Sans" pitchFamily="34" charset="-122"/>
                <a:cs typeface="Nunito Sans" pitchFamily="34" charset="-120"/>
              </a:rPr>
              <a:t>(3) ______</a:t>
            </a:r>
            <a:endParaRPr lang="en-US" sz="1600" dirty="0"/>
          </a:p>
        </p:txBody>
      </p:sp>
      <p:sp>
        <p:nvSpPr>
          <p:cNvPr id="14" name="Text 12"/>
          <p:cNvSpPr/>
          <p:nvPr/>
        </p:nvSpPr>
        <p:spPr>
          <a:xfrm>
            <a:off x="5607893" y="1775420"/>
            <a:ext cx="5944446"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5D6877"/>
                </a:solidFill>
                <a:latin typeface="Nunito Sans" pitchFamily="34" charset="0"/>
                <a:ea typeface="Nunito Sans" pitchFamily="34" charset="-122"/>
                <a:cs typeface="Nunito Sans" pitchFamily="34" charset="-120"/>
              </a:rPr>
              <a:t>IDEAS</a:t>
            </a:r>
            <a:endParaRPr lang="en-US" sz="1200" dirty="0"/>
          </a:p>
        </p:txBody>
      </p:sp>
      <p:sp>
        <p:nvSpPr>
          <p:cNvPr id="15" name="Shape 13"/>
          <p:cNvSpPr/>
          <p:nvPr/>
        </p:nvSpPr>
        <p:spPr>
          <a:xfrm>
            <a:off x="5607893" y="2141141"/>
            <a:ext cx="5771307" cy="871141"/>
          </a:xfrm>
          <a:prstGeom prst="roundRect">
            <a:avLst>
              <a:gd name="adj" fmla="val 14579"/>
            </a:avLst>
          </a:prstGeom>
          <a:solidFill>
            <a:srgbClr val="EEF4F3"/>
          </a:solidFill>
          <a:ln/>
        </p:spPr>
      </p:sp>
      <p:sp>
        <p:nvSpPr>
          <p:cNvPr id="16" name="Text 14"/>
          <p:cNvSpPr/>
          <p:nvPr/>
        </p:nvSpPr>
        <p:spPr>
          <a:xfrm>
            <a:off x="5836493" y="2318941"/>
            <a:ext cx="202009"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17279"/>
                </a:solidFill>
                <a:latin typeface="Be Vietnam Pro" pitchFamily="34" charset="0"/>
                <a:ea typeface="Be Vietnam Pro" pitchFamily="34" charset="-122"/>
                <a:cs typeface="Be Vietnam Pro" pitchFamily="34" charset="-120"/>
              </a:rPr>
              <a:t>A</a:t>
            </a:r>
            <a:endParaRPr lang="en-US" sz="1600" dirty="0"/>
          </a:p>
        </p:txBody>
      </p:sp>
      <p:sp>
        <p:nvSpPr>
          <p:cNvPr id="17" name="Text 15"/>
          <p:cNvSpPr/>
          <p:nvPr/>
        </p:nvSpPr>
        <p:spPr>
          <a:xfrm>
            <a:off x="6140103" y="2318941"/>
            <a:ext cx="5160812" cy="540941"/>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2A3646"/>
                </a:solidFill>
                <a:latin typeface="Nunito Sans" pitchFamily="34" charset="0"/>
                <a:ea typeface="Nunito Sans" pitchFamily="34" charset="-122"/>
                <a:cs typeface="Nunito Sans" pitchFamily="34" charset="-120"/>
              </a:rPr>
              <a:t>Quality of life will be improved thanks to the cleaner environment.</a:t>
            </a:r>
            <a:endParaRPr lang="en-US" sz="1400" dirty="0"/>
          </a:p>
        </p:txBody>
      </p:sp>
      <p:sp>
        <p:nvSpPr>
          <p:cNvPr id="18" name="Shape 16"/>
          <p:cNvSpPr/>
          <p:nvPr/>
        </p:nvSpPr>
        <p:spPr>
          <a:xfrm>
            <a:off x="5607893" y="3164681"/>
            <a:ext cx="5771307" cy="871141"/>
          </a:xfrm>
          <a:prstGeom prst="roundRect">
            <a:avLst>
              <a:gd name="adj" fmla="val 14579"/>
            </a:avLst>
          </a:prstGeom>
          <a:solidFill>
            <a:srgbClr val="EEF4F3"/>
          </a:solidFill>
          <a:ln/>
        </p:spPr>
      </p:sp>
      <p:sp>
        <p:nvSpPr>
          <p:cNvPr id="19" name="Text 17"/>
          <p:cNvSpPr/>
          <p:nvPr/>
        </p:nvSpPr>
        <p:spPr>
          <a:xfrm>
            <a:off x="5836493" y="3342481"/>
            <a:ext cx="176163"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17279"/>
                </a:solidFill>
                <a:latin typeface="Be Vietnam Pro" pitchFamily="34" charset="0"/>
                <a:ea typeface="Be Vietnam Pro" pitchFamily="34" charset="-122"/>
                <a:cs typeface="Be Vietnam Pro" pitchFamily="34" charset="-120"/>
              </a:rPr>
              <a:t>B</a:t>
            </a:r>
            <a:endParaRPr lang="en-US" sz="1600" dirty="0"/>
          </a:p>
        </p:txBody>
      </p:sp>
      <p:sp>
        <p:nvSpPr>
          <p:cNvPr id="20" name="Text 18"/>
          <p:cNvSpPr/>
          <p:nvPr/>
        </p:nvSpPr>
        <p:spPr>
          <a:xfrm>
            <a:off x="6114256" y="3342481"/>
            <a:ext cx="5187434" cy="540941"/>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2A3646"/>
                </a:solidFill>
                <a:latin typeface="Nunito Sans" pitchFamily="34" charset="0"/>
                <a:ea typeface="Nunito Sans" pitchFamily="34" charset="-122"/>
                <a:cs typeface="Nunito Sans" pitchFamily="34" charset="-120"/>
              </a:rPr>
              <a:t>There will be no private vehicles because people will use public transport.</a:t>
            </a:r>
            <a:endParaRPr lang="en-US" sz="1400" dirty="0"/>
          </a:p>
        </p:txBody>
      </p:sp>
      <p:sp>
        <p:nvSpPr>
          <p:cNvPr id="21" name="Shape 19"/>
          <p:cNvSpPr/>
          <p:nvPr/>
        </p:nvSpPr>
        <p:spPr>
          <a:xfrm>
            <a:off x="5607893" y="4188222"/>
            <a:ext cx="5771307" cy="871141"/>
          </a:xfrm>
          <a:prstGeom prst="roundRect">
            <a:avLst>
              <a:gd name="adj" fmla="val 14579"/>
            </a:avLst>
          </a:prstGeom>
          <a:solidFill>
            <a:srgbClr val="EEF4F3"/>
          </a:solidFill>
          <a:ln/>
        </p:spPr>
      </p:sp>
      <p:sp>
        <p:nvSpPr>
          <p:cNvPr id="22" name="Text 20"/>
          <p:cNvSpPr/>
          <p:nvPr/>
        </p:nvSpPr>
        <p:spPr>
          <a:xfrm>
            <a:off x="5836493" y="4366022"/>
            <a:ext cx="166985"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17279"/>
                </a:solidFill>
                <a:latin typeface="Be Vietnam Pro" pitchFamily="34" charset="0"/>
                <a:ea typeface="Be Vietnam Pro" pitchFamily="34" charset="-122"/>
                <a:cs typeface="Be Vietnam Pro" pitchFamily="34" charset="-120"/>
              </a:rPr>
              <a:t>C</a:t>
            </a:r>
            <a:endParaRPr lang="en-US" sz="1600" dirty="0"/>
          </a:p>
        </p:txBody>
      </p:sp>
      <p:sp>
        <p:nvSpPr>
          <p:cNvPr id="23" name="Text 21"/>
          <p:cNvSpPr/>
          <p:nvPr/>
        </p:nvSpPr>
        <p:spPr>
          <a:xfrm>
            <a:off x="6105079" y="4366022"/>
            <a:ext cx="5196887" cy="540941"/>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2A3646"/>
                </a:solidFill>
                <a:latin typeface="Nunito Sans" pitchFamily="34" charset="0"/>
                <a:ea typeface="Nunito Sans" pitchFamily="34" charset="-122"/>
                <a:cs typeface="Nunito Sans" pitchFamily="34" charset="-120"/>
              </a:rPr>
              <a:t>Green skyscrapers will replace old blocks of flats and offices in crowded urban centres.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AF6"/>
        </a:solidFill>
        <a:effectLst/>
      </p:bgPr>
    </p:bg>
    <p:spTree>
      <p:nvGrpSpPr>
        <p:cNvPr id="1" name=""/>
        <p:cNvGrpSpPr/>
        <p:nvPr/>
      </p:nvGrpSpPr>
      <p:grpSpPr>
        <a:xfrm>
          <a:off x="0" y="0"/>
          <a:ext cx="0" cy="0"/>
          <a:chOff x="0" y="0"/>
          <a:chExt cx="0" cy="0"/>
        </a:xfrm>
      </p:grpSpPr>
      <p:sp>
        <p:nvSpPr>
          <p:cNvPr id="2" name="Text 0"/>
          <p:cNvSpPr/>
          <p:nvPr/>
        </p:nvSpPr>
        <p:spPr>
          <a:xfrm>
            <a:off x="812800" y="762000"/>
            <a:ext cx="10883392" cy="238720"/>
          </a:xfrm>
          <a:prstGeom prst="rect">
            <a:avLst/>
          </a:prstGeom>
          <a:noFill/>
          <a:ln/>
        </p:spPr>
        <p:txBody>
          <a:bodyPr wrap="square" lIns="0" tIns="0" rIns="0" bIns="0" rtlCol="0" anchor="t">
            <a:normAutofit/>
          </a:bodyPr>
          <a:lstStyle/>
          <a:p>
            <a:pPr marL="0" indent="0" algn="l">
              <a:lnSpc>
                <a:spcPts val="1680"/>
              </a:lnSpc>
              <a:buNone/>
            </a:pPr>
            <a:r>
              <a:rPr lang="en-US" sz="2000" b="1" kern="0" spc="150" dirty="0">
                <a:solidFill>
                  <a:srgbClr val="117279"/>
                </a:solidFill>
                <a:latin typeface="Nunito Sans" pitchFamily="34" charset="0"/>
                <a:ea typeface="Nunito Sans" pitchFamily="34" charset="-122"/>
                <a:cs typeface="Nunito Sans" pitchFamily="34" charset="-120"/>
              </a:rPr>
              <a:t>TASK 1 • ANSWER KEY</a:t>
            </a:r>
            <a:endParaRPr lang="en-US" sz="2000" dirty="0"/>
          </a:p>
        </p:txBody>
      </p:sp>
      <p:sp>
        <p:nvSpPr>
          <p:cNvPr id="3" name="Text 1"/>
          <p:cNvSpPr>
            <a:spLocks noGrp="1"/>
          </p:cNvSpPr>
          <p:nvPr>
            <p:ph type="title"/>
          </p:nvPr>
        </p:nvSpPr>
        <p:spPr>
          <a:xfrm>
            <a:off x="812800" y="1051520"/>
            <a:ext cx="10883392" cy="444500"/>
          </a:xfrm>
          <a:prstGeom prst="rect">
            <a:avLst/>
          </a:prstGeom>
          <a:noFill/>
          <a:ln/>
        </p:spPr>
        <p:txBody>
          <a:bodyPr wrap="square" lIns="0" tIns="0" rIns="0" bIns="0" rtlCol="0" anchor="t">
            <a:normAutofit/>
          </a:bodyPr>
          <a:lstStyle/>
          <a:p>
            <a:pPr marL="0" indent="0" algn="l">
              <a:lnSpc>
                <a:spcPts val="3300"/>
              </a:lnSpc>
              <a:buNone/>
            </a:pPr>
            <a:r>
              <a:rPr lang="en-US" sz="2000" b="1" i="0" dirty="0">
                <a:solidFill>
                  <a:srgbClr val="1D3557"/>
                </a:solidFill>
                <a:latin typeface="Be Vietnam Pro" pitchFamily="34" charset="0"/>
                <a:ea typeface="Be Vietnam Pro" pitchFamily="34" charset="-122"/>
                <a:cs typeface="Be Vietnam Pro" pitchFamily="34" charset="-120"/>
              </a:rPr>
              <a:t>Complete the diagram with ideas A, B and C</a:t>
            </a:r>
            <a:endParaRPr lang="en-US" sz="2000" dirty="0"/>
          </a:p>
        </p:txBody>
      </p:sp>
      <p:sp>
        <p:nvSpPr>
          <p:cNvPr id="4" name="Text 2"/>
          <p:cNvSpPr/>
          <p:nvPr/>
        </p:nvSpPr>
        <p:spPr>
          <a:xfrm>
            <a:off x="812800" y="1775420"/>
            <a:ext cx="4572678" cy="238720"/>
          </a:xfrm>
          <a:prstGeom prst="rect">
            <a:avLst/>
          </a:prstGeom>
          <a:noFill/>
          <a:ln/>
        </p:spPr>
        <p:txBody>
          <a:bodyPr wrap="square" lIns="0" tIns="0" rIns="0" bIns="0" rtlCol="0" anchor="t">
            <a:noAutofit/>
          </a:bodyPr>
          <a:lstStyle/>
          <a:p>
            <a:pPr marL="0" indent="0" algn="l">
              <a:lnSpc>
                <a:spcPts val="1680"/>
              </a:lnSpc>
              <a:buNone/>
            </a:pPr>
            <a:r>
              <a:rPr lang="en-US" sz="2000" b="1" kern="0" spc="150" dirty="0">
                <a:solidFill>
                  <a:srgbClr val="5D6877"/>
                </a:solidFill>
                <a:latin typeface="Nunito Sans" pitchFamily="34" charset="0"/>
                <a:ea typeface="Nunito Sans" pitchFamily="34" charset="-122"/>
                <a:cs typeface="Nunito Sans" pitchFamily="34" charset="-120"/>
              </a:rPr>
              <a:t>SMART AND SUSTAINABLE CITIES</a:t>
            </a:r>
            <a:endParaRPr lang="en-US" sz="2000" dirty="0"/>
          </a:p>
        </p:txBody>
      </p:sp>
      <p:sp>
        <p:nvSpPr>
          <p:cNvPr id="5" name="Shape 3"/>
          <p:cNvSpPr/>
          <p:nvPr/>
        </p:nvSpPr>
        <p:spPr>
          <a:xfrm>
            <a:off x="819150" y="2147491"/>
            <a:ext cx="4426793" cy="652760"/>
          </a:xfrm>
          <a:prstGeom prst="roundRect">
            <a:avLst>
              <a:gd name="adj" fmla="val 18483"/>
            </a:avLst>
          </a:prstGeom>
          <a:solidFill>
            <a:srgbClr val="FFFEFB"/>
          </a:solidFill>
          <a:ln w="12700">
            <a:solidFill>
              <a:srgbClr val="E8762A"/>
            </a:solidFill>
            <a:prstDash val="solid"/>
          </a:ln>
        </p:spPr>
      </p:sp>
      <p:sp>
        <p:nvSpPr>
          <p:cNvPr id="6" name="Text 4"/>
          <p:cNvSpPr/>
          <p:nvPr/>
        </p:nvSpPr>
        <p:spPr>
          <a:xfrm>
            <a:off x="1054100" y="2331641"/>
            <a:ext cx="1962150" cy="309860"/>
          </a:xfrm>
          <a:prstGeom prst="rect">
            <a:avLst/>
          </a:prstGeom>
          <a:noFill/>
          <a:ln/>
        </p:spPr>
        <p:txBody>
          <a:bodyPr wrap="square" lIns="0" tIns="0" rIns="0" bIns="0" rtlCol="0" anchor="t">
            <a:normAutofit/>
          </a:bodyPr>
          <a:lstStyle/>
          <a:p>
            <a:pPr marL="0" indent="0" algn="l">
              <a:lnSpc>
                <a:spcPts val="2240"/>
              </a:lnSpc>
              <a:buNone/>
            </a:pPr>
            <a:r>
              <a:rPr lang="en-US" sz="2000" b="1" dirty="0">
                <a:solidFill>
                  <a:srgbClr val="1D3557"/>
                </a:solidFill>
                <a:latin typeface="Be Vietnam Pro" pitchFamily="34" charset="0"/>
                <a:ea typeface="Be Vietnam Pro" pitchFamily="34" charset="-122"/>
                <a:cs typeface="Be Vietnam Pro" pitchFamily="34" charset="-120"/>
              </a:rPr>
              <a:t>Transport</a:t>
            </a:r>
            <a:endParaRPr lang="en-US" sz="2000" dirty="0"/>
          </a:p>
        </p:txBody>
      </p:sp>
      <p:sp>
        <p:nvSpPr>
          <p:cNvPr id="7" name="Text 5"/>
          <p:cNvSpPr/>
          <p:nvPr/>
        </p:nvSpPr>
        <p:spPr>
          <a:xfrm>
            <a:off x="3111500" y="2331641"/>
            <a:ext cx="1257300" cy="297160"/>
          </a:xfrm>
          <a:prstGeom prst="rect">
            <a:avLst/>
          </a:prstGeom>
          <a:noFill/>
          <a:ln/>
        </p:spPr>
        <p:txBody>
          <a:bodyPr wrap="square" lIns="0" tIns="0" rIns="0" bIns="0" rtlCol="0" anchor="t">
            <a:noAutofit/>
          </a:bodyPr>
          <a:lstStyle/>
          <a:p>
            <a:pPr marL="0" indent="0" algn="l">
              <a:lnSpc>
                <a:spcPts val="2240"/>
              </a:lnSpc>
              <a:buNone/>
            </a:pPr>
            <a:r>
              <a:rPr lang="en-US" sz="2000" b="1" dirty="0">
                <a:solidFill>
                  <a:srgbClr val="B4500F"/>
                </a:solidFill>
                <a:latin typeface="Nunito Sans" pitchFamily="34" charset="0"/>
                <a:ea typeface="Nunito Sans" pitchFamily="34" charset="-122"/>
                <a:cs typeface="Nunito Sans" pitchFamily="34" charset="-120"/>
              </a:rPr>
              <a:t>(1) B</a:t>
            </a:r>
            <a:endParaRPr lang="en-US" sz="2000" dirty="0"/>
          </a:p>
        </p:txBody>
      </p:sp>
      <p:sp>
        <p:nvSpPr>
          <p:cNvPr id="8" name="Shape 6"/>
          <p:cNvSpPr/>
          <p:nvPr/>
        </p:nvSpPr>
        <p:spPr>
          <a:xfrm>
            <a:off x="819150" y="2965351"/>
            <a:ext cx="4426793" cy="652760"/>
          </a:xfrm>
          <a:prstGeom prst="roundRect">
            <a:avLst>
              <a:gd name="adj" fmla="val 18483"/>
            </a:avLst>
          </a:prstGeom>
          <a:solidFill>
            <a:srgbClr val="FFFEFB"/>
          </a:solidFill>
          <a:ln w="12700">
            <a:solidFill>
              <a:srgbClr val="E8762A"/>
            </a:solidFill>
            <a:prstDash val="solid"/>
          </a:ln>
        </p:spPr>
      </p:sp>
      <p:sp>
        <p:nvSpPr>
          <p:cNvPr id="9" name="Text 7"/>
          <p:cNvSpPr/>
          <p:nvPr/>
        </p:nvSpPr>
        <p:spPr>
          <a:xfrm>
            <a:off x="1054100" y="3149501"/>
            <a:ext cx="1962150" cy="309860"/>
          </a:xfrm>
          <a:prstGeom prst="rect">
            <a:avLst/>
          </a:prstGeom>
          <a:noFill/>
          <a:ln/>
        </p:spPr>
        <p:txBody>
          <a:bodyPr wrap="square" lIns="0" tIns="0" rIns="0" bIns="0" rtlCol="0" anchor="t">
            <a:normAutofit/>
          </a:bodyPr>
          <a:lstStyle/>
          <a:p>
            <a:pPr marL="0" indent="0" algn="l">
              <a:lnSpc>
                <a:spcPts val="2240"/>
              </a:lnSpc>
              <a:buNone/>
            </a:pPr>
            <a:r>
              <a:rPr lang="en-US" sz="2000" b="1" dirty="0">
                <a:solidFill>
                  <a:srgbClr val="1D3557"/>
                </a:solidFill>
                <a:latin typeface="Be Vietnam Pro" pitchFamily="34" charset="0"/>
                <a:ea typeface="Be Vietnam Pro" pitchFamily="34" charset="-122"/>
                <a:cs typeface="Be Vietnam Pro" pitchFamily="34" charset="-120"/>
              </a:rPr>
              <a:t>Infrastructure</a:t>
            </a:r>
            <a:endParaRPr lang="en-US" sz="2000" dirty="0"/>
          </a:p>
        </p:txBody>
      </p:sp>
      <p:sp>
        <p:nvSpPr>
          <p:cNvPr id="10" name="Text 8"/>
          <p:cNvSpPr/>
          <p:nvPr/>
        </p:nvSpPr>
        <p:spPr>
          <a:xfrm>
            <a:off x="3111500" y="3149501"/>
            <a:ext cx="935567" cy="279499"/>
          </a:xfrm>
          <a:prstGeom prst="rect">
            <a:avLst/>
          </a:prstGeom>
          <a:noFill/>
          <a:ln/>
        </p:spPr>
        <p:txBody>
          <a:bodyPr wrap="square" lIns="0" tIns="0" rIns="0" bIns="0" rtlCol="0" anchor="t">
            <a:noAutofit/>
          </a:bodyPr>
          <a:lstStyle/>
          <a:p>
            <a:pPr marL="0" indent="0" algn="l">
              <a:lnSpc>
                <a:spcPts val="2240"/>
              </a:lnSpc>
              <a:buNone/>
            </a:pPr>
            <a:r>
              <a:rPr lang="en-US" sz="2000" b="1" dirty="0">
                <a:solidFill>
                  <a:srgbClr val="B4500F"/>
                </a:solidFill>
                <a:latin typeface="Nunito Sans" pitchFamily="34" charset="0"/>
                <a:ea typeface="Nunito Sans" pitchFamily="34" charset="-122"/>
                <a:cs typeface="Nunito Sans" pitchFamily="34" charset="-120"/>
              </a:rPr>
              <a:t>(2) C</a:t>
            </a:r>
            <a:endParaRPr lang="en-US" sz="2000" dirty="0"/>
          </a:p>
        </p:txBody>
      </p:sp>
      <p:sp>
        <p:nvSpPr>
          <p:cNvPr id="11" name="Shape 9"/>
          <p:cNvSpPr/>
          <p:nvPr/>
        </p:nvSpPr>
        <p:spPr>
          <a:xfrm>
            <a:off x="819150" y="3783211"/>
            <a:ext cx="4426793" cy="652760"/>
          </a:xfrm>
          <a:prstGeom prst="roundRect">
            <a:avLst>
              <a:gd name="adj" fmla="val 18483"/>
            </a:avLst>
          </a:prstGeom>
          <a:solidFill>
            <a:srgbClr val="FFFEFB"/>
          </a:solidFill>
          <a:ln w="12700">
            <a:solidFill>
              <a:srgbClr val="E8762A"/>
            </a:solidFill>
            <a:prstDash val="solid"/>
          </a:ln>
        </p:spPr>
      </p:sp>
      <p:sp>
        <p:nvSpPr>
          <p:cNvPr id="12" name="Text 10"/>
          <p:cNvSpPr/>
          <p:nvPr/>
        </p:nvSpPr>
        <p:spPr>
          <a:xfrm>
            <a:off x="1054100" y="3967361"/>
            <a:ext cx="1962150" cy="309860"/>
          </a:xfrm>
          <a:prstGeom prst="rect">
            <a:avLst/>
          </a:prstGeom>
          <a:noFill/>
          <a:ln/>
        </p:spPr>
        <p:txBody>
          <a:bodyPr wrap="square" lIns="0" tIns="0" rIns="0" bIns="0" rtlCol="0" anchor="t">
            <a:noAutofit/>
          </a:bodyPr>
          <a:lstStyle/>
          <a:p>
            <a:pPr marL="0" indent="0" algn="l">
              <a:lnSpc>
                <a:spcPts val="2240"/>
              </a:lnSpc>
              <a:buNone/>
            </a:pPr>
            <a:r>
              <a:rPr lang="en-US" sz="2000" b="1" dirty="0">
                <a:solidFill>
                  <a:srgbClr val="1D3557"/>
                </a:solidFill>
                <a:latin typeface="Be Vietnam Pro" pitchFamily="34" charset="0"/>
                <a:ea typeface="Be Vietnam Pro" pitchFamily="34" charset="-122"/>
                <a:cs typeface="Be Vietnam Pro" pitchFamily="34" charset="-120"/>
              </a:rPr>
              <a:t>Living conditions</a:t>
            </a:r>
            <a:endParaRPr lang="en-US" sz="2000" dirty="0"/>
          </a:p>
        </p:txBody>
      </p:sp>
      <p:sp>
        <p:nvSpPr>
          <p:cNvPr id="13" name="Text 11"/>
          <p:cNvSpPr/>
          <p:nvPr/>
        </p:nvSpPr>
        <p:spPr>
          <a:xfrm>
            <a:off x="3111500" y="3967361"/>
            <a:ext cx="1257300" cy="309860"/>
          </a:xfrm>
          <a:prstGeom prst="rect">
            <a:avLst/>
          </a:prstGeom>
          <a:noFill/>
          <a:ln/>
        </p:spPr>
        <p:txBody>
          <a:bodyPr wrap="square" lIns="0" tIns="0" rIns="0" bIns="0" rtlCol="0" anchor="t">
            <a:noAutofit/>
          </a:bodyPr>
          <a:lstStyle/>
          <a:p>
            <a:pPr marL="0" indent="0" algn="l">
              <a:lnSpc>
                <a:spcPts val="2240"/>
              </a:lnSpc>
              <a:buNone/>
            </a:pPr>
            <a:r>
              <a:rPr lang="en-US" sz="2000" b="1" dirty="0">
                <a:solidFill>
                  <a:srgbClr val="B4500F"/>
                </a:solidFill>
                <a:latin typeface="Nunito Sans" pitchFamily="34" charset="0"/>
                <a:ea typeface="Nunito Sans" pitchFamily="34" charset="-122"/>
                <a:cs typeface="Nunito Sans" pitchFamily="34" charset="-120"/>
              </a:rPr>
              <a:t>(3) A</a:t>
            </a:r>
            <a:endParaRPr lang="en-US" sz="2000" dirty="0"/>
          </a:p>
        </p:txBody>
      </p:sp>
      <p:sp>
        <p:nvSpPr>
          <p:cNvPr id="14" name="Text 12"/>
          <p:cNvSpPr/>
          <p:nvPr/>
        </p:nvSpPr>
        <p:spPr>
          <a:xfrm>
            <a:off x="5607893" y="1775420"/>
            <a:ext cx="5944446" cy="238720"/>
          </a:xfrm>
          <a:prstGeom prst="rect">
            <a:avLst/>
          </a:prstGeom>
          <a:noFill/>
          <a:ln/>
        </p:spPr>
        <p:txBody>
          <a:bodyPr wrap="square" lIns="0" tIns="0" rIns="0" bIns="0" rtlCol="0" anchor="t">
            <a:normAutofit/>
          </a:bodyPr>
          <a:lstStyle/>
          <a:p>
            <a:pPr marL="0" indent="0" algn="l">
              <a:lnSpc>
                <a:spcPts val="1680"/>
              </a:lnSpc>
              <a:buNone/>
            </a:pPr>
            <a:r>
              <a:rPr lang="en-US" sz="2000" b="1" kern="0" spc="150" dirty="0">
                <a:solidFill>
                  <a:srgbClr val="5D6877"/>
                </a:solidFill>
                <a:latin typeface="Nunito Sans" pitchFamily="34" charset="0"/>
                <a:ea typeface="Nunito Sans" pitchFamily="34" charset="-122"/>
                <a:cs typeface="Nunito Sans" pitchFamily="34" charset="-120"/>
              </a:rPr>
              <a:t>IDEAS</a:t>
            </a:r>
            <a:endParaRPr lang="en-US" sz="2000" dirty="0"/>
          </a:p>
        </p:txBody>
      </p:sp>
      <p:sp>
        <p:nvSpPr>
          <p:cNvPr id="15" name="Shape 13"/>
          <p:cNvSpPr/>
          <p:nvPr/>
        </p:nvSpPr>
        <p:spPr>
          <a:xfrm>
            <a:off x="5607893" y="2141141"/>
            <a:ext cx="5771307" cy="871141"/>
          </a:xfrm>
          <a:prstGeom prst="roundRect">
            <a:avLst>
              <a:gd name="adj" fmla="val 14579"/>
            </a:avLst>
          </a:prstGeom>
          <a:solidFill>
            <a:srgbClr val="EEF4F3"/>
          </a:solidFill>
          <a:ln/>
        </p:spPr>
      </p:sp>
      <p:sp>
        <p:nvSpPr>
          <p:cNvPr id="16" name="Text 14"/>
          <p:cNvSpPr/>
          <p:nvPr/>
        </p:nvSpPr>
        <p:spPr>
          <a:xfrm>
            <a:off x="5836493" y="2318941"/>
            <a:ext cx="209302" cy="309860"/>
          </a:xfrm>
          <a:prstGeom prst="rect">
            <a:avLst/>
          </a:prstGeom>
          <a:noFill/>
          <a:ln/>
        </p:spPr>
        <p:txBody>
          <a:bodyPr wrap="square" lIns="0" tIns="0" rIns="0" bIns="0" rtlCol="0" anchor="t">
            <a:normAutofit/>
          </a:bodyPr>
          <a:lstStyle/>
          <a:p>
            <a:pPr marL="0" indent="0" algn="l">
              <a:lnSpc>
                <a:spcPts val="2240"/>
              </a:lnSpc>
              <a:buNone/>
            </a:pPr>
            <a:r>
              <a:rPr lang="en-US" sz="2000" b="1" dirty="0">
                <a:solidFill>
                  <a:srgbClr val="117279"/>
                </a:solidFill>
                <a:latin typeface="Be Vietnam Pro" pitchFamily="34" charset="0"/>
                <a:ea typeface="Be Vietnam Pro" pitchFamily="34" charset="-122"/>
                <a:cs typeface="Be Vietnam Pro" pitchFamily="34" charset="-120"/>
              </a:rPr>
              <a:t>A</a:t>
            </a:r>
            <a:endParaRPr lang="en-US" sz="2000" dirty="0"/>
          </a:p>
        </p:txBody>
      </p:sp>
      <p:sp>
        <p:nvSpPr>
          <p:cNvPr id="17" name="Text 15"/>
          <p:cNvSpPr/>
          <p:nvPr/>
        </p:nvSpPr>
        <p:spPr>
          <a:xfrm>
            <a:off x="6147395" y="2318941"/>
            <a:ext cx="4546772" cy="540941"/>
          </a:xfrm>
          <a:prstGeom prst="rect">
            <a:avLst/>
          </a:prstGeom>
          <a:noFill/>
          <a:ln/>
        </p:spPr>
        <p:txBody>
          <a:bodyPr wrap="square" lIns="0" tIns="0" rIns="0" bIns="0" rtlCol="0" anchor="t">
            <a:normAutofit/>
          </a:bodyPr>
          <a:lstStyle/>
          <a:p>
            <a:pPr marL="0" indent="0" algn="l">
              <a:lnSpc>
                <a:spcPts val="2030"/>
              </a:lnSpc>
              <a:buNone/>
            </a:pPr>
            <a:r>
              <a:rPr lang="en-US" sz="2000" dirty="0">
                <a:solidFill>
                  <a:srgbClr val="2A3646"/>
                </a:solidFill>
                <a:latin typeface="Nunito Sans" pitchFamily="34" charset="0"/>
                <a:ea typeface="Nunito Sans" pitchFamily="34" charset="-122"/>
                <a:cs typeface="Nunito Sans" pitchFamily="34" charset="-120"/>
              </a:rPr>
              <a:t>Quality of life will be improved thanks to the cleaner environment.</a:t>
            </a:r>
            <a:endParaRPr lang="en-US" sz="2000" dirty="0"/>
          </a:p>
        </p:txBody>
      </p:sp>
      <p:sp>
        <p:nvSpPr>
          <p:cNvPr id="18" name="Text 16"/>
          <p:cNvSpPr/>
          <p:nvPr/>
        </p:nvSpPr>
        <p:spPr>
          <a:xfrm>
            <a:off x="10714137" y="2318941"/>
            <a:ext cx="436463" cy="289520"/>
          </a:xfrm>
          <a:custGeom>
            <a:avLst/>
            <a:gdLst/>
            <a:ahLst/>
            <a:cxnLst/>
            <a:rect l="l" t="t" r="r" b="b"/>
            <a:pathLst>
              <a:path w="436463" h="289520">
                <a:moveTo>
                  <a:pt x="144760" y="0"/>
                </a:moveTo>
                <a:lnTo>
                  <a:pt x="291703" y="0"/>
                </a:lnTo>
                <a:arcTo wR="144760" hR="144760" stAng="16200000" swAng="5400000"/>
                <a:lnTo>
                  <a:pt x="436463" y="144760"/>
                </a:lnTo>
                <a:arcTo wR="144760" hR="144760" stAng="0" swAng="5400000"/>
                <a:lnTo>
                  <a:pt x="144760" y="289520"/>
                </a:lnTo>
                <a:arcTo wR="144760" hR="144760" stAng="5400000" swAng="5400000"/>
                <a:lnTo>
                  <a:pt x="0" y="144760"/>
                </a:lnTo>
                <a:arcTo wR="144760" hR="144760" stAng="10800000" swAng="5400000"/>
                <a:close/>
              </a:path>
            </a:pathLst>
          </a:custGeom>
          <a:solidFill>
            <a:srgbClr val="1D3557"/>
          </a:solidFill>
          <a:ln/>
        </p:spPr>
        <p:txBody>
          <a:bodyPr wrap="none" lIns="0" tIns="0" rIns="0" bIns="0" rtlCol="0" anchor="ctr">
            <a:normAutofit/>
          </a:bodyPr>
          <a:lstStyle/>
          <a:p>
            <a:pPr marL="0" indent="0" algn="ctr">
              <a:lnSpc>
                <a:spcPts val="1680"/>
              </a:lnSpc>
              <a:buNone/>
            </a:pPr>
            <a:r>
              <a:rPr lang="en-US" sz="2000" b="1" dirty="0">
                <a:solidFill>
                  <a:srgbClr val="FBFAF6"/>
                </a:solidFill>
                <a:latin typeface="Nunito Sans" pitchFamily="34" charset="0"/>
                <a:ea typeface="Nunito Sans" pitchFamily="34" charset="-122"/>
                <a:cs typeface="Nunito Sans" pitchFamily="34" charset="-120"/>
              </a:rPr>
              <a:t>(3)</a:t>
            </a:r>
            <a:endParaRPr lang="en-US" sz="2000" dirty="0"/>
          </a:p>
        </p:txBody>
      </p:sp>
      <p:sp>
        <p:nvSpPr>
          <p:cNvPr id="19" name="Shape 17"/>
          <p:cNvSpPr/>
          <p:nvPr/>
        </p:nvSpPr>
        <p:spPr>
          <a:xfrm>
            <a:off x="5607893" y="3164681"/>
            <a:ext cx="5771307" cy="871141"/>
          </a:xfrm>
          <a:prstGeom prst="roundRect">
            <a:avLst>
              <a:gd name="adj" fmla="val 14579"/>
            </a:avLst>
          </a:prstGeom>
          <a:solidFill>
            <a:srgbClr val="EEF4F3"/>
          </a:solidFill>
          <a:ln/>
        </p:spPr>
      </p:sp>
      <p:sp>
        <p:nvSpPr>
          <p:cNvPr id="20" name="Text 18"/>
          <p:cNvSpPr/>
          <p:nvPr/>
        </p:nvSpPr>
        <p:spPr>
          <a:xfrm>
            <a:off x="5836493" y="3342481"/>
            <a:ext cx="197346" cy="309860"/>
          </a:xfrm>
          <a:prstGeom prst="rect">
            <a:avLst/>
          </a:prstGeom>
          <a:noFill/>
          <a:ln/>
        </p:spPr>
        <p:txBody>
          <a:bodyPr wrap="square" lIns="0" tIns="0" rIns="0" bIns="0" rtlCol="0" anchor="t">
            <a:normAutofit/>
          </a:bodyPr>
          <a:lstStyle/>
          <a:p>
            <a:pPr marL="0" indent="0" algn="l">
              <a:lnSpc>
                <a:spcPts val="2240"/>
              </a:lnSpc>
              <a:buNone/>
            </a:pPr>
            <a:r>
              <a:rPr lang="en-US" sz="2000" b="1" dirty="0">
                <a:solidFill>
                  <a:srgbClr val="117279"/>
                </a:solidFill>
                <a:latin typeface="Be Vietnam Pro" pitchFamily="34" charset="0"/>
                <a:ea typeface="Be Vietnam Pro" pitchFamily="34" charset="-122"/>
                <a:cs typeface="Be Vietnam Pro" pitchFamily="34" charset="-120"/>
              </a:rPr>
              <a:t>B</a:t>
            </a:r>
            <a:endParaRPr lang="en-US" sz="2000" dirty="0"/>
          </a:p>
        </p:txBody>
      </p:sp>
      <p:sp>
        <p:nvSpPr>
          <p:cNvPr id="21" name="Text 19"/>
          <p:cNvSpPr/>
          <p:nvPr/>
        </p:nvSpPr>
        <p:spPr>
          <a:xfrm>
            <a:off x="6135439" y="3342481"/>
            <a:ext cx="4559086" cy="540941"/>
          </a:xfrm>
          <a:prstGeom prst="rect">
            <a:avLst/>
          </a:prstGeom>
          <a:noFill/>
          <a:ln/>
        </p:spPr>
        <p:txBody>
          <a:bodyPr wrap="square" lIns="0" tIns="0" rIns="0" bIns="0" rtlCol="0" anchor="t">
            <a:noAutofit/>
          </a:bodyPr>
          <a:lstStyle/>
          <a:p>
            <a:pPr marL="0" indent="0" algn="l">
              <a:lnSpc>
                <a:spcPts val="2030"/>
              </a:lnSpc>
              <a:buNone/>
            </a:pPr>
            <a:r>
              <a:rPr lang="en-US" sz="2000" dirty="0">
                <a:solidFill>
                  <a:srgbClr val="2A3646"/>
                </a:solidFill>
                <a:latin typeface="Nunito Sans" pitchFamily="34" charset="0"/>
                <a:ea typeface="Nunito Sans" pitchFamily="34" charset="-122"/>
                <a:cs typeface="Nunito Sans" pitchFamily="34" charset="-120"/>
              </a:rPr>
              <a:t>There will be no private vehicles because people will use public transport.</a:t>
            </a:r>
            <a:endParaRPr lang="en-US" sz="2000" dirty="0"/>
          </a:p>
        </p:txBody>
      </p:sp>
      <p:sp>
        <p:nvSpPr>
          <p:cNvPr id="22" name="Text 20"/>
          <p:cNvSpPr/>
          <p:nvPr/>
        </p:nvSpPr>
        <p:spPr>
          <a:xfrm>
            <a:off x="10714137" y="3342481"/>
            <a:ext cx="436463" cy="289520"/>
          </a:xfrm>
          <a:custGeom>
            <a:avLst/>
            <a:gdLst/>
            <a:ahLst/>
            <a:cxnLst/>
            <a:rect l="l" t="t" r="r" b="b"/>
            <a:pathLst>
              <a:path w="436463" h="289520">
                <a:moveTo>
                  <a:pt x="144760" y="0"/>
                </a:moveTo>
                <a:lnTo>
                  <a:pt x="291703" y="0"/>
                </a:lnTo>
                <a:arcTo wR="144760" hR="144760" stAng="16200000" swAng="5400000"/>
                <a:lnTo>
                  <a:pt x="436463" y="144760"/>
                </a:lnTo>
                <a:arcTo wR="144760" hR="144760" stAng="0" swAng="5400000"/>
                <a:lnTo>
                  <a:pt x="144760" y="289520"/>
                </a:lnTo>
                <a:arcTo wR="144760" hR="144760" stAng="5400000" swAng="5400000"/>
                <a:lnTo>
                  <a:pt x="0" y="144760"/>
                </a:lnTo>
                <a:arcTo wR="144760" hR="144760" stAng="10800000" swAng="5400000"/>
                <a:close/>
              </a:path>
            </a:pathLst>
          </a:custGeom>
          <a:solidFill>
            <a:srgbClr val="1D3557"/>
          </a:solidFill>
          <a:ln/>
        </p:spPr>
        <p:txBody>
          <a:bodyPr wrap="none" lIns="0" tIns="0" rIns="0" bIns="0" rtlCol="0" anchor="ctr">
            <a:normAutofit/>
          </a:bodyPr>
          <a:lstStyle/>
          <a:p>
            <a:pPr marL="0" indent="0" algn="ctr">
              <a:lnSpc>
                <a:spcPts val="1680"/>
              </a:lnSpc>
              <a:buNone/>
            </a:pPr>
            <a:r>
              <a:rPr lang="en-US" sz="2000" b="1" dirty="0">
                <a:solidFill>
                  <a:srgbClr val="FBFAF6"/>
                </a:solidFill>
                <a:latin typeface="Nunito Sans" pitchFamily="34" charset="0"/>
                <a:ea typeface="Nunito Sans" pitchFamily="34" charset="-122"/>
                <a:cs typeface="Nunito Sans" pitchFamily="34" charset="-120"/>
              </a:rPr>
              <a:t>(1)</a:t>
            </a:r>
            <a:endParaRPr lang="en-US" sz="2000" dirty="0"/>
          </a:p>
        </p:txBody>
      </p:sp>
      <p:sp>
        <p:nvSpPr>
          <p:cNvPr id="23" name="Shape 21"/>
          <p:cNvSpPr/>
          <p:nvPr/>
        </p:nvSpPr>
        <p:spPr>
          <a:xfrm>
            <a:off x="5607893" y="4188222"/>
            <a:ext cx="5771307" cy="871141"/>
          </a:xfrm>
          <a:prstGeom prst="roundRect">
            <a:avLst>
              <a:gd name="adj" fmla="val 14579"/>
            </a:avLst>
          </a:prstGeom>
          <a:solidFill>
            <a:srgbClr val="EEF4F3"/>
          </a:solidFill>
          <a:ln/>
        </p:spPr>
      </p:sp>
      <p:sp>
        <p:nvSpPr>
          <p:cNvPr id="24" name="Text 22"/>
          <p:cNvSpPr/>
          <p:nvPr/>
        </p:nvSpPr>
        <p:spPr>
          <a:xfrm>
            <a:off x="5836493" y="4366022"/>
            <a:ext cx="209500" cy="309860"/>
          </a:xfrm>
          <a:prstGeom prst="rect">
            <a:avLst/>
          </a:prstGeom>
          <a:noFill/>
          <a:ln/>
        </p:spPr>
        <p:txBody>
          <a:bodyPr wrap="square" lIns="0" tIns="0" rIns="0" bIns="0" rtlCol="0" anchor="t">
            <a:normAutofit/>
          </a:bodyPr>
          <a:lstStyle/>
          <a:p>
            <a:pPr marL="0" indent="0" algn="l">
              <a:lnSpc>
                <a:spcPts val="2240"/>
              </a:lnSpc>
              <a:buNone/>
            </a:pPr>
            <a:r>
              <a:rPr lang="en-US" sz="2000" b="1" dirty="0">
                <a:solidFill>
                  <a:srgbClr val="117279"/>
                </a:solidFill>
                <a:latin typeface="Be Vietnam Pro" pitchFamily="34" charset="0"/>
                <a:ea typeface="Be Vietnam Pro" pitchFamily="34" charset="-122"/>
                <a:cs typeface="Be Vietnam Pro" pitchFamily="34" charset="-120"/>
              </a:rPr>
              <a:t>C</a:t>
            </a:r>
            <a:endParaRPr lang="en-US" sz="2000" dirty="0"/>
          </a:p>
        </p:txBody>
      </p:sp>
      <p:sp>
        <p:nvSpPr>
          <p:cNvPr id="25" name="Text 23"/>
          <p:cNvSpPr/>
          <p:nvPr/>
        </p:nvSpPr>
        <p:spPr>
          <a:xfrm>
            <a:off x="6147594" y="4366022"/>
            <a:ext cx="4546567" cy="540941"/>
          </a:xfrm>
          <a:prstGeom prst="rect">
            <a:avLst/>
          </a:prstGeom>
          <a:noFill/>
          <a:ln/>
        </p:spPr>
        <p:txBody>
          <a:bodyPr wrap="square" lIns="0" tIns="0" rIns="0" bIns="0" rtlCol="0" anchor="t">
            <a:noAutofit/>
          </a:bodyPr>
          <a:lstStyle/>
          <a:p>
            <a:pPr marL="0" indent="0" algn="l">
              <a:lnSpc>
                <a:spcPts val="2030"/>
              </a:lnSpc>
              <a:buNone/>
            </a:pPr>
            <a:r>
              <a:rPr lang="en-US" sz="2000" dirty="0">
                <a:solidFill>
                  <a:srgbClr val="2A3646"/>
                </a:solidFill>
                <a:latin typeface="Nunito Sans" pitchFamily="34" charset="0"/>
                <a:ea typeface="Nunito Sans" pitchFamily="34" charset="-122"/>
                <a:cs typeface="Nunito Sans" pitchFamily="34" charset="-120"/>
              </a:rPr>
              <a:t>Green skyscrapers will replace old blocks of flats and offices in crowded urban centres.</a:t>
            </a:r>
            <a:endParaRPr lang="en-US" sz="2000" dirty="0"/>
          </a:p>
        </p:txBody>
      </p:sp>
      <p:sp>
        <p:nvSpPr>
          <p:cNvPr id="26" name="Text 24"/>
          <p:cNvSpPr/>
          <p:nvPr/>
        </p:nvSpPr>
        <p:spPr>
          <a:xfrm>
            <a:off x="10714137" y="4366022"/>
            <a:ext cx="436463" cy="289520"/>
          </a:xfrm>
          <a:custGeom>
            <a:avLst/>
            <a:gdLst/>
            <a:ahLst/>
            <a:cxnLst/>
            <a:rect l="l" t="t" r="r" b="b"/>
            <a:pathLst>
              <a:path w="436463" h="289520">
                <a:moveTo>
                  <a:pt x="144760" y="0"/>
                </a:moveTo>
                <a:lnTo>
                  <a:pt x="291703" y="0"/>
                </a:lnTo>
                <a:arcTo wR="144760" hR="144760" stAng="16200000" swAng="5400000"/>
                <a:lnTo>
                  <a:pt x="436463" y="144760"/>
                </a:lnTo>
                <a:arcTo wR="144760" hR="144760" stAng="0" swAng="5400000"/>
                <a:lnTo>
                  <a:pt x="144760" y="289520"/>
                </a:lnTo>
                <a:arcTo wR="144760" hR="144760" stAng="5400000" swAng="5400000"/>
                <a:lnTo>
                  <a:pt x="0" y="144760"/>
                </a:lnTo>
                <a:arcTo wR="144760" hR="144760" stAng="10800000" swAng="5400000"/>
                <a:close/>
              </a:path>
            </a:pathLst>
          </a:custGeom>
          <a:solidFill>
            <a:srgbClr val="1D3557"/>
          </a:solidFill>
          <a:ln/>
        </p:spPr>
        <p:txBody>
          <a:bodyPr wrap="none" lIns="0" tIns="0" rIns="0" bIns="0" rtlCol="0" anchor="ctr">
            <a:normAutofit/>
          </a:bodyPr>
          <a:lstStyle/>
          <a:p>
            <a:pPr marL="0" indent="0" algn="ctr">
              <a:lnSpc>
                <a:spcPts val="1680"/>
              </a:lnSpc>
              <a:buNone/>
            </a:pPr>
            <a:r>
              <a:rPr lang="en-US" sz="2000" b="1" dirty="0">
                <a:solidFill>
                  <a:srgbClr val="FBFAF6"/>
                </a:solidFill>
                <a:latin typeface="Nunito Sans" pitchFamily="34" charset="0"/>
                <a:ea typeface="Nunito Sans" pitchFamily="34" charset="-122"/>
                <a:cs typeface="Nunito Sans" pitchFamily="34" charset="-120"/>
              </a:rPr>
              <a:t>(2)</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AF6"/>
        </a:solidFill>
        <a:effectLst/>
      </p:bgPr>
    </p:bg>
    <p:spTree>
      <p:nvGrpSpPr>
        <p:cNvPr id="1" name=""/>
        <p:cNvGrpSpPr/>
        <p:nvPr/>
      </p:nvGrpSpPr>
      <p:grpSpPr>
        <a:xfrm>
          <a:off x="0" y="0"/>
          <a:ext cx="0" cy="0"/>
          <a:chOff x="0" y="0"/>
          <a:chExt cx="0" cy="0"/>
        </a:xfrm>
      </p:grpSpPr>
      <p:sp>
        <p:nvSpPr>
          <p:cNvPr id="2" name="Text 0"/>
          <p:cNvSpPr/>
          <p:nvPr/>
        </p:nvSpPr>
        <p:spPr>
          <a:xfrm>
            <a:off x="812800" y="762000"/>
            <a:ext cx="10883392" cy="238720"/>
          </a:xfrm>
          <a:prstGeom prst="rect">
            <a:avLst/>
          </a:prstGeom>
          <a:noFill/>
          <a:ln/>
        </p:spPr>
        <p:txBody>
          <a:bodyPr wrap="square" lIns="0" tIns="0" rIns="0" bIns="0" rtlCol="0" anchor="t">
            <a:normAutofit/>
          </a:bodyPr>
          <a:lstStyle/>
          <a:p>
            <a:pPr marL="0" indent="0" algn="l">
              <a:lnSpc>
                <a:spcPts val="1680"/>
              </a:lnSpc>
              <a:buNone/>
            </a:pPr>
            <a:r>
              <a:rPr lang="en-US" sz="2000" b="1" kern="0" spc="150" dirty="0">
                <a:solidFill>
                  <a:srgbClr val="117279"/>
                </a:solidFill>
                <a:latin typeface="Nunito Sans" pitchFamily="34" charset="0"/>
                <a:ea typeface="Nunito Sans" pitchFamily="34" charset="-122"/>
                <a:cs typeface="Nunito Sans" pitchFamily="34" charset="-120"/>
              </a:rPr>
              <a:t>TASK 2 • PAIR WORK</a:t>
            </a:r>
            <a:endParaRPr lang="en-US" sz="2000" dirty="0"/>
          </a:p>
        </p:txBody>
      </p:sp>
      <p:sp>
        <p:nvSpPr>
          <p:cNvPr id="3" name="Text 1"/>
          <p:cNvSpPr>
            <a:spLocks noGrp="1"/>
          </p:cNvSpPr>
          <p:nvPr>
            <p:ph type="title"/>
          </p:nvPr>
        </p:nvSpPr>
        <p:spPr>
          <a:xfrm>
            <a:off x="812800" y="1051520"/>
            <a:ext cx="10883392" cy="444500"/>
          </a:xfrm>
          <a:prstGeom prst="rect">
            <a:avLst/>
          </a:prstGeom>
          <a:noFill/>
          <a:ln/>
        </p:spPr>
        <p:txBody>
          <a:bodyPr wrap="square" lIns="0" tIns="0" rIns="0" bIns="0" rtlCol="0" anchor="t">
            <a:normAutofit/>
          </a:bodyPr>
          <a:lstStyle/>
          <a:p>
            <a:pPr marL="0" indent="0" algn="l">
              <a:lnSpc>
                <a:spcPts val="3300"/>
              </a:lnSpc>
              <a:buNone/>
            </a:pPr>
            <a:r>
              <a:rPr lang="en-US" sz="2000" b="1" i="0" dirty="0">
                <a:solidFill>
                  <a:srgbClr val="1D3557"/>
                </a:solidFill>
                <a:latin typeface="Be Vietnam Pro" pitchFamily="34" charset="0"/>
                <a:ea typeface="Be Vietnam Pro" pitchFamily="34" charset="-122"/>
                <a:cs typeface="Be Vietnam Pro" pitchFamily="34" charset="-120"/>
              </a:rPr>
              <a:t>Match the questions with the answers</a:t>
            </a:r>
            <a:endParaRPr lang="en-US" sz="2000" dirty="0"/>
          </a:p>
        </p:txBody>
      </p:sp>
      <p:sp>
        <p:nvSpPr>
          <p:cNvPr id="4" name="Text 2"/>
          <p:cNvSpPr/>
          <p:nvPr/>
        </p:nvSpPr>
        <p:spPr>
          <a:xfrm>
            <a:off x="812800" y="1775420"/>
            <a:ext cx="5284724" cy="238720"/>
          </a:xfrm>
          <a:prstGeom prst="rect">
            <a:avLst/>
          </a:prstGeom>
          <a:noFill/>
          <a:ln/>
        </p:spPr>
        <p:txBody>
          <a:bodyPr wrap="square" lIns="0" tIns="0" rIns="0" bIns="0" rtlCol="0" anchor="t">
            <a:normAutofit/>
          </a:bodyPr>
          <a:lstStyle/>
          <a:p>
            <a:pPr marL="0" indent="0" algn="l">
              <a:lnSpc>
                <a:spcPts val="1680"/>
              </a:lnSpc>
              <a:buNone/>
            </a:pPr>
            <a:r>
              <a:rPr lang="en-US" sz="2000" b="1" kern="0" spc="150" dirty="0">
                <a:solidFill>
                  <a:srgbClr val="5D6877"/>
                </a:solidFill>
                <a:latin typeface="Nunito Sans" pitchFamily="34" charset="0"/>
                <a:ea typeface="Nunito Sans" pitchFamily="34" charset="-122"/>
                <a:cs typeface="Nunito Sans" pitchFamily="34" charset="-120"/>
              </a:rPr>
              <a:t>QUESTIONS</a:t>
            </a:r>
            <a:endParaRPr lang="en-US" sz="2000" dirty="0"/>
          </a:p>
        </p:txBody>
      </p:sp>
      <p:sp>
        <p:nvSpPr>
          <p:cNvPr id="5" name="Shape 3"/>
          <p:cNvSpPr/>
          <p:nvPr/>
        </p:nvSpPr>
        <p:spPr>
          <a:xfrm>
            <a:off x="819150" y="2147491"/>
            <a:ext cx="5118100" cy="883841"/>
          </a:xfrm>
          <a:prstGeom prst="roundRect">
            <a:avLst>
              <a:gd name="adj" fmla="val 13651"/>
            </a:avLst>
          </a:prstGeom>
          <a:solidFill>
            <a:srgbClr val="FFFEFB"/>
          </a:solidFill>
          <a:ln w="12700">
            <a:solidFill>
              <a:srgbClr val="DCE5E8"/>
            </a:solidFill>
            <a:prstDash val="solid"/>
          </a:ln>
        </p:spPr>
      </p:sp>
      <p:sp>
        <p:nvSpPr>
          <p:cNvPr id="6" name="Text 4"/>
          <p:cNvSpPr/>
          <p:nvPr/>
        </p:nvSpPr>
        <p:spPr>
          <a:xfrm>
            <a:off x="1054100" y="2331641"/>
            <a:ext cx="127546" cy="309860"/>
          </a:xfrm>
          <a:prstGeom prst="rect">
            <a:avLst/>
          </a:prstGeom>
          <a:noFill/>
          <a:ln/>
        </p:spPr>
        <p:txBody>
          <a:bodyPr wrap="square" lIns="0" tIns="0" rIns="0" bIns="0" rtlCol="0" anchor="t">
            <a:normAutofit/>
          </a:bodyPr>
          <a:lstStyle/>
          <a:p>
            <a:pPr marL="0" indent="0" algn="l">
              <a:lnSpc>
                <a:spcPts val="2240"/>
              </a:lnSpc>
              <a:buNone/>
            </a:pPr>
            <a:r>
              <a:rPr lang="en-US" sz="2000" b="1" dirty="0">
                <a:solidFill>
                  <a:srgbClr val="B4500F"/>
                </a:solidFill>
                <a:latin typeface="Be Vietnam Pro" pitchFamily="34" charset="0"/>
                <a:ea typeface="Be Vietnam Pro" pitchFamily="34" charset="-122"/>
                <a:cs typeface="Be Vietnam Pro" pitchFamily="34" charset="-120"/>
              </a:rPr>
              <a:t>1</a:t>
            </a:r>
            <a:endParaRPr lang="en-US" sz="2000" dirty="0"/>
          </a:p>
        </p:txBody>
      </p:sp>
      <p:sp>
        <p:nvSpPr>
          <p:cNvPr id="7" name="Text 5"/>
          <p:cNvSpPr/>
          <p:nvPr/>
        </p:nvSpPr>
        <p:spPr>
          <a:xfrm>
            <a:off x="1283246" y="2331641"/>
            <a:ext cx="4551626" cy="540941"/>
          </a:xfrm>
          <a:prstGeom prst="rect">
            <a:avLst/>
          </a:prstGeom>
          <a:noFill/>
          <a:ln/>
        </p:spPr>
        <p:txBody>
          <a:bodyPr wrap="square" lIns="0" tIns="0" rIns="0" bIns="0" rtlCol="0" anchor="t">
            <a:normAutofit/>
          </a:bodyPr>
          <a:lstStyle/>
          <a:p>
            <a:pPr marL="0" indent="0" algn="l">
              <a:lnSpc>
                <a:spcPts val="2030"/>
              </a:lnSpc>
              <a:buNone/>
            </a:pPr>
            <a:r>
              <a:rPr lang="en-US" sz="2000" dirty="0">
                <a:solidFill>
                  <a:srgbClr val="2A3646"/>
                </a:solidFill>
                <a:latin typeface="Nunito Sans" pitchFamily="34" charset="0"/>
                <a:ea typeface="Nunito Sans" pitchFamily="34" charset="-122"/>
                <a:cs typeface="Nunito Sans" pitchFamily="34" charset="-120"/>
              </a:rPr>
              <a:t>What do you think transport will be like in the cities of the future?</a:t>
            </a:r>
            <a:endParaRPr lang="en-US" sz="2000" dirty="0"/>
          </a:p>
        </p:txBody>
      </p:sp>
      <p:sp>
        <p:nvSpPr>
          <p:cNvPr id="8" name="Shape 6"/>
          <p:cNvSpPr/>
          <p:nvPr/>
        </p:nvSpPr>
        <p:spPr>
          <a:xfrm>
            <a:off x="819150" y="3196431"/>
            <a:ext cx="5118100" cy="652760"/>
          </a:xfrm>
          <a:prstGeom prst="roundRect">
            <a:avLst>
              <a:gd name="adj" fmla="val 18483"/>
            </a:avLst>
          </a:prstGeom>
          <a:solidFill>
            <a:srgbClr val="FFFEFB"/>
          </a:solidFill>
          <a:ln w="12700">
            <a:solidFill>
              <a:srgbClr val="DCE5E8"/>
            </a:solidFill>
            <a:prstDash val="solid"/>
          </a:ln>
        </p:spPr>
      </p:sp>
      <p:sp>
        <p:nvSpPr>
          <p:cNvPr id="9" name="Text 7"/>
          <p:cNvSpPr/>
          <p:nvPr/>
        </p:nvSpPr>
        <p:spPr>
          <a:xfrm>
            <a:off x="1054100" y="3380581"/>
            <a:ext cx="186779" cy="309860"/>
          </a:xfrm>
          <a:prstGeom prst="rect">
            <a:avLst/>
          </a:prstGeom>
          <a:noFill/>
          <a:ln/>
        </p:spPr>
        <p:txBody>
          <a:bodyPr wrap="square" lIns="0" tIns="0" rIns="0" bIns="0" rtlCol="0" anchor="t">
            <a:normAutofit/>
          </a:bodyPr>
          <a:lstStyle/>
          <a:p>
            <a:pPr marL="0" indent="0" algn="l">
              <a:lnSpc>
                <a:spcPts val="2240"/>
              </a:lnSpc>
              <a:buNone/>
            </a:pPr>
            <a:r>
              <a:rPr lang="en-US" sz="2000" b="1" dirty="0">
                <a:solidFill>
                  <a:srgbClr val="B4500F"/>
                </a:solidFill>
                <a:latin typeface="Be Vietnam Pro" pitchFamily="34" charset="0"/>
                <a:ea typeface="Be Vietnam Pro" pitchFamily="34" charset="-122"/>
                <a:cs typeface="Be Vietnam Pro" pitchFamily="34" charset="-120"/>
              </a:rPr>
              <a:t>2</a:t>
            </a:r>
            <a:endParaRPr lang="en-US" sz="2000" dirty="0"/>
          </a:p>
        </p:txBody>
      </p:sp>
      <p:sp>
        <p:nvSpPr>
          <p:cNvPr id="10" name="Text 8"/>
          <p:cNvSpPr/>
          <p:nvPr/>
        </p:nvSpPr>
        <p:spPr>
          <a:xfrm>
            <a:off x="1342479" y="3380581"/>
            <a:ext cx="3558600" cy="283170"/>
          </a:xfrm>
          <a:prstGeom prst="rect">
            <a:avLst/>
          </a:prstGeom>
          <a:noFill/>
          <a:ln/>
        </p:spPr>
        <p:txBody>
          <a:bodyPr wrap="square" lIns="0" tIns="0" rIns="0" bIns="0" rtlCol="0" anchor="t">
            <a:noAutofit/>
          </a:bodyPr>
          <a:lstStyle/>
          <a:p>
            <a:pPr marL="0" indent="0" algn="l">
              <a:lnSpc>
                <a:spcPts val="2030"/>
              </a:lnSpc>
              <a:buNone/>
            </a:pPr>
            <a:r>
              <a:rPr lang="en-US" sz="2000" dirty="0">
                <a:solidFill>
                  <a:srgbClr val="2A3646"/>
                </a:solidFill>
                <a:latin typeface="Nunito Sans" pitchFamily="34" charset="0"/>
                <a:ea typeface="Nunito Sans" pitchFamily="34" charset="-122"/>
                <a:cs typeface="Nunito Sans" pitchFamily="34" charset="-120"/>
              </a:rPr>
              <a:t>So, how will people travel in the city?</a:t>
            </a:r>
            <a:endParaRPr lang="en-US" sz="2000" dirty="0"/>
          </a:p>
        </p:txBody>
      </p:sp>
      <p:sp>
        <p:nvSpPr>
          <p:cNvPr id="11" name="Shape 9"/>
          <p:cNvSpPr/>
          <p:nvPr/>
        </p:nvSpPr>
        <p:spPr>
          <a:xfrm>
            <a:off x="819150" y="4014291"/>
            <a:ext cx="5118100" cy="883841"/>
          </a:xfrm>
          <a:prstGeom prst="roundRect">
            <a:avLst>
              <a:gd name="adj" fmla="val 13651"/>
            </a:avLst>
          </a:prstGeom>
          <a:solidFill>
            <a:srgbClr val="FFFEFB"/>
          </a:solidFill>
          <a:ln w="12700">
            <a:solidFill>
              <a:srgbClr val="DCE5E8"/>
            </a:solidFill>
            <a:prstDash val="solid"/>
          </a:ln>
        </p:spPr>
      </p:sp>
      <p:sp>
        <p:nvSpPr>
          <p:cNvPr id="12" name="Text 10"/>
          <p:cNvSpPr/>
          <p:nvPr/>
        </p:nvSpPr>
        <p:spPr>
          <a:xfrm>
            <a:off x="1054100" y="4198441"/>
            <a:ext cx="150862" cy="309860"/>
          </a:xfrm>
          <a:prstGeom prst="rect">
            <a:avLst/>
          </a:prstGeom>
          <a:noFill/>
          <a:ln/>
        </p:spPr>
        <p:txBody>
          <a:bodyPr wrap="square" lIns="0" tIns="0" rIns="0" bIns="0" rtlCol="0" anchor="t">
            <a:normAutofit/>
          </a:bodyPr>
          <a:lstStyle/>
          <a:p>
            <a:pPr marL="0" indent="0" algn="l">
              <a:lnSpc>
                <a:spcPts val="2240"/>
              </a:lnSpc>
              <a:buNone/>
            </a:pPr>
            <a:r>
              <a:rPr lang="en-US" sz="2000" b="1" dirty="0">
                <a:solidFill>
                  <a:srgbClr val="B4500F"/>
                </a:solidFill>
                <a:latin typeface="Be Vietnam Pro" pitchFamily="34" charset="0"/>
                <a:ea typeface="Be Vietnam Pro" pitchFamily="34" charset="-122"/>
                <a:cs typeface="Be Vietnam Pro" pitchFamily="34" charset="-120"/>
              </a:rPr>
              <a:t>3</a:t>
            </a:r>
            <a:endParaRPr lang="en-US" sz="2000" dirty="0"/>
          </a:p>
        </p:txBody>
      </p:sp>
      <p:sp>
        <p:nvSpPr>
          <p:cNvPr id="13" name="Text 11"/>
          <p:cNvSpPr/>
          <p:nvPr/>
        </p:nvSpPr>
        <p:spPr>
          <a:xfrm>
            <a:off x="1306562" y="4198441"/>
            <a:ext cx="4527610" cy="540941"/>
          </a:xfrm>
          <a:prstGeom prst="rect">
            <a:avLst/>
          </a:prstGeom>
          <a:noFill/>
          <a:ln/>
        </p:spPr>
        <p:txBody>
          <a:bodyPr wrap="square" lIns="0" tIns="0" rIns="0" bIns="0" rtlCol="0" anchor="t">
            <a:noAutofit/>
          </a:bodyPr>
          <a:lstStyle/>
          <a:p>
            <a:pPr marL="0" indent="0" algn="l">
              <a:lnSpc>
                <a:spcPts val="2030"/>
              </a:lnSpc>
              <a:buNone/>
            </a:pPr>
            <a:r>
              <a:rPr lang="en-US" sz="2000" dirty="0">
                <a:solidFill>
                  <a:srgbClr val="2A3646"/>
                </a:solidFill>
                <a:latin typeface="Nunito Sans" pitchFamily="34" charset="0"/>
                <a:ea typeface="Nunito Sans" pitchFamily="34" charset="-122"/>
                <a:cs typeface="Nunito Sans" pitchFamily="34" charset="-120"/>
              </a:rPr>
              <a:t>Really? Why do you think public transport will be popular with city dwellers?</a:t>
            </a:r>
            <a:endParaRPr lang="en-US" sz="2000" dirty="0"/>
          </a:p>
        </p:txBody>
      </p:sp>
      <p:sp>
        <p:nvSpPr>
          <p:cNvPr id="14" name="Text 12"/>
          <p:cNvSpPr/>
          <p:nvPr/>
        </p:nvSpPr>
        <p:spPr>
          <a:xfrm>
            <a:off x="6248400" y="1775420"/>
            <a:ext cx="5284724" cy="238720"/>
          </a:xfrm>
          <a:prstGeom prst="rect">
            <a:avLst/>
          </a:prstGeom>
          <a:noFill/>
          <a:ln/>
        </p:spPr>
        <p:txBody>
          <a:bodyPr wrap="square" lIns="0" tIns="0" rIns="0" bIns="0" rtlCol="0" anchor="t">
            <a:normAutofit/>
          </a:bodyPr>
          <a:lstStyle/>
          <a:p>
            <a:pPr marL="0" indent="0" algn="l">
              <a:lnSpc>
                <a:spcPts val="1680"/>
              </a:lnSpc>
              <a:buNone/>
            </a:pPr>
            <a:r>
              <a:rPr lang="en-US" sz="2000" b="1" kern="0" spc="150" dirty="0">
                <a:solidFill>
                  <a:srgbClr val="5D6877"/>
                </a:solidFill>
                <a:latin typeface="Nunito Sans" pitchFamily="34" charset="0"/>
                <a:ea typeface="Nunito Sans" pitchFamily="34" charset="-122"/>
                <a:cs typeface="Nunito Sans" pitchFamily="34" charset="-120"/>
              </a:rPr>
              <a:t>ANSWERS</a:t>
            </a:r>
            <a:endParaRPr lang="en-US" sz="2000" dirty="0"/>
          </a:p>
        </p:txBody>
      </p:sp>
      <p:sp>
        <p:nvSpPr>
          <p:cNvPr id="15" name="Shape 13"/>
          <p:cNvSpPr/>
          <p:nvPr/>
        </p:nvSpPr>
        <p:spPr>
          <a:xfrm>
            <a:off x="6248400" y="2141141"/>
            <a:ext cx="5130800" cy="871141"/>
          </a:xfrm>
          <a:prstGeom prst="roundRect">
            <a:avLst>
              <a:gd name="adj" fmla="val 14579"/>
            </a:avLst>
          </a:prstGeom>
          <a:solidFill>
            <a:srgbClr val="EEF4F3"/>
          </a:solidFill>
          <a:ln/>
        </p:spPr>
      </p:sp>
      <p:sp>
        <p:nvSpPr>
          <p:cNvPr id="16" name="Text 14"/>
          <p:cNvSpPr/>
          <p:nvPr/>
        </p:nvSpPr>
        <p:spPr>
          <a:xfrm>
            <a:off x="6477000" y="2318941"/>
            <a:ext cx="175964" cy="309860"/>
          </a:xfrm>
          <a:prstGeom prst="rect">
            <a:avLst/>
          </a:prstGeom>
          <a:noFill/>
          <a:ln/>
        </p:spPr>
        <p:txBody>
          <a:bodyPr wrap="square" lIns="0" tIns="0" rIns="0" bIns="0" rtlCol="0" anchor="t">
            <a:normAutofit/>
          </a:bodyPr>
          <a:lstStyle/>
          <a:p>
            <a:pPr marL="0" indent="0" algn="l">
              <a:lnSpc>
                <a:spcPts val="2240"/>
              </a:lnSpc>
              <a:buNone/>
            </a:pPr>
            <a:r>
              <a:rPr lang="en-US" sz="2000" b="1" dirty="0">
                <a:solidFill>
                  <a:srgbClr val="117279"/>
                </a:solidFill>
                <a:latin typeface="Be Vietnam Pro" pitchFamily="34" charset="0"/>
                <a:ea typeface="Be Vietnam Pro" pitchFamily="34" charset="-122"/>
                <a:cs typeface="Be Vietnam Pro" pitchFamily="34" charset="-120"/>
              </a:rPr>
              <a:t>a</a:t>
            </a:r>
            <a:endParaRPr lang="en-US" sz="2000" dirty="0"/>
          </a:p>
        </p:txBody>
      </p:sp>
      <p:sp>
        <p:nvSpPr>
          <p:cNvPr id="17" name="Text 15"/>
          <p:cNvSpPr/>
          <p:nvPr/>
        </p:nvSpPr>
        <p:spPr>
          <a:xfrm>
            <a:off x="6754564" y="2318941"/>
            <a:ext cx="4527917" cy="540941"/>
          </a:xfrm>
          <a:prstGeom prst="rect">
            <a:avLst/>
          </a:prstGeom>
          <a:noFill/>
          <a:ln/>
        </p:spPr>
        <p:txBody>
          <a:bodyPr wrap="square" lIns="0" tIns="0" rIns="0" bIns="0" rtlCol="0" anchor="t">
            <a:normAutofit/>
          </a:bodyPr>
          <a:lstStyle/>
          <a:p>
            <a:pPr marL="0" indent="0" algn="l">
              <a:lnSpc>
                <a:spcPts val="2030"/>
              </a:lnSpc>
              <a:buNone/>
            </a:pPr>
            <a:r>
              <a:rPr lang="en-US" sz="2000" dirty="0">
                <a:solidFill>
                  <a:srgbClr val="2A3646"/>
                </a:solidFill>
                <a:latin typeface="Nunito Sans" pitchFamily="34" charset="0"/>
                <a:ea typeface="Nunito Sans" pitchFamily="34" charset="-122"/>
                <a:cs typeface="Nunito Sans" pitchFamily="34" charset="-120"/>
              </a:rPr>
              <a:t>They will use public transport instead of their own vehicles.</a:t>
            </a:r>
            <a:endParaRPr lang="en-US" sz="2000" dirty="0"/>
          </a:p>
        </p:txBody>
      </p:sp>
      <p:sp>
        <p:nvSpPr>
          <p:cNvPr id="18" name="Shape 16"/>
          <p:cNvSpPr/>
          <p:nvPr/>
        </p:nvSpPr>
        <p:spPr>
          <a:xfrm>
            <a:off x="6248400" y="3164681"/>
            <a:ext cx="5130800" cy="871141"/>
          </a:xfrm>
          <a:prstGeom prst="roundRect">
            <a:avLst>
              <a:gd name="adj" fmla="val 14579"/>
            </a:avLst>
          </a:prstGeom>
          <a:solidFill>
            <a:srgbClr val="EEF4F3"/>
          </a:solidFill>
          <a:ln/>
        </p:spPr>
      </p:sp>
      <p:sp>
        <p:nvSpPr>
          <p:cNvPr id="19" name="Text 17"/>
          <p:cNvSpPr/>
          <p:nvPr/>
        </p:nvSpPr>
        <p:spPr>
          <a:xfrm>
            <a:off x="6477000" y="3342481"/>
            <a:ext cx="131663" cy="309860"/>
          </a:xfrm>
          <a:prstGeom prst="rect">
            <a:avLst/>
          </a:prstGeom>
          <a:noFill/>
          <a:ln/>
        </p:spPr>
        <p:txBody>
          <a:bodyPr wrap="square" lIns="0" tIns="0" rIns="0" bIns="0" rtlCol="0" anchor="t">
            <a:normAutofit/>
          </a:bodyPr>
          <a:lstStyle/>
          <a:p>
            <a:pPr marL="0" indent="0" algn="l">
              <a:lnSpc>
                <a:spcPts val="2240"/>
              </a:lnSpc>
              <a:buNone/>
            </a:pPr>
            <a:r>
              <a:rPr lang="en-US" sz="2000" b="1" dirty="0">
                <a:solidFill>
                  <a:srgbClr val="117279"/>
                </a:solidFill>
                <a:latin typeface="Be Vietnam Pro" pitchFamily="34" charset="0"/>
                <a:ea typeface="Be Vietnam Pro" pitchFamily="34" charset="-122"/>
                <a:cs typeface="Be Vietnam Pro" pitchFamily="34" charset="-120"/>
              </a:rPr>
              <a:t>b</a:t>
            </a:r>
            <a:endParaRPr lang="en-US" sz="2000" dirty="0"/>
          </a:p>
        </p:txBody>
      </p:sp>
      <p:sp>
        <p:nvSpPr>
          <p:cNvPr id="20" name="Text 18"/>
          <p:cNvSpPr/>
          <p:nvPr/>
        </p:nvSpPr>
        <p:spPr>
          <a:xfrm>
            <a:off x="6710263" y="3342481"/>
            <a:ext cx="4573547" cy="540941"/>
          </a:xfrm>
          <a:prstGeom prst="rect">
            <a:avLst/>
          </a:prstGeom>
          <a:noFill/>
          <a:ln/>
        </p:spPr>
        <p:txBody>
          <a:bodyPr wrap="square" lIns="0" tIns="0" rIns="0" bIns="0" rtlCol="0" anchor="t">
            <a:noAutofit/>
          </a:bodyPr>
          <a:lstStyle/>
          <a:p>
            <a:pPr marL="0" indent="0" algn="l">
              <a:lnSpc>
                <a:spcPts val="2030"/>
              </a:lnSpc>
              <a:buNone/>
            </a:pPr>
            <a:r>
              <a:rPr lang="en-US" sz="2000" dirty="0">
                <a:solidFill>
                  <a:srgbClr val="2A3646"/>
                </a:solidFill>
                <a:latin typeface="Nunito Sans" pitchFamily="34" charset="0"/>
                <a:ea typeface="Nunito Sans" pitchFamily="34" charset="-122"/>
                <a:cs typeface="Nunito Sans" pitchFamily="34" charset="-120"/>
              </a:rPr>
              <a:t>Because technology will make public transport faster, more convenient, and more eco-friendly.</a:t>
            </a:r>
            <a:endParaRPr lang="en-US" sz="2000" dirty="0"/>
          </a:p>
        </p:txBody>
      </p:sp>
      <p:sp>
        <p:nvSpPr>
          <p:cNvPr id="21" name="Shape 19"/>
          <p:cNvSpPr/>
          <p:nvPr/>
        </p:nvSpPr>
        <p:spPr>
          <a:xfrm>
            <a:off x="6248400" y="4188222"/>
            <a:ext cx="5130800" cy="871141"/>
          </a:xfrm>
          <a:prstGeom prst="roundRect">
            <a:avLst>
              <a:gd name="adj" fmla="val 14579"/>
            </a:avLst>
          </a:prstGeom>
          <a:solidFill>
            <a:srgbClr val="EEF4F3"/>
          </a:solidFill>
          <a:ln/>
        </p:spPr>
      </p:sp>
      <p:sp>
        <p:nvSpPr>
          <p:cNvPr id="22" name="Text 20"/>
          <p:cNvSpPr/>
          <p:nvPr/>
        </p:nvSpPr>
        <p:spPr>
          <a:xfrm>
            <a:off x="6477000" y="4366022"/>
            <a:ext cx="176411" cy="309860"/>
          </a:xfrm>
          <a:prstGeom prst="rect">
            <a:avLst/>
          </a:prstGeom>
          <a:noFill/>
          <a:ln/>
        </p:spPr>
        <p:txBody>
          <a:bodyPr wrap="square" lIns="0" tIns="0" rIns="0" bIns="0" rtlCol="0" anchor="t">
            <a:normAutofit/>
          </a:bodyPr>
          <a:lstStyle/>
          <a:p>
            <a:pPr marL="0" indent="0" algn="l">
              <a:lnSpc>
                <a:spcPts val="2240"/>
              </a:lnSpc>
              <a:buNone/>
            </a:pPr>
            <a:r>
              <a:rPr lang="en-US" sz="2000" b="1" dirty="0">
                <a:solidFill>
                  <a:srgbClr val="117279"/>
                </a:solidFill>
                <a:latin typeface="Be Vietnam Pro" pitchFamily="34" charset="0"/>
                <a:ea typeface="Be Vietnam Pro" pitchFamily="34" charset="-122"/>
                <a:cs typeface="Be Vietnam Pro" pitchFamily="34" charset="-120"/>
              </a:rPr>
              <a:t>c</a:t>
            </a:r>
            <a:endParaRPr lang="en-US" sz="2000" dirty="0"/>
          </a:p>
        </p:txBody>
      </p:sp>
      <p:sp>
        <p:nvSpPr>
          <p:cNvPr id="23" name="Text 21"/>
          <p:cNvSpPr/>
          <p:nvPr/>
        </p:nvSpPr>
        <p:spPr>
          <a:xfrm>
            <a:off x="6755011" y="4366022"/>
            <a:ext cx="4527457" cy="540941"/>
          </a:xfrm>
          <a:prstGeom prst="rect">
            <a:avLst/>
          </a:prstGeom>
          <a:noFill/>
          <a:ln/>
        </p:spPr>
        <p:txBody>
          <a:bodyPr wrap="square" lIns="0" tIns="0" rIns="0" bIns="0" rtlCol="0" anchor="t">
            <a:normAutofit/>
          </a:bodyPr>
          <a:lstStyle/>
          <a:p>
            <a:pPr marL="0" indent="0" algn="l">
              <a:lnSpc>
                <a:spcPts val="2030"/>
              </a:lnSpc>
              <a:buNone/>
            </a:pPr>
            <a:r>
              <a:rPr lang="en-US" sz="2000" dirty="0">
                <a:solidFill>
                  <a:srgbClr val="2A3646"/>
                </a:solidFill>
                <a:latin typeface="Nunito Sans" pitchFamily="34" charset="0"/>
                <a:ea typeface="Nunito Sans" pitchFamily="34" charset="-122"/>
                <a:cs typeface="Nunito Sans" pitchFamily="34" charset="-120"/>
              </a:rPr>
              <a:t>Well, I think there will be no private vehicles in the cities.</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EF4F3"/>
        </a:solidFill>
        <a:effectLst/>
      </p:bgPr>
    </p:bg>
    <p:spTree>
      <p:nvGrpSpPr>
        <p:cNvPr id="1" name=""/>
        <p:cNvGrpSpPr/>
        <p:nvPr/>
      </p:nvGrpSpPr>
      <p:grpSpPr>
        <a:xfrm>
          <a:off x="0" y="0"/>
          <a:ext cx="0" cy="0"/>
          <a:chOff x="0" y="0"/>
          <a:chExt cx="0" cy="0"/>
        </a:xfrm>
      </p:grpSpPr>
      <p:sp>
        <p:nvSpPr>
          <p:cNvPr id="2" name="Text 0"/>
          <p:cNvSpPr/>
          <p:nvPr/>
        </p:nvSpPr>
        <p:spPr>
          <a:xfrm>
            <a:off x="812800" y="762000"/>
            <a:ext cx="5175375" cy="238720"/>
          </a:xfrm>
          <a:prstGeom prst="rect">
            <a:avLst/>
          </a:prstGeom>
          <a:noFill/>
          <a:ln/>
        </p:spPr>
        <p:txBody>
          <a:bodyPr wrap="square" lIns="0" tIns="0" rIns="0" bIns="0" rtlCol="0" anchor="t">
            <a:noAutofit/>
          </a:bodyPr>
          <a:lstStyle/>
          <a:p>
            <a:pPr marL="0" indent="0" algn="l">
              <a:lnSpc>
                <a:spcPts val="1680"/>
              </a:lnSpc>
              <a:buNone/>
            </a:pPr>
            <a:r>
              <a:rPr lang="en-US" sz="2400" b="1" kern="0" spc="150" dirty="0">
                <a:solidFill>
                  <a:srgbClr val="117279"/>
                </a:solidFill>
                <a:latin typeface="Nunito Sans" pitchFamily="34" charset="0"/>
                <a:ea typeface="Nunito Sans" pitchFamily="34" charset="-122"/>
                <a:cs typeface="Nunito Sans" pitchFamily="34" charset="-120"/>
              </a:rPr>
              <a:t>TASK 2 • ANSWER KEY</a:t>
            </a:r>
            <a:endParaRPr lang="en-US" sz="2400" dirty="0"/>
          </a:p>
        </p:txBody>
      </p:sp>
      <p:sp>
        <p:nvSpPr>
          <p:cNvPr id="3" name="Text 1"/>
          <p:cNvSpPr>
            <a:spLocks noGrp="1"/>
          </p:cNvSpPr>
          <p:nvPr>
            <p:ph type="title"/>
          </p:nvPr>
        </p:nvSpPr>
        <p:spPr>
          <a:xfrm>
            <a:off x="812800" y="1051520"/>
            <a:ext cx="6029563" cy="444500"/>
          </a:xfrm>
          <a:prstGeom prst="rect">
            <a:avLst/>
          </a:prstGeom>
          <a:noFill/>
          <a:ln/>
        </p:spPr>
        <p:txBody>
          <a:bodyPr wrap="square" lIns="0" tIns="0" rIns="0" bIns="0" rtlCol="0" anchor="t">
            <a:normAutofit/>
          </a:bodyPr>
          <a:lstStyle/>
          <a:p>
            <a:pPr marL="0" indent="0" algn="l">
              <a:lnSpc>
                <a:spcPts val="3300"/>
              </a:lnSpc>
              <a:buNone/>
            </a:pPr>
            <a:r>
              <a:rPr lang="en-US" sz="2400" b="1" i="0" dirty="0">
                <a:solidFill>
                  <a:srgbClr val="1D3557"/>
                </a:solidFill>
                <a:latin typeface="Be Vietnam Pro" pitchFamily="34" charset="0"/>
                <a:ea typeface="Be Vietnam Pro" pitchFamily="34" charset="-122"/>
                <a:cs typeface="Be Vietnam Pro" pitchFamily="34" charset="-120"/>
              </a:rPr>
              <a:t>Practise the conversation</a:t>
            </a:r>
            <a:endParaRPr lang="en-US" sz="2400" dirty="0"/>
          </a:p>
        </p:txBody>
      </p:sp>
      <p:sp>
        <p:nvSpPr>
          <p:cNvPr id="4" name="Text 2"/>
          <p:cNvSpPr/>
          <p:nvPr/>
        </p:nvSpPr>
        <p:spPr>
          <a:xfrm>
            <a:off x="8933458" y="1094730"/>
            <a:ext cx="734963" cy="375890"/>
          </a:xfrm>
          <a:prstGeom prst="roundRect">
            <a:avLst>
              <a:gd name="adj" fmla="val 50000"/>
            </a:avLst>
          </a:prstGeom>
          <a:solidFill>
            <a:srgbClr val="1D3557"/>
          </a:solidFill>
          <a:ln/>
        </p:spPr>
        <p:txBody>
          <a:bodyPr wrap="none" lIns="0" tIns="0" rIns="0" bIns="0" rtlCol="0" anchor="ctr">
            <a:noAutofit/>
          </a:bodyPr>
          <a:lstStyle/>
          <a:p>
            <a:pPr marL="0" indent="0" algn="ctr">
              <a:lnSpc>
                <a:spcPts val="1960"/>
              </a:lnSpc>
              <a:buNone/>
            </a:pPr>
            <a:r>
              <a:rPr lang="en-US" sz="2400" b="1" dirty="0">
                <a:solidFill>
                  <a:srgbClr val="FBFAF6"/>
                </a:solidFill>
                <a:latin typeface="Nunito Sans" pitchFamily="34" charset="0"/>
                <a:ea typeface="Nunito Sans" pitchFamily="34" charset="-122"/>
                <a:cs typeface="Nunito Sans" pitchFamily="34" charset="-120"/>
              </a:rPr>
              <a:t>1 – c</a:t>
            </a:r>
            <a:endParaRPr lang="en-US" sz="2400" dirty="0"/>
          </a:p>
        </p:txBody>
      </p:sp>
      <p:sp>
        <p:nvSpPr>
          <p:cNvPr id="5" name="Text 3"/>
          <p:cNvSpPr/>
          <p:nvPr/>
        </p:nvSpPr>
        <p:spPr>
          <a:xfrm>
            <a:off x="9770021" y="1094730"/>
            <a:ext cx="749102" cy="375890"/>
          </a:xfrm>
          <a:prstGeom prst="roundRect">
            <a:avLst>
              <a:gd name="adj" fmla="val 50000"/>
            </a:avLst>
          </a:prstGeom>
          <a:solidFill>
            <a:srgbClr val="1D3557"/>
          </a:solidFill>
          <a:ln/>
        </p:spPr>
        <p:txBody>
          <a:bodyPr wrap="none" lIns="0" tIns="0" rIns="0" bIns="0" rtlCol="0" anchor="ctr">
            <a:noAutofit/>
          </a:bodyPr>
          <a:lstStyle/>
          <a:p>
            <a:pPr marL="0" indent="0" algn="ctr">
              <a:lnSpc>
                <a:spcPts val="1960"/>
              </a:lnSpc>
              <a:buNone/>
            </a:pPr>
            <a:r>
              <a:rPr lang="en-US" sz="2400" b="1" dirty="0">
                <a:solidFill>
                  <a:srgbClr val="FBFAF6"/>
                </a:solidFill>
                <a:latin typeface="Nunito Sans" pitchFamily="34" charset="0"/>
                <a:ea typeface="Nunito Sans" pitchFamily="34" charset="-122"/>
                <a:cs typeface="Nunito Sans" pitchFamily="34" charset="-120"/>
              </a:rPr>
              <a:t>2 – a</a:t>
            </a:r>
            <a:endParaRPr lang="en-US" sz="2400" dirty="0"/>
          </a:p>
        </p:txBody>
      </p:sp>
      <p:sp>
        <p:nvSpPr>
          <p:cNvPr id="6" name="Text 4"/>
          <p:cNvSpPr/>
          <p:nvPr/>
        </p:nvSpPr>
        <p:spPr>
          <a:xfrm>
            <a:off x="10620722" y="1094730"/>
            <a:ext cx="758478" cy="375890"/>
          </a:xfrm>
          <a:prstGeom prst="roundRect">
            <a:avLst>
              <a:gd name="adj" fmla="val 50000"/>
            </a:avLst>
          </a:prstGeom>
          <a:solidFill>
            <a:srgbClr val="1D3557"/>
          </a:solidFill>
          <a:ln/>
        </p:spPr>
        <p:txBody>
          <a:bodyPr wrap="none" lIns="0" tIns="0" rIns="0" bIns="0" rtlCol="0" anchor="ctr">
            <a:noAutofit/>
          </a:bodyPr>
          <a:lstStyle/>
          <a:p>
            <a:pPr marL="0" indent="0" algn="ctr">
              <a:lnSpc>
                <a:spcPts val="1960"/>
              </a:lnSpc>
              <a:buNone/>
            </a:pPr>
            <a:r>
              <a:rPr lang="en-US" sz="2400" b="1" dirty="0">
                <a:solidFill>
                  <a:srgbClr val="FBFAF6"/>
                </a:solidFill>
                <a:latin typeface="Nunito Sans" pitchFamily="34" charset="0"/>
                <a:ea typeface="Nunito Sans" pitchFamily="34" charset="-122"/>
                <a:cs typeface="Nunito Sans" pitchFamily="34" charset="-120"/>
              </a:rPr>
              <a:t>3 – b</a:t>
            </a:r>
            <a:endParaRPr lang="en-US" sz="2400" dirty="0"/>
          </a:p>
        </p:txBody>
      </p:sp>
      <p:sp>
        <p:nvSpPr>
          <p:cNvPr id="7" name="Text 5"/>
          <p:cNvSpPr/>
          <p:nvPr/>
        </p:nvSpPr>
        <p:spPr>
          <a:xfrm>
            <a:off x="812800" y="1750020"/>
            <a:ext cx="355600" cy="355600"/>
          </a:xfrm>
          <a:custGeom>
            <a:avLst/>
            <a:gdLst/>
            <a:ahLst/>
            <a:cxnLst/>
            <a:rect l="l" t="t" r="r" b="b"/>
            <a:pathLst>
              <a:path w="355600" h="355600">
                <a:moveTo>
                  <a:pt x="177800" y="0"/>
                </a:moveTo>
                <a:lnTo>
                  <a:pt x="177800" y="0"/>
                </a:lnTo>
                <a:arcTo wR="177800" hR="177800" stAng="16200000" swAng="5400000"/>
                <a:lnTo>
                  <a:pt x="355600" y="177800"/>
                </a:lnTo>
                <a:arcTo wR="177800" hR="177800" stAng="0" swAng="5400000"/>
                <a:lnTo>
                  <a:pt x="177800" y="355600"/>
                </a:lnTo>
                <a:arcTo wR="177800" hR="177800" stAng="5400000" swAng="5400000"/>
                <a:lnTo>
                  <a:pt x="0" y="177800"/>
                </a:lnTo>
                <a:arcTo wR="177800" hR="177800" stAng="10800000" swAng="5400000"/>
                <a:close/>
              </a:path>
            </a:pathLst>
          </a:custGeom>
          <a:solidFill>
            <a:srgbClr val="117279"/>
          </a:solidFill>
          <a:ln/>
        </p:spPr>
        <p:txBody>
          <a:bodyPr wrap="square" lIns="0" tIns="0" rIns="0" bIns="0" rtlCol="0" anchor="t">
            <a:noAutofit/>
          </a:bodyPr>
          <a:lstStyle/>
          <a:p>
            <a:pPr marL="0" indent="0" algn="ctr">
              <a:lnSpc>
                <a:spcPts val="2800"/>
              </a:lnSpc>
              <a:buNone/>
            </a:pPr>
            <a:r>
              <a:rPr lang="en-US" sz="2400" b="1" dirty="0">
                <a:solidFill>
                  <a:srgbClr val="FBFAF6"/>
                </a:solidFill>
                <a:latin typeface="Nunito Sans" pitchFamily="34" charset="0"/>
                <a:ea typeface="Nunito Sans" pitchFamily="34" charset="-122"/>
                <a:cs typeface="Nunito Sans" pitchFamily="34" charset="-120"/>
              </a:rPr>
              <a:t>A</a:t>
            </a:r>
            <a:endParaRPr lang="en-US" sz="2400" dirty="0"/>
          </a:p>
        </p:txBody>
      </p:sp>
      <p:sp>
        <p:nvSpPr>
          <p:cNvPr id="8" name="Text 6"/>
          <p:cNvSpPr/>
          <p:nvPr/>
        </p:nvSpPr>
        <p:spPr>
          <a:xfrm>
            <a:off x="1320800" y="1800820"/>
            <a:ext cx="10360152" cy="283170"/>
          </a:xfrm>
          <a:prstGeom prst="rect">
            <a:avLst/>
          </a:prstGeom>
          <a:noFill/>
          <a:ln/>
        </p:spPr>
        <p:txBody>
          <a:bodyPr wrap="square" lIns="0" tIns="0" rIns="0" bIns="0" rtlCol="0" anchor="t">
            <a:normAutofit/>
          </a:bodyPr>
          <a:lstStyle/>
          <a:p>
            <a:pPr marL="0" indent="0" algn="l">
              <a:lnSpc>
                <a:spcPts val="2030"/>
              </a:lnSpc>
              <a:buNone/>
            </a:pPr>
            <a:r>
              <a:rPr lang="en-US" sz="2400" dirty="0">
                <a:solidFill>
                  <a:srgbClr val="2A3646"/>
                </a:solidFill>
                <a:latin typeface="Nunito Sans" pitchFamily="34" charset="0"/>
                <a:ea typeface="Nunito Sans" pitchFamily="34" charset="-122"/>
                <a:cs typeface="Nunito Sans" pitchFamily="34" charset="-120"/>
              </a:rPr>
              <a:t>What do you think transport will be like in the cities of the future?</a:t>
            </a:r>
            <a:endParaRPr lang="en-US" sz="2400" dirty="0"/>
          </a:p>
        </p:txBody>
      </p:sp>
      <p:sp>
        <p:nvSpPr>
          <p:cNvPr id="9" name="Text 7"/>
          <p:cNvSpPr/>
          <p:nvPr/>
        </p:nvSpPr>
        <p:spPr>
          <a:xfrm>
            <a:off x="812800" y="2232620"/>
            <a:ext cx="355600" cy="355600"/>
          </a:xfrm>
          <a:custGeom>
            <a:avLst/>
            <a:gdLst/>
            <a:ahLst/>
            <a:cxnLst/>
            <a:rect l="l" t="t" r="r" b="b"/>
            <a:pathLst>
              <a:path w="355600" h="355600">
                <a:moveTo>
                  <a:pt x="177800" y="0"/>
                </a:moveTo>
                <a:lnTo>
                  <a:pt x="177800" y="0"/>
                </a:lnTo>
                <a:arcTo wR="177800" hR="177800" stAng="16200000" swAng="5400000"/>
                <a:lnTo>
                  <a:pt x="355600" y="177800"/>
                </a:lnTo>
                <a:arcTo wR="177800" hR="177800" stAng="0" swAng="5400000"/>
                <a:lnTo>
                  <a:pt x="177800" y="355600"/>
                </a:lnTo>
                <a:arcTo wR="177800" hR="177800" stAng="5400000" swAng="5400000"/>
                <a:lnTo>
                  <a:pt x="0" y="177800"/>
                </a:lnTo>
                <a:arcTo wR="177800" hR="177800" stAng="10800000" swAng="5400000"/>
                <a:close/>
              </a:path>
            </a:pathLst>
          </a:custGeom>
          <a:solidFill>
            <a:srgbClr val="E8762A"/>
          </a:solidFill>
          <a:ln/>
        </p:spPr>
        <p:txBody>
          <a:bodyPr wrap="square" lIns="0" tIns="0" rIns="0" bIns="0" rtlCol="0" anchor="t">
            <a:noAutofit/>
          </a:bodyPr>
          <a:lstStyle/>
          <a:p>
            <a:pPr marL="0" indent="0" algn="ctr">
              <a:lnSpc>
                <a:spcPts val="2800"/>
              </a:lnSpc>
              <a:buNone/>
            </a:pPr>
            <a:r>
              <a:rPr lang="en-US" sz="2400" b="1" dirty="0">
                <a:solidFill>
                  <a:srgbClr val="14233A"/>
                </a:solidFill>
                <a:latin typeface="Nunito Sans" pitchFamily="34" charset="0"/>
                <a:ea typeface="Nunito Sans" pitchFamily="34" charset="-122"/>
                <a:cs typeface="Nunito Sans" pitchFamily="34" charset="-120"/>
              </a:rPr>
              <a:t>B</a:t>
            </a:r>
            <a:endParaRPr lang="en-US" sz="2400" dirty="0"/>
          </a:p>
        </p:txBody>
      </p:sp>
      <p:sp>
        <p:nvSpPr>
          <p:cNvPr id="10" name="Text 8"/>
          <p:cNvSpPr/>
          <p:nvPr/>
        </p:nvSpPr>
        <p:spPr>
          <a:xfrm>
            <a:off x="1320800" y="2283420"/>
            <a:ext cx="10360152" cy="283170"/>
          </a:xfrm>
          <a:prstGeom prst="rect">
            <a:avLst/>
          </a:prstGeom>
          <a:noFill/>
          <a:ln/>
        </p:spPr>
        <p:txBody>
          <a:bodyPr wrap="square" lIns="0" tIns="0" rIns="0" bIns="0" rtlCol="0" anchor="t">
            <a:normAutofit/>
          </a:bodyPr>
          <a:lstStyle/>
          <a:p>
            <a:pPr marL="0" indent="0" algn="l">
              <a:lnSpc>
                <a:spcPts val="2030"/>
              </a:lnSpc>
              <a:buNone/>
            </a:pPr>
            <a:r>
              <a:rPr lang="en-US" sz="2400" dirty="0">
                <a:solidFill>
                  <a:srgbClr val="2A3646"/>
                </a:solidFill>
                <a:latin typeface="Nunito Sans" pitchFamily="34" charset="0"/>
                <a:ea typeface="Nunito Sans" pitchFamily="34" charset="-122"/>
                <a:cs typeface="Nunito Sans" pitchFamily="34" charset="-120"/>
              </a:rPr>
              <a:t>Well, I think there will be no private vehicles in the cities.</a:t>
            </a:r>
            <a:endParaRPr lang="en-US" sz="2400" dirty="0"/>
          </a:p>
        </p:txBody>
      </p:sp>
      <p:sp>
        <p:nvSpPr>
          <p:cNvPr id="11" name="Text 9"/>
          <p:cNvSpPr/>
          <p:nvPr/>
        </p:nvSpPr>
        <p:spPr>
          <a:xfrm>
            <a:off x="812800" y="2715220"/>
            <a:ext cx="355600" cy="355600"/>
          </a:xfrm>
          <a:custGeom>
            <a:avLst/>
            <a:gdLst/>
            <a:ahLst/>
            <a:cxnLst/>
            <a:rect l="l" t="t" r="r" b="b"/>
            <a:pathLst>
              <a:path w="355600" h="355600">
                <a:moveTo>
                  <a:pt x="177800" y="0"/>
                </a:moveTo>
                <a:lnTo>
                  <a:pt x="177800" y="0"/>
                </a:lnTo>
                <a:arcTo wR="177800" hR="177800" stAng="16200000" swAng="5400000"/>
                <a:lnTo>
                  <a:pt x="355600" y="177800"/>
                </a:lnTo>
                <a:arcTo wR="177800" hR="177800" stAng="0" swAng="5400000"/>
                <a:lnTo>
                  <a:pt x="177800" y="355600"/>
                </a:lnTo>
                <a:arcTo wR="177800" hR="177800" stAng="5400000" swAng="5400000"/>
                <a:lnTo>
                  <a:pt x="0" y="177800"/>
                </a:lnTo>
                <a:arcTo wR="177800" hR="177800" stAng="10800000" swAng="5400000"/>
                <a:close/>
              </a:path>
            </a:pathLst>
          </a:custGeom>
          <a:solidFill>
            <a:srgbClr val="117279"/>
          </a:solidFill>
          <a:ln/>
        </p:spPr>
        <p:txBody>
          <a:bodyPr wrap="square" lIns="0" tIns="0" rIns="0" bIns="0" rtlCol="0" anchor="t">
            <a:noAutofit/>
          </a:bodyPr>
          <a:lstStyle/>
          <a:p>
            <a:pPr marL="0" indent="0" algn="ctr">
              <a:lnSpc>
                <a:spcPts val="2800"/>
              </a:lnSpc>
              <a:buNone/>
            </a:pPr>
            <a:r>
              <a:rPr lang="en-US" sz="2400" b="1" dirty="0">
                <a:solidFill>
                  <a:srgbClr val="FBFAF6"/>
                </a:solidFill>
                <a:latin typeface="Nunito Sans" pitchFamily="34" charset="0"/>
                <a:ea typeface="Nunito Sans" pitchFamily="34" charset="-122"/>
                <a:cs typeface="Nunito Sans" pitchFamily="34" charset="-120"/>
              </a:rPr>
              <a:t>A</a:t>
            </a:r>
            <a:endParaRPr lang="en-US" sz="2400" dirty="0"/>
          </a:p>
        </p:txBody>
      </p:sp>
      <p:sp>
        <p:nvSpPr>
          <p:cNvPr id="12" name="Text 10"/>
          <p:cNvSpPr/>
          <p:nvPr/>
        </p:nvSpPr>
        <p:spPr>
          <a:xfrm>
            <a:off x="1320800" y="2766020"/>
            <a:ext cx="10360152" cy="283170"/>
          </a:xfrm>
          <a:prstGeom prst="rect">
            <a:avLst/>
          </a:prstGeom>
          <a:noFill/>
          <a:ln/>
        </p:spPr>
        <p:txBody>
          <a:bodyPr wrap="square" lIns="0" tIns="0" rIns="0" bIns="0" rtlCol="0" anchor="t">
            <a:normAutofit/>
          </a:bodyPr>
          <a:lstStyle/>
          <a:p>
            <a:pPr marL="0" indent="0" algn="l">
              <a:lnSpc>
                <a:spcPts val="2030"/>
              </a:lnSpc>
              <a:buNone/>
            </a:pPr>
            <a:r>
              <a:rPr lang="en-US" sz="2400" dirty="0">
                <a:solidFill>
                  <a:srgbClr val="2A3646"/>
                </a:solidFill>
                <a:latin typeface="Nunito Sans" pitchFamily="34" charset="0"/>
                <a:ea typeface="Nunito Sans" pitchFamily="34" charset="-122"/>
                <a:cs typeface="Nunito Sans" pitchFamily="34" charset="-120"/>
              </a:rPr>
              <a:t>So, how will people travel in the city?</a:t>
            </a:r>
            <a:endParaRPr lang="en-US" sz="2400" dirty="0"/>
          </a:p>
        </p:txBody>
      </p:sp>
      <p:sp>
        <p:nvSpPr>
          <p:cNvPr id="13" name="Text 11"/>
          <p:cNvSpPr/>
          <p:nvPr/>
        </p:nvSpPr>
        <p:spPr>
          <a:xfrm>
            <a:off x="812800" y="3197820"/>
            <a:ext cx="355600" cy="355600"/>
          </a:xfrm>
          <a:custGeom>
            <a:avLst/>
            <a:gdLst/>
            <a:ahLst/>
            <a:cxnLst/>
            <a:rect l="l" t="t" r="r" b="b"/>
            <a:pathLst>
              <a:path w="355600" h="355600">
                <a:moveTo>
                  <a:pt x="177800" y="0"/>
                </a:moveTo>
                <a:lnTo>
                  <a:pt x="177800" y="0"/>
                </a:lnTo>
                <a:arcTo wR="177800" hR="177800" stAng="16200000" swAng="5400000"/>
                <a:lnTo>
                  <a:pt x="355600" y="177800"/>
                </a:lnTo>
                <a:arcTo wR="177800" hR="177800" stAng="0" swAng="5400000"/>
                <a:lnTo>
                  <a:pt x="177800" y="355600"/>
                </a:lnTo>
                <a:arcTo wR="177800" hR="177800" stAng="5400000" swAng="5400000"/>
                <a:lnTo>
                  <a:pt x="0" y="177800"/>
                </a:lnTo>
                <a:arcTo wR="177800" hR="177800" stAng="10800000" swAng="5400000"/>
                <a:close/>
              </a:path>
            </a:pathLst>
          </a:custGeom>
          <a:solidFill>
            <a:srgbClr val="E8762A"/>
          </a:solidFill>
          <a:ln/>
        </p:spPr>
        <p:txBody>
          <a:bodyPr wrap="square" lIns="0" tIns="0" rIns="0" bIns="0" rtlCol="0" anchor="t">
            <a:noAutofit/>
          </a:bodyPr>
          <a:lstStyle/>
          <a:p>
            <a:pPr marL="0" indent="0" algn="ctr">
              <a:lnSpc>
                <a:spcPts val="2800"/>
              </a:lnSpc>
              <a:buNone/>
            </a:pPr>
            <a:r>
              <a:rPr lang="en-US" sz="2400" b="1" dirty="0">
                <a:solidFill>
                  <a:srgbClr val="14233A"/>
                </a:solidFill>
                <a:latin typeface="Nunito Sans" pitchFamily="34" charset="0"/>
                <a:ea typeface="Nunito Sans" pitchFamily="34" charset="-122"/>
                <a:cs typeface="Nunito Sans" pitchFamily="34" charset="-120"/>
              </a:rPr>
              <a:t>B</a:t>
            </a:r>
            <a:endParaRPr lang="en-US" sz="2400" dirty="0"/>
          </a:p>
        </p:txBody>
      </p:sp>
      <p:sp>
        <p:nvSpPr>
          <p:cNvPr id="14" name="Text 12"/>
          <p:cNvSpPr/>
          <p:nvPr/>
        </p:nvSpPr>
        <p:spPr>
          <a:xfrm>
            <a:off x="1320800" y="3248620"/>
            <a:ext cx="10360152" cy="283170"/>
          </a:xfrm>
          <a:prstGeom prst="rect">
            <a:avLst/>
          </a:prstGeom>
          <a:noFill/>
          <a:ln/>
        </p:spPr>
        <p:txBody>
          <a:bodyPr wrap="square" lIns="0" tIns="0" rIns="0" bIns="0" rtlCol="0" anchor="t">
            <a:normAutofit/>
          </a:bodyPr>
          <a:lstStyle/>
          <a:p>
            <a:pPr marL="0" indent="0" algn="l">
              <a:lnSpc>
                <a:spcPts val="2030"/>
              </a:lnSpc>
              <a:buNone/>
            </a:pPr>
            <a:r>
              <a:rPr lang="en-US" sz="2400" dirty="0">
                <a:solidFill>
                  <a:srgbClr val="2A3646"/>
                </a:solidFill>
                <a:latin typeface="Nunito Sans" pitchFamily="34" charset="0"/>
                <a:ea typeface="Nunito Sans" pitchFamily="34" charset="-122"/>
                <a:cs typeface="Nunito Sans" pitchFamily="34" charset="-120"/>
              </a:rPr>
              <a:t>They will use public transport instead of their own vehicles.</a:t>
            </a:r>
            <a:endParaRPr lang="en-US" sz="2400" dirty="0"/>
          </a:p>
        </p:txBody>
      </p:sp>
      <p:sp>
        <p:nvSpPr>
          <p:cNvPr id="15" name="Text 13"/>
          <p:cNvSpPr/>
          <p:nvPr/>
        </p:nvSpPr>
        <p:spPr>
          <a:xfrm>
            <a:off x="812800" y="3680420"/>
            <a:ext cx="355600" cy="355600"/>
          </a:xfrm>
          <a:custGeom>
            <a:avLst/>
            <a:gdLst/>
            <a:ahLst/>
            <a:cxnLst/>
            <a:rect l="l" t="t" r="r" b="b"/>
            <a:pathLst>
              <a:path w="355600" h="355600">
                <a:moveTo>
                  <a:pt x="177800" y="0"/>
                </a:moveTo>
                <a:lnTo>
                  <a:pt x="177800" y="0"/>
                </a:lnTo>
                <a:arcTo wR="177800" hR="177800" stAng="16200000" swAng="5400000"/>
                <a:lnTo>
                  <a:pt x="355600" y="177800"/>
                </a:lnTo>
                <a:arcTo wR="177800" hR="177800" stAng="0" swAng="5400000"/>
                <a:lnTo>
                  <a:pt x="177800" y="355600"/>
                </a:lnTo>
                <a:arcTo wR="177800" hR="177800" stAng="5400000" swAng="5400000"/>
                <a:lnTo>
                  <a:pt x="0" y="177800"/>
                </a:lnTo>
                <a:arcTo wR="177800" hR="177800" stAng="10800000" swAng="5400000"/>
                <a:close/>
              </a:path>
            </a:pathLst>
          </a:custGeom>
          <a:solidFill>
            <a:srgbClr val="117279"/>
          </a:solidFill>
          <a:ln/>
        </p:spPr>
        <p:txBody>
          <a:bodyPr wrap="square" lIns="0" tIns="0" rIns="0" bIns="0" rtlCol="0" anchor="t">
            <a:noAutofit/>
          </a:bodyPr>
          <a:lstStyle/>
          <a:p>
            <a:pPr marL="0" indent="0" algn="ctr">
              <a:lnSpc>
                <a:spcPts val="2800"/>
              </a:lnSpc>
              <a:buNone/>
            </a:pPr>
            <a:r>
              <a:rPr lang="en-US" sz="2400" b="1" dirty="0">
                <a:solidFill>
                  <a:srgbClr val="FBFAF6"/>
                </a:solidFill>
                <a:latin typeface="Nunito Sans" pitchFamily="34" charset="0"/>
                <a:ea typeface="Nunito Sans" pitchFamily="34" charset="-122"/>
                <a:cs typeface="Nunito Sans" pitchFamily="34" charset="-120"/>
              </a:rPr>
              <a:t>A</a:t>
            </a:r>
            <a:endParaRPr lang="en-US" sz="2400" dirty="0"/>
          </a:p>
        </p:txBody>
      </p:sp>
      <p:sp>
        <p:nvSpPr>
          <p:cNvPr id="16" name="Text 14"/>
          <p:cNvSpPr/>
          <p:nvPr/>
        </p:nvSpPr>
        <p:spPr>
          <a:xfrm>
            <a:off x="1320800" y="3731220"/>
            <a:ext cx="10566400" cy="304800"/>
          </a:xfrm>
          <a:prstGeom prst="rect">
            <a:avLst/>
          </a:prstGeom>
          <a:noFill/>
          <a:ln/>
        </p:spPr>
        <p:txBody>
          <a:bodyPr wrap="square" lIns="0" tIns="0" rIns="0" bIns="0" rtlCol="0" anchor="t">
            <a:noAutofit/>
          </a:bodyPr>
          <a:lstStyle/>
          <a:p>
            <a:pPr marL="0" indent="0" algn="l">
              <a:lnSpc>
                <a:spcPts val="2030"/>
              </a:lnSpc>
              <a:buNone/>
            </a:pPr>
            <a:r>
              <a:rPr lang="en-US" sz="2400" dirty="0">
                <a:solidFill>
                  <a:srgbClr val="2A3646"/>
                </a:solidFill>
                <a:latin typeface="Nunito Sans" pitchFamily="34" charset="0"/>
                <a:ea typeface="Nunito Sans" pitchFamily="34" charset="-122"/>
                <a:cs typeface="Nunito Sans" pitchFamily="34" charset="-120"/>
              </a:rPr>
              <a:t>Really? Why do you think public transport will be popular with city dwellers?</a:t>
            </a:r>
            <a:endParaRPr lang="en-US" sz="2400" dirty="0"/>
          </a:p>
        </p:txBody>
      </p:sp>
      <p:sp>
        <p:nvSpPr>
          <p:cNvPr id="17" name="Text 15"/>
          <p:cNvSpPr/>
          <p:nvPr/>
        </p:nvSpPr>
        <p:spPr>
          <a:xfrm>
            <a:off x="812800" y="4163020"/>
            <a:ext cx="355600" cy="355600"/>
          </a:xfrm>
          <a:custGeom>
            <a:avLst/>
            <a:gdLst/>
            <a:ahLst/>
            <a:cxnLst/>
            <a:rect l="l" t="t" r="r" b="b"/>
            <a:pathLst>
              <a:path w="355600" h="355600">
                <a:moveTo>
                  <a:pt x="177800" y="0"/>
                </a:moveTo>
                <a:lnTo>
                  <a:pt x="177800" y="0"/>
                </a:lnTo>
                <a:arcTo wR="177800" hR="177800" stAng="16200000" swAng="5400000"/>
                <a:lnTo>
                  <a:pt x="355600" y="177800"/>
                </a:lnTo>
                <a:arcTo wR="177800" hR="177800" stAng="0" swAng="5400000"/>
                <a:lnTo>
                  <a:pt x="177800" y="355600"/>
                </a:lnTo>
                <a:arcTo wR="177800" hR="177800" stAng="5400000" swAng="5400000"/>
                <a:lnTo>
                  <a:pt x="0" y="177800"/>
                </a:lnTo>
                <a:arcTo wR="177800" hR="177800" stAng="10800000" swAng="5400000"/>
                <a:close/>
              </a:path>
            </a:pathLst>
          </a:custGeom>
          <a:solidFill>
            <a:srgbClr val="E8762A"/>
          </a:solidFill>
          <a:ln/>
        </p:spPr>
        <p:txBody>
          <a:bodyPr wrap="square" lIns="0" tIns="0" rIns="0" bIns="0" rtlCol="0" anchor="t">
            <a:noAutofit/>
          </a:bodyPr>
          <a:lstStyle/>
          <a:p>
            <a:pPr marL="0" indent="0" algn="ctr">
              <a:lnSpc>
                <a:spcPts val="2800"/>
              </a:lnSpc>
              <a:buNone/>
            </a:pPr>
            <a:r>
              <a:rPr lang="en-US" sz="2400" b="1" dirty="0">
                <a:solidFill>
                  <a:srgbClr val="14233A"/>
                </a:solidFill>
                <a:latin typeface="Nunito Sans" pitchFamily="34" charset="0"/>
                <a:ea typeface="Nunito Sans" pitchFamily="34" charset="-122"/>
                <a:cs typeface="Nunito Sans" pitchFamily="34" charset="-120"/>
              </a:rPr>
              <a:t>B</a:t>
            </a:r>
            <a:endParaRPr lang="en-US" sz="2400" dirty="0"/>
          </a:p>
        </p:txBody>
      </p:sp>
      <p:sp>
        <p:nvSpPr>
          <p:cNvPr id="18" name="Text 16"/>
          <p:cNvSpPr/>
          <p:nvPr/>
        </p:nvSpPr>
        <p:spPr>
          <a:xfrm>
            <a:off x="1320800" y="4338240"/>
            <a:ext cx="10360152" cy="283170"/>
          </a:xfrm>
          <a:prstGeom prst="rect">
            <a:avLst/>
          </a:prstGeom>
          <a:noFill/>
          <a:ln/>
        </p:spPr>
        <p:txBody>
          <a:bodyPr wrap="square" lIns="0" tIns="0" rIns="0" bIns="0" rtlCol="0" anchor="t">
            <a:noAutofit/>
          </a:bodyPr>
          <a:lstStyle/>
          <a:p>
            <a:pPr marL="0" indent="0" algn="l">
              <a:lnSpc>
                <a:spcPts val="2030"/>
              </a:lnSpc>
              <a:buNone/>
            </a:pPr>
            <a:r>
              <a:rPr lang="en-US" sz="2400" dirty="0">
                <a:solidFill>
                  <a:srgbClr val="2A3646"/>
                </a:solidFill>
                <a:latin typeface="Nunito Sans" pitchFamily="34" charset="0"/>
                <a:ea typeface="Nunito Sans" pitchFamily="34" charset="-122"/>
                <a:cs typeface="Nunito Sans" pitchFamily="34" charset="-120"/>
              </a:rPr>
              <a:t>Because technology will make public transport faster, more convenient, and more eco-friendly.</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AF6"/>
        </a:solidFill>
        <a:effectLst/>
      </p:bgPr>
    </p:bg>
    <p:spTree>
      <p:nvGrpSpPr>
        <p:cNvPr id="1" name=""/>
        <p:cNvGrpSpPr/>
        <p:nvPr/>
      </p:nvGrpSpPr>
      <p:grpSpPr>
        <a:xfrm>
          <a:off x="0" y="0"/>
          <a:ext cx="0" cy="0"/>
          <a:chOff x="0" y="0"/>
          <a:chExt cx="0" cy="0"/>
        </a:xfrm>
      </p:grpSpPr>
      <p:sp>
        <p:nvSpPr>
          <p:cNvPr id="2" name="Text 0"/>
          <p:cNvSpPr/>
          <p:nvPr/>
        </p:nvSpPr>
        <p:spPr>
          <a:xfrm>
            <a:off x="812800" y="762000"/>
            <a:ext cx="10883392" cy="238720"/>
          </a:xfrm>
          <a:prstGeom prst="rect">
            <a:avLst/>
          </a:prstGeom>
          <a:noFill/>
          <a:ln/>
        </p:spPr>
        <p:txBody>
          <a:bodyPr wrap="square" lIns="0" tIns="0" rIns="0" bIns="0" rtlCol="0" anchor="t">
            <a:normAutofit/>
          </a:bodyPr>
          <a:lstStyle/>
          <a:p>
            <a:pPr marL="0" indent="0" algn="l">
              <a:lnSpc>
                <a:spcPts val="1680"/>
              </a:lnSpc>
              <a:buNone/>
            </a:pPr>
            <a:r>
              <a:rPr lang="en-US" sz="2000" b="1" kern="0" spc="150" dirty="0">
                <a:solidFill>
                  <a:srgbClr val="117279"/>
                </a:solidFill>
                <a:latin typeface="Nunito Sans" pitchFamily="34" charset="0"/>
                <a:ea typeface="Nunito Sans" pitchFamily="34" charset="-122"/>
                <a:cs typeface="Nunito Sans" pitchFamily="34" charset="-120"/>
              </a:rPr>
              <a:t>SPEAKING FORMULA</a:t>
            </a:r>
            <a:endParaRPr lang="en-US" sz="2000" dirty="0"/>
          </a:p>
        </p:txBody>
      </p:sp>
      <p:sp>
        <p:nvSpPr>
          <p:cNvPr id="3" name="Text 1"/>
          <p:cNvSpPr>
            <a:spLocks noGrp="1"/>
          </p:cNvSpPr>
          <p:nvPr>
            <p:ph type="title"/>
          </p:nvPr>
        </p:nvSpPr>
        <p:spPr>
          <a:xfrm>
            <a:off x="812800" y="1051520"/>
            <a:ext cx="10883392" cy="444500"/>
          </a:xfrm>
          <a:prstGeom prst="rect">
            <a:avLst/>
          </a:prstGeom>
          <a:noFill/>
          <a:ln/>
        </p:spPr>
        <p:txBody>
          <a:bodyPr wrap="square" lIns="0" tIns="0" rIns="0" bIns="0" rtlCol="0" anchor="t">
            <a:normAutofit/>
          </a:bodyPr>
          <a:lstStyle/>
          <a:p>
            <a:pPr marL="0" indent="0" algn="l">
              <a:lnSpc>
                <a:spcPts val="3300"/>
              </a:lnSpc>
              <a:buNone/>
            </a:pPr>
            <a:r>
              <a:rPr lang="en-US" sz="2000" b="1" i="0" dirty="0">
                <a:solidFill>
                  <a:srgbClr val="1D3557"/>
                </a:solidFill>
                <a:latin typeface="Be Vietnam Pro" pitchFamily="34" charset="0"/>
                <a:ea typeface="Be Vietnam Pro" pitchFamily="34" charset="-122"/>
                <a:cs typeface="Be Vietnam Pro" pitchFamily="34" charset="-120"/>
              </a:rPr>
              <a:t>Build a stronger answer in three steps</a:t>
            </a:r>
            <a:endParaRPr lang="en-US" sz="2000" dirty="0"/>
          </a:p>
        </p:txBody>
      </p:sp>
      <p:sp>
        <p:nvSpPr>
          <p:cNvPr id="4" name="Shape 2"/>
          <p:cNvSpPr/>
          <p:nvPr/>
        </p:nvSpPr>
        <p:spPr>
          <a:xfrm>
            <a:off x="812800" y="1826220"/>
            <a:ext cx="3048000" cy="1972121"/>
          </a:xfrm>
          <a:prstGeom prst="roundRect">
            <a:avLst>
              <a:gd name="adj" fmla="val 6440"/>
            </a:avLst>
          </a:prstGeom>
          <a:solidFill>
            <a:srgbClr val="FFFEFB"/>
          </a:solidFill>
          <a:ln/>
        </p:spPr>
      </p:sp>
      <p:sp>
        <p:nvSpPr>
          <p:cNvPr id="5" name="Shape 3"/>
          <p:cNvSpPr/>
          <p:nvPr/>
        </p:nvSpPr>
        <p:spPr>
          <a:xfrm>
            <a:off x="812800" y="1826220"/>
            <a:ext cx="3048000" cy="1972121"/>
          </a:xfrm>
          <a:custGeom>
            <a:avLst/>
            <a:gdLst/>
            <a:ahLst/>
            <a:cxnLst/>
            <a:rect l="l" t="t" r="r" b="b"/>
            <a:pathLst>
              <a:path w="3048000" h="1972121">
                <a:moveTo>
                  <a:pt x="0" y="127000"/>
                </a:moveTo>
                <a:lnTo>
                  <a:pt x="0" y="127000"/>
                </a:lnTo>
                <a:arcTo wR="127000" hR="127000" stAng="10800000" swAng="5400000"/>
                <a:lnTo>
                  <a:pt x="2921000" y="0"/>
                </a:lnTo>
                <a:arcTo wR="127000" hR="127000" stAng="16200000" swAng="5400000"/>
                <a:lnTo>
                  <a:pt x="3048000" y="127000"/>
                </a:lnTo>
                <a:arcTo wR="127000" hR="76200" stAng="0" swAng="-5400000"/>
                <a:lnTo>
                  <a:pt x="127000" y="50800"/>
                </a:lnTo>
                <a:arcTo wR="127000" hR="76200" stAng="16200000" swAng="-5400000"/>
                <a:close/>
              </a:path>
            </a:pathLst>
          </a:custGeom>
          <a:solidFill>
            <a:srgbClr val="117279"/>
          </a:solidFill>
          <a:ln/>
        </p:spPr>
      </p:sp>
      <p:sp>
        <p:nvSpPr>
          <p:cNvPr id="6" name="Text 4"/>
          <p:cNvSpPr/>
          <p:nvPr/>
        </p:nvSpPr>
        <p:spPr>
          <a:xfrm>
            <a:off x="1066800" y="2105620"/>
            <a:ext cx="2616200" cy="238720"/>
          </a:xfrm>
          <a:prstGeom prst="rect">
            <a:avLst/>
          </a:prstGeom>
          <a:noFill/>
          <a:ln/>
        </p:spPr>
        <p:txBody>
          <a:bodyPr wrap="square" lIns="0" tIns="0" rIns="0" bIns="0" rtlCol="0" anchor="t">
            <a:normAutofit/>
          </a:bodyPr>
          <a:lstStyle/>
          <a:p>
            <a:pPr marL="0" indent="0" algn="l">
              <a:lnSpc>
                <a:spcPts val="1680"/>
              </a:lnSpc>
              <a:buNone/>
            </a:pPr>
            <a:r>
              <a:rPr lang="en-US" sz="2000" b="1" kern="0" spc="150" dirty="0">
                <a:solidFill>
                  <a:srgbClr val="117279"/>
                </a:solidFill>
                <a:latin typeface="Nunito Sans" pitchFamily="34" charset="0"/>
                <a:ea typeface="Nunito Sans" pitchFamily="34" charset="-122"/>
                <a:cs typeface="Nunito Sans" pitchFamily="34" charset="-120"/>
              </a:rPr>
              <a:t>1 • FEATURE</a:t>
            </a:r>
            <a:endParaRPr lang="en-US" sz="2000" dirty="0"/>
          </a:p>
        </p:txBody>
      </p:sp>
      <p:sp>
        <p:nvSpPr>
          <p:cNvPr id="7" name="Text 5"/>
          <p:cNvSpPr/>
          <p:nvPr/>
        </p:nvSpPr>
        <p:spPr>
          <a:xfrm>
            <a:off x="1066800" y="2420541"/>
            <a:ext cx="2616200" cy="299690"/>
          </a:xfrm>
          <a:prstGeom prst="rect">
            <a:avLst/>
          </a:prstGeom>
          <a:noFill/>
          <a:ln/>
        </p:spPr>
        <p:txBody>
          <a:bodyPr wrap="square" lIns="0" tIns="0" rIns="0" bIns="0" rtlCol="0" anchor="t">
            <a:normAutofit/>
          </a:bodyPr>
          <a:lstStyle/>
          <a:p>
            <a:pPr marL="0" indent="0" algn="l">
              <a:lnSpc>
                <a:spcPts val="2160"/>
              </a:lnSpc>
              <a:buNone/>
            </a:pPr>
            <a:r>
              <a:rPr lang="en-US" sz="2000" b="1" dirty="0">
                <a:solidFill>
                  <a:srgbClr val="1D3557"/>
                </a:solidFill>
                <a:latin typeface="Be Vietnam Pro" pitchFamily="34" charset="0"/>
                <a:ea typeface="Be Vietnam Pro" pitchFamily="34" charset="-122"/>
                <a:cs typeface="Be Vietnam Pro" pitchFamily="34" charset="-120"/>
              </a:rPr>
              <a:t>What will there be?</a:t>
            </a:r>
            <a:endParaRPr lang="en-US" sz="2000" dirty="0"/>
          </a:p>
        </p:txBody>
      </p:sp>
      <p:sp>
        <p:nvSpPr>
          <p:cNvPr id="8" name="Text 6"/>
          <p:cNvSpPr/>
          <p:nvPr/>
        </p:nvSpPr>
        <p:spPr>
          <a:xfrm>
            <a:off x="1066800" y="2796431"/>
            <a:ext cx="2616200" cy="540941"/>
          </a:xfrm>
          <a:prstGeom prst="rect">
            <a:avLst/>
          </a:prstGeom>
          <a:noFill/>
          <a:ln/>
        </p:spPr>
        <p:txBody>
          <a:bodyPr wrap="square" lIns="0" tIns="0" rIns="0" bIns="0" rtlCol="0" anchor="t">
            <a:noAutofit/>
          </a:bodyPr>
          <a:lstStyle/>
          <a:p>
            <a:pPr marL="0" indent="0" algn="l">
              <a:lnSpc>
                <a:spcPts val="2030"/>
              </a:lnSpc>
              <a:buNone/>
            </a:pPr>
            <a:r>
              <a:rPr lang="en-US" sz="2000" dirty="0">
                <a:solidFill>
                  <a:srgbClr val="2A3646"/>
                </a:solidFill>
                <a:latin typeface="Nunito Sans" pitchFamily="34" charset="0"/>
                <a:ea typeface="Nunito Sans" pitchFamily="34" charset="-122"/>
                <a:cs typeface="Nunito Sans" pitchFamily="34" charset="-120"/>
              </a:rPr>
              <a:t>Most people will use electric buses and trams.</a:t>
            </a:r>
            <a:endParaRPr lang="en-US" sz="2000" dirty="0"/>
          </a:p>
        </p:txBody>
      </p:sp>
      <p:pic>
        <p:nvPicPr>
          <p:cNvPr id="9" name="Image 0" descr="arrow-right"/>
          <p:cNvPicPr>
            <a:picLocks noChangeAspect="1"/>
          </p:cNvPicPr>
          <p:nvPr/>
        </p:nvPicPr>
        <p:blipFill>
          <a:blip r:embed="rId3"/>
          <a:srcRect/>
          <a:stretch/>
        </p:blipFill>
        <p:spPr>
          <a:xfrm>
            <a:off x="4013200" y="2710656"/>
            <a:ext cx="406400" cy="203200"/>
          </a:xfrm>
          <a:prstGeom prst="rect">
            <a:avLst/>
          </a:prstGeom>
        </p:spPr>
      </p:pic>
      <p:sp>
        <p:nvSpPr>
          <p:cNvPr id="10" name="Shape 7"/>
          <p:cNvSpPr/>
          <p:nvPr/>
        </p:nvSpPr>
        <p:spPr>
          <a:xfrm>
            <a:off x="4572000" y="1826220"/>
            <a:ext cx="3048000" cy="1972121"/>
          </a:xfrm>
          <a:prstGeom prst="roundRect">
            <a:avLst>
              <a:gd name="adj" fmla="val 6440"/>
            </a:avLst>
          </a:prstGeom>
          <a:solidFill>
            <a:srgbClr val="FFFEFB"/>
          </a:solidFill>
          <a:ln/>
        </p:spPr>
      </p:sp>
      <p:sp>
        <p:nvSpPr>
          <p:cNvPr id="11" name="Shape 8"/>
          <p:cNvSpPr/>
          <p:nvPr/>
        </p:nvSpPr>
        <p:spPr>
          <a:xfrm>
            <a:off x="4572000" y="1826220"/>
            <a:ext cx="3048000" cy="1972121"/>
          </a:xfrm>
          <a:custGeom>
            <a:avLst/>
            <a:gdLst/>
            <a:ahLst/>
            <a:cxnLst/>
            <a:rect l="l" t="t" r="r" b="b"/>
            <a:pathLst>
              <a:path w="3048000" h="1972121">
                <a:moveTo>
                  <a:pt x="0" y="127000"/>
                </a:moveTo>
                <a:lnTo>
                  <a:pt x="0" y="127000"/>
                </a:lnTo>
                <a:arcTo wR="127000" hR="127000" stAng="10800000" swAng="5400000"/>
                <a:lnTo>
                  <a:pt x="2921000" y="0"/>
                </a:lnTo>
                <a:arcTo wR="127000" hR="127000" stAng="16200000" swAng="5400000"/>
                <a:lnTo>
                  <a:pt x="3048000" y="127000"/>
                </a:lnTo>
                <a:arcTo wR="127000" hR="76200" stAng="0" swAng="-5400000"/>
                <a:lnTo>
                  <a:pt x="127000" y="50800"/>
                </a:lnTo>
                <a:arcTo wR="127000" hR="76200" stAng="16200000" swAng="-5400000"/>
                <a:close/>
              </a:path>
            </a:pathLst>
          </a:custGeom>
          <a:solidFill>
            <a:srgbClr val="E8762A"/>
          </a:solidFill>
          <a:ln/>
        </p:spPr>
      </p:sp>
      <p:sp>
        <p:nvSpPr>
          <p:cNvPr id="12" name="Text 9"/>
          <p:cNvSpPr/>
          <p:nvPr/>
        </p:nvSpPr>
        <p:spPr>
          <a:xfrm>
            <a:off x="4826000" y="2105619"/>
            <a:ext cx="2794000" cy="264121"/>
          </a:xfrm>
          <a:prstGeom prst="rect">
            <a:avLst/>
          </a:prstGeom>
          <a:noFill/>
          <a:ln/>
        </p:spPr>
        <p:txBody>
          <a:bodyPr wrap="square" lIns="0" tIns="0" rIns="0" bIns="0" rtlCol="0" anchor="t">
            <a:noAutofit/>
          </a:bodyPr>
          <a:lstStyle/>
          <a:p>
            <a:pPr marL="0" indent="0" algn="l">
              <a:lnSpc>
                <a:spcPts val="1680"/>
              </a:lnSpc>
              <a:buNone/>
            </a:pPr>
            <a:r>
              <a:rPr lang="en-US" sz="2000" b="1" kern="0" spc="150" dirty="0">
                <a:solidFill>
                  <a:srgbClr val="B4500F"/>
                </a:solidFill>
                <a:latin typeface="Nunito Sans" pitchFamily="34" charset="0"/>
                <a:ea typeface="Nunito Sans" pitchFamily="34" charset="-122"/>
                <a:cs typeface="Nunito Sans" pitchFamily="34" charset="-120"/>
              </a:rPr>
              <a:t>2 • HOW IT WORKS</a:t>
            </a:r>
            <a:endParaRPr lang="en-US" sz="2000" dirty="0"/>
          </a:p>
        </p:txBody>
      </p:sp>
      <p:sp>
        <p:nvSpPr>
          <p:cNvPr id="13" name="Text 10"/>
          <p:cNvSpPr/>
          <p:nvPr/>
        </p:nvSpPr>
        <p:spPr>
          <a:xfrm>
            <a:off x="4826000" y="2420541"/>
            <a:ext cx="2616200" cy="299690"/>
          </a:xfrm>
          <a:prstGeom prst="rect">
            <a:avLst/>
          </a:prstGeom>
          <a:noFill/>
          <a:ln/>
        </p:spPr>
        <p:txBody>
          <a:bodyPr wrap="square" lIns="0" tIns="0" rIns="0" bIns="0" rtlCol="0" anchor="t">
            <a:normAutofit/>
          </a:bodyPr>
          <a:lstStyle/>
          <a:p>
            <a:pPr marL="0" indent="0" algn="l">
              <a:lnSpc>
                <a:spcPts val="2160"/>
              </a:lnSpc>
              <a:buNone/>
            </a:pPr>
            <a:r>
              <a:rPr lang="en-US" sz="2000" b="1" dirty="0">
                <a:solidFill>
                  <a:srgbClr val="1D3557"/>
                </a:solidFill>
                <a:latin typeface="Be Vietnam Pro" pitchFamily="34" charset="0"/>
                <a:ea typeface="Be Vietnam Pro" pitchFamily="34" charset="-122"/>
                <a:cs typeface="Be Vietnam Pro" pitchFamily="34" charset="-120"/>
              </a:rPr>
              <a:t>How will it work?</a:t>
            </a:r>
            <a:endParaRPr lang="en-US" sz="2000" dirty="0"/>
          </a:p>
        </p:txBody>
      </p:sp>
      <p:sp>
        <p:nvSpPr>
          <p:cNvPr id="14" name="Text 11"/>
          <p:cNvSpPr/>
          <p:nvPr/>
        </p:nvSpPr>
        <p:spPr>
          <a:xfrm>
            <a:off x="4826000" y="2796431"/>
            <a:ext cx="2616200" cy="798711"/>
          </a:xfrm>
          <a:prstGeom prst="rect">
            <a:avLst/>
          </a:prstGeom>
          <a:noFill/>
          <a:ln/>
        </p:spPr>
        <p:txBody>
          <a:bodyPr wrap="square" lIns="0" tIns="0" rIns="0" bIns="0" rtlCol="0" anchor="t">
            <a:noAutofit/>
          </a:bodyPr>
          <a:lstStyle/>
          <a:p>
            <a:pPr marL="0" indent="0" algn="l">
              <a:lnSpc>
                <a:spcPts val="2030"/>
              </a:lnSpc>
              <a:buNone/>
            </a:pPr>
            <a:r>
              <a:rPr lang="en-US" sz="2000" dirty="0">
                <a:solidFill>
                  <a:srgbClr val="2A3646"/>
                </a:solidFill>
                <a:latin typeface="Nunito Sans" pitchFamily="34" charset="0"/>
                <a:ea typeface="Nunito Sans" pitchFamily="34" charset="-122"/>
                <a:cs typeface="Nunito Sans" pitchFamily="34" charset="-120"/>
              </a:rPr>
              <a:t>They will be controlled by computers and run on clean energy.</a:t>
            </a:r>
            <a:endParaRPr lang="en-US" sz="2000" dirty="0"/>
          </a:p>
        </p:txBody>
      </p:sp>
      <p:pic>
        <p:nvPicPr>
          <p:cNvPr id="15" name="Image 1" descr="arrow-right"/>
          <p:cNvPicPr>
            <a:picLocks noChangeAspect="1"/>
          </p:cNvPicPr>
          <p:nvPr/>
        </p:nvPicPr>
        <p:blipFill>
          <a:blip r:embed="rId3"/>
          <a:srcRect/>
          <a:stretch/>
        </p:blipFill>
        <p:spPr>
          <a:xfrm>
            <a:off x="7772400" y="2710656"/>
            <a:ext cx="406400" cy="203200"/>
          </a:xfrm>
          <a:prstGeom prst="rect">
            <a:avLst/>
          </a:prstGeom>
        </p:spPr>
      </p:pic>
      <p:sp>
        <p:nvSpPr>
          <p:cNvPr id="16" name="Shape 12"/>
          <p:cNvSpPr/>
          <p:nvPr/>
        </p:nvSpPr>
        <p:spPr>
          <a:xfrm>
            <a:off x="8331200" y="1826220"/>
            <a:ext cx="3048000" cy="1972121"/>
          </a:xfrm>
          <a:prstGeom prst="roundRect">
            <a:avLst>
              <a:gd name="adj" fmla="val 6440"/>
            </a:avLst>
          </a:prstGeom>
          <a:solidFill>
            <a:srgbClr val="FFFEFB"/>
          </a:solidFill>
          <a:ln/>
        </p:spPr>
      </p:sp>
      <p:sp>
        <p:nvSpPr>
          <p:cNvPr id="17" name="Shape 13"/>
          <p:cNvSpPr/>
          <p:nvPr/>
        </p:nvSpPr>
        <p:spPr>
          <a:xfrm>
            <a:off x="8331200" y="1826220"/>
            <a:ext cx="3048000" cy="1972121"/>
          </a:xfrm>
          <a:custGeom>
            <a:avLst/>
            <a:gdLst/>
            <a:ahLst/>
            <a:cxnLst/>
            <a:rect l="l" t="t" r="r" b="b"/>
            <a:pathLst>
              <a:path w="3048000" h="1972121">
                <a:moveTo>
                  <a:pt x="0" y="127000"/>
                </a:moveTo>
                <a:lnTo>
                  <a:pt x="0" y="127000"/>
                </a:lnTo>
                <a:arcTo wR="127000" hR="127000" stAng="10800000" swAng="5400000"/>
                <a:lnTo>
                  <a:pt x="2921000" y="0"/>
                </a:lnTo>
                <a:arcTo wR="127000" hR="127000" stAng="16200000" swAng="5400000"/>
                <a:lnTo>
                  <a:pt x="3048000" y="127000"/>
                </a:lnTo>
                <a:arcTo wR="127000" hR="76200" stAng="0" swAng="-5400000"/>
                <a:lnTo>
                  <a:pt x="127000" y="50800"/>
                </a:lnTo>
                <a:arcTo wR="127000" hR="76200" stAng="16200000" swAng="-5400000"/>
                <a:close/>
              </a:path>
            </a:pathLst>
          </a:custGeom>
          <a:solidFill>
            <a:srgbClr val="1D3557"/>
          </a:solidFill>
          <a:ln/>
        </p:spPr>
      </p:sp>
      <p:sp>
        <p:nvSpPr>
          <p:cNvPr id="18" name="Text 14"/>
          <p:cNvSpPr/>
          <p:nvPr/>
        </p:nvSpPr>
        <p:spPr>
          <a:xfrm>
            <a:off x="8585200" y="2105620"/>
            <a:ext cx="2616200" cy="238720"/>
          </a:xfrm>
          <a:prstGeom prst="rect">
            <a:avLst/>
          </a:prstGeom>
          <a:noFill/>
          <a:ln/>
        </p:spPr>
        <p:txBody>
          <a:bodyPr wrap="square" lIns="0" tIns="0" rIns="0" bIns="0" rtlCol="0" anchor="t">
            <a:normAutofit/>
          </a:bodyPr>
          <a:lstStyle/>
          <a:p>
            <a:pPr marL="0" indent="0" algn="l">
              <a:lnSpc>
                <a:spcPts val="1680"/>
              </a:lnSpc>
              <a:buNone/>
            </a:pPr>
            <a:r>
              <a:rPr lang="en-US" sz="2000" b="1" kern="0" spc="150" dirty="0">
                <a:solidFill>
                  <a:srgbClr val="1D3557"/>
                </a:solidFill>
                <a:latin typeface="Nunito Sans" pitchFamily="34" charset="0"/>
                <a:ea typeface="Nunito Sans" pitchFamily="34" charset="-122"/>
                <a:cs typeface="Nunito Sans" pitchFamily="34" charset="-120"/>
              </a:rPr>
              <a:t>3 • BENEFIT</a:t>
            </a:r>
            <a:endParaRPr lang="en-US" sz="2000" dirty="0"/>
          </a:p>
        </p:txBody>
      </p:sp>
      <p:sp>
        <p:nvSpPr>
          <p:cNvPr id="19" name="Text 15"/>
          <p:cNvSpPr/>
          <p:nvPr/>
        </p:nvSpPr>
        <p:spPr>
          <a:xfrm>
            <a:off x="8585200" y="2420541"/>
            <a:ext cx="2616200" cy="299690"/>
          </a:xfrm>
          <a:prstGeom prst="rect">
            <a:avLst/>
          </a:prstGeom>
          <a:noFill/>
          <a:ln/>
        </p:spPr>
        <p:txBody>
          <a:bodyPr wrap="square" lIns="0" tIns="0" rIns="0" bIns="0" rtlCol="0" anchor="t">
            <a:normAutofit/>
          </a:bodyPr>
          <a:lstStyle/>
          <a:p>
            <a:pPr marL="0" indent="0" algn="l">
              <a:lnSpc>
                <a:spcPts val="2160"/>
              </a:lnSpc>
              <a:buNone/>
            </a:pPr>
            <a:r>
              <a:rPr lang="en-US" sz="2000" b="1" dirty="0">
                <a:solidFill>
                  <a:srgbClr val="1D3557"/>
                </a:solidFill>
                <a:latin typeface="Be Vietnam Pro" pitchFamily="34" charset="0"/>
                <a:ea typeface="Be Vietnam Pro" pitchFamily="34" charset="-122"/>
                <a:cs typeface="Be Vietnam Pro" pitchFamily="34" charset="-120"/>
              </a:rPr>
              <a:t>Why will it help?</a:t>
            </a:r>
            <a:endParaRPr lang="en-US" sz="2000" dirty="0"/>
          </a:p>
        </p:txBody>
      </p:sp>
      <p:sp>
        <p:nvSpPr>
          <p:cNvPr id="20" name="Text 16"/>
          <p:cNvSpPr/>
          <p:nvPr/>
        </p:nvSpPr>
        <p:spPr>
          <a:xfrm>
            <a:off x="8585200" y="2796431"/>
            <a:ext cx="2616200" cy="798711"/>
          </a:xfrm>
          <a:prstGeom prst="rect">
            <a:avLst/>
          </a:prstGeom>
          <a:noFill/>
          <a:ln/>
        </p:spPr>
        <p:txBody>
          <a:bodyPr wrap="square" lIns="0" tIns="0" rIns="0" bIns="0" rtlCol="0" anchor="t">
            <a:normAutofit/>
          </a:bodyPr>
          <a:lstStyle/>
          <a:p>
            <a:pPr marL="0" indent="0" algn="l">
              <a:lnSpc>
                <a:spcPts val="2030"/>
              </a:lnSpc>
              <a:buNone/>
            </a:pPr>
            <a:r>
              <a:rPr lang="en-US" sz="2000" dirty="0">
                <a:solidFill>
                  <a:srgbClr val="2A3646"/>
                </a:solidFill>
                <a:latin typeface="Nunito Sans" pitchFamily="34" charset="0"/>
                <a:ea typeface="Nunito Sans" pitchFamily="34" charset="-122"/>
                <a:cs typeface="Nunito Sans" pitchFamily="34" charset="-120"/>
              </a:rPr>
              <a:t>As a result, there will be fewer traffic jams and less air pollution.</a:t>
            </a:r>
            <a:endParaRPr lang="en-US" sz="2000" dirty="0"/>
          </a:p>
        </p:txBody>
      </p:sp>
      <p:sp>
        <p:nvSpPr>
          <p:cNvPr id="21" name="Shape 17"/>
          <p:cNvSpPr/>
          <p:nvPr/>
        </p:nvSpPr>
        <p:spPr>
          <a:xfrm>
            <a:off x="812800" y="4153942"/>
            <a:ext cx="10566400" cy="953691"/>
          </a:xfrm>
          <a:prstGeom prst="roundRect">
            <a:avLst>
              <a:gd name="adj" fmla="val 13317"/>
            </a:avLst>
          </a:prstGeom>
          <a:solidFill>
            <a:srgbClr val="EEF4F3"/>
          </a:solidFill>
          <a:ln/>
        </p:spPr>
      </p:sp>
      <p:sp>
        <p:nvSpPr>
          <p:cNvPr id="22" name="Text 18"/>
          <p:cNvSpPr/>
          <p:nvPr/>
        </p:nvSpPr>
        <p:spPr>
          <a:xfrm>
            <a:off x="1066800" y="4357142"/>
            <a:ext cx="10360152" cy="238720"/>
          </a:xfrm>
          <a:prstGeom prst="rect">
            <a:avLst/>
          </a:prstGeom>
          <a:noFill/>
          <a:ln/>
        </p:spPr>
        <p:txBody>
          <a:bodyPr wrap="square" lIns="0" tIns="0" rIns="0" bIns="0" rtlCol="0" anchor="t">
            <a:normAutofit/>
          </a:bodyPr>
          <a:lstStyle/>
          <a:p>
            <a:pPr marL="0" indent="0" algn="l">
              <a:lnSpc>
                <a:spcPts val="1680"/>
              </a:lnSpc>
              <a:buNone/>
            </a:pPr>
            <a:r>
              <a:rPr lang="en-US" sz="2000" b="1" kern="0" spc="150" dirty="0">
                <a:solidFill>
                  <a:srgbClr val="117279"/>
                </a:solidFill>
                <a:latin typeface="Nunito Sans" pitchFamily="34" charset="0"/>
                <a:ea typeface="Nunito Sans" pitchFamily="34" charset="-122"/>
                <a:cs typeface="Nunito Sans" pitchFamily="34" charset="-120"/>
              </a:rPr>
              <a:t>YOUR TURN</a:t>
            </a:r>
            <a:endParaRPr lang="en-US" sz="2000" dirty="0"/>
          </a:p>
        </p:txBody>
      </p:sp>
      <p:sp>
        <p:nvSpPr>
          <p:cNvPr id="23" name="Text 19"/>
          <p:cNvSpPr/>
          <p:nvPr/>
        </p:nvSpPr>
        <p:spPr>
          <a:xfrm>
            <a:off x="1066800" y="4646662"/>
            <a:ext cx="10360152" cy="283170"/>
          </a:xfrm>
          <a:prstGeom prst="rect">
            <a:avLst/>
          </a:prstGeom>
          <a:noFill/>
          <a:ln/>
        </p:spPr>
        <p:txBody>
          <a:bodyPr wrap="square" lIns="0" tIns="0" rIns="0" bIns="0" rtlCol="0" anchor="t">
            <a:normAutofit/>
          </a:bodyPr>
          <a:lstStyle/>
          <a:p>
            <a:pPr marL="0" indent="0" algn="l">
              <a:lnSpc>
                <a:spcPts val="2030"/>
              </a:lnSpc>
              <a:buNone/>
            </a:pPr>
            <a:r>
              <a:rPr lang="en-US" sz="2000" dirty="0">
                <a:solidFill>
                  <a:srgbClr val="2A3646"/>
                </a:solidFill>
                <a:latin typeface="Nunito Sans" pitchFamily="34" charset="0"/>
                <a:ea typeface="Nunito Sans" pitchFamily="34" charset="-122"/>
                <a:cs typeface="Nunito Sans" pitchFamily="34" charset="-120"/>
              </a:rPr>
              <a:t>Future cities will have smart street lights. They will ________. This will help ________.</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AF6"/>
        </a:solidFill>
        <a:effectLst/>
      </p:bgPr>
    </p:bg>
    <p:spTree>
      <p:nvGrpSpPr>
        <p:cNvPr id="1" name=""/>
        <p:cNvGrpSpPr/>
        <p:nvPr/>
      </p:nvGrpSpPr>
      <p:grpSpPr>
        <a:xfrm>
          <a:off x="0" y="0"/>
          <a:ext cx="0" cy="0"/>
          <a:chOff x="0" y="0"/>
          <a:chExt cx="0" cy="0"/>
        </a:xfrm>
      </p:grpSpPr>
      <p:sp>
        <p:nvSpPr>
          <p:cNvPr id="2" name="Text 0"/>
          <p:cNvSpPr/>
          <p:nvPr/>
        </p:nvSpPr>
        <p:spPr>
          <a:xfrm>
            <a:off x="812800" y="7620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17279"/>
                </a:solidFill>
                <a:latin typeface="Nunito Sans" pitchFamily="34" charset="0"/>
                <a:ea typeface="Nunito Sans" pitchFamily="34" charset="-122"/>
                <a:cs typeface="Nunito Sans" pitchFamily="34" charset="-120"/>
              </a:rPr>
              <a:t>IDEA BANK</a:t>
            </a:r>
            <a:endParaRPr lang="en-US" sz="1200" dirty="0"/>
          </a:p>
        </p:txBody>
      </p:sp>
      <p:sp>
        <p:nvSpPr>
          <p:cNvPr id="3" name="Text 1"/>
          <p:cNvSpPr>
            <a:spLocks noGrp="1"/>
          </p:cNvSpPr>
          <p:nvPr>
            <p:ph type="title"/>
          </p:nvPr>
        </p:nvSpPr>
        <p:spPr>
          <a:xfrm>
            <a:off x="812800" y="10515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D3557"/>
                </a:solidFill>
                <a:latin typeface="Be Vietnam Pro" pitchFamily="34" charset="0"/>
                <a:ea typeface="Be Vietnam Pro" pitchFamily="34" charset="-122"/>
                <a:cs typeface="Be Vietnam Pro" pitchFamily="34" charset="-120"/>
              </a:rPr>
              <a:t>Three features of future cities</a:t>
            </a:r>
            <a:endParaRPr lang="en-US" sz="3000" dirty="0"/>
          </a:p>
        </p:txBody>
      </p:sp>
      <p:sp>
        <p:nvSpPr>
          <p:cNvPr id="4" name="Shape 2"/>
          <p:cNvSpPr/>
          <p:nvPr/>
        </p:nvSpPr>
        <p:spPr>
          <a:xfrm>
            <a:off x="812800" y="1775420"/>
            <a:ext cx="10566400" cy="2981722"/>
          </a:xfrm>
          <a:custGeom>
            <a:avLst/>
            <a:gdLst/>
            <a:ahLst/>
            <a:cxnLst/>
            <a:rect l="l" t="t" r="r" b="b"/>
            <a:pathLst>
              <a:path w="10566400" h="2981722">
                <a:moveTo>
                  <a:pt x="10464800" y="0"/>
                </a:moveTo>
                <a:lnTo>
                  <a:pt x="10464800" y="0"/>
                </a:lnTo>
                <a:arcTo wR="101600" hR="101600" stAng="16200000" swAng="5400000"/>
                <a:lnTo>
                  <a:pt x="10566400" y="2880122"/>
                </a:lnTo>
                <a:arcTo wR="101600" hR="101600" stAng="0" swAng="5400000"/>
                <a:lnTo>
                  <a:pt x="101600" y="2981722"/>
                </a:lnTo>
                <a:arcTo wR="101600" hR="101600" stAng="5400000" swAng="5400000"/>
                <a:lnTo>
                  <a:pt x="0" y="2880122"/>
                </a:lnTo>
                <a:arcTo wR="101600" hR="88900" stAng="10800000" swAng="-5400000"/>
                <a:lnTo>
                  <a:pt x="10464800" y="2969022"/>
                </a:lnTo>
                <a:arcTo wR="88900" hR="88900" stAng="5400000" swAng="-5400000"/>
                <a:lnTo>
                  <a:pt x="10553700" y="101600"/>
                </a:lnTo>
                <a:arcTo wR="88900" hR="101600" stAng="0" swAng="-5400000"/>
                <a:close/>
              </a:path>
            </a:pathLst>
          </a:custGeom>
          <a:solidFill>
            <a:srgbClr val="DCE5E8"/>
          </a:solidFill>
          <a:ln/>
        </p:spPr>
      </p:sp>
      <p:sp>
        <p:nvSpPr>
          <p:cNvPr id="5" name="Shape 3"/>
          <p:cNvSpPr/>
          <p:nvPr/>
        </p:nvSpPr>
        <p:spPr>
          <a:xfrm>
            <a:off x="812800" y="1775420"/>
            <a:ext cx="10566400" cy="2981722"/>
          </a:xfrm>
          <a:custGeom>
            <a:avLst/>
            <a:gdLst/>
            <a:ahLst/>
            <a:cxnLst/>
            <a:rect l="l" t="t" r="r" b="b"/>
            <a:pathLst>
              <a:path w="10566400" h="2981722">
                <a:moveTo>
                  <a:pt x="101600" y="2981722"/>
                </a:moveTo>
                <a:lnTo>
                  <a:pt x="101600" y="2981722"/>
                </a:lnTo>
                <a:arcTo wR="101600" hR="101600" stAng="5400000" swAng="5400000"/>
                <a:lnTo>
                  <a:pt x="0" y="101600"/>
                </a:lnTo>
                <a:arcTo wR="101600" hR="101600" stAng="10800000" swAng="5400000"/>
                <a:lnTo>
                  <a:pt x="10464800" y="0"/>
                </a:lnTo>
                <a:arcTo wR="101600" hR="101600" stAng="16200000" swAng="5400000"/>
                <a:lnTo>
                  <a:pt x="10566400" y="101600"/>
                </a:lnTo>
                <a:arcTo wR="101600" hR="88900" stAng="0" swAng="-5400000"/>
                <a:lnTo>
                  <a:pt x="101600" y="12700"/>
                </a:lnTo>
                <a:arcTo wR="88900" hR="88900" stAng="16200000" swAng="-5400000"/>
                <a:lnTo>
                  <a:pt x="12700" y="2880122"/>
                </a:lnTo>
                <a:arcTo wR="88900" hR="101600" stAng="10800000" swAng="-5400000"/>
                <a:close/>
              </a:path>
            </a:pathLst>
          </a:custGeom>
          <a:solidFill>
            <a:srgbClr val="141413">
              <a:alpha val="22000"/>
            </a:srgbClr>
          </a:solidFill>
          <a:ln/>
        </p:spPr>
      </p:sp>
      <p:graphicFrame>
        <p:nvGraphicFramePr>
          <p:cNvPr id="6" name="Table 0"/>
          <p:cNvGraphicFramePr>
            <a:graphicFrameLocks noGrp="1"/>
          </p:cNvGraphicFramePr>
          <p:nvPr>
            <p:extLst>
              <p:ext uri="{D42A27DB-BD31-4B8C-83A1-F6EECF244321}">
                <p14:modId xmlns:p14="http://schemas.microsoft.com/office/powerpoint/2010/main" val="1706269340"/>
              </p:ext>
            </p:extLst>
          </p:nvPr>
        </p:nvGraphicFramePr>
        <p:xfrm>
          <a:off x="825500" y="1788120"/>
          <a:ext cx="10541000" cy="3759200"/>
        </p:xfrm>
        <a:graphic>
          <a:graphicData uri="http://schemas.openxmlformats.org/drawingml/2006/table">
            <a:tbl>
              <a:tblPr/>
              <a:tblGrid>
                <a:gridCol w="2319020">
                  <a:extLst>
                    <a:ext uri="{9D8B030D-6E8A-4147-A177-3AD203B41FA5}">
                      <a16:colId xmlns:a16="http://schemas.microsoft.com/office/drawing/2014/main" val="20000"/>
                    </a:ext>
                  </a:extLst>
                </a:gridCol>
                <a:gridCol w="5059680">
                  <a:extLst>
                    <a:ext uri="{9D8B030D-6E8A-4147-A177-3AD203B41FA5}">
                      <a16:colId xmlns:a16="http://schemas.microsoft.com/office/drawing/2014/main" val="20001"/>
                    </a:ext>
                  </a:extLst>
                </a:gridCol>
                <a:gridCol w="3162300">
                  <a:extLst>
                    <a:ext uri="{9D8B030D-6E8A-4147-A177-3AD203B41FA5}">
                      <a16:colId xmlns:a16="http://schemas.microsoft.com/office/drawing/2014/main" val="20002"/>
                    </a:ext>
                  </a:extLst>
                </a:gridCol>
              </a:tblGrid>
              <a:tr h="490190">
                <a:tc>
                  <a:txBody>
                    <a:bodyPr/>
                    <a:lstStyle/>
                    <a:p>
                      <a:pPr marL="0" indent="0">
                        <a:lnSpc>
                          <a:spcPts val="1960"/>
                        </a:lnSpc>
                        <a:buNone/>
                      </a:pPr>
                      <a:r>
                        <a:rPr lang="en-US" sz="2000" b="1" dirty="0">
                          <a:solidFill>
                            <a:srgbClr val="F3F1EA"/>
                          </a:solidFill>
                          <a:latin typeface="Nunito Sans" pitchFamily="34" charset="0"/>
                          <a:ea typeface="Nunito Sans" pitchFamily="34" charset="-122"/>
                          <a:cs typeface="Nunito Sans" pitchFamily="34" charset="-120"/>
                        </a:rPr>
                        <a:t>FEATURE</a:t>
                      </a:r>
                      <a:endParaRPr lang="en-US" sz="2000" dirty="0">
                        <a:latin typeface="Nunito Sans" charset="0"/>
                        <a:ea typeface="Nunito Sans" charset="0"/>
                        <a:cs typeface="Nunito Sans" charset="0"/>
                      </a:endParaRPr>
                    </a:p>
                  </a:txBody>
                  <a:tcPr marL="152400" marR="152400" marT="114300" marB="114300">
                    <a:lnL w="0" cap="flat" cmpd="sng" algn="ctr">
                      <a:noFill/>
                    </a:lnL>
                    <a:lnR w="12700" cap="flat" cmpd="sng" algn="ctr">
                      <a:solidFill>
                        <a:srgbClr val="1B2E48"/>
                      </a:solidFill>
                      <a:prstDash val="solid"/>
                      <a:round/>
                      <a:headEnd type="none" w="med" len="med"/>
                      <a:tailEnd type="none" w="med" len="med"/>
                    </a:lnR>
                    <a:lnT w="0" cap="flat" cmpd="sng" algn="ctr">
                      <a:noFill/>
                    </a:lnT>
                    <a:lnB w="12700" cap="flat" cmpd="sng" algn="ctr">
                      <a:solidFill>
                        <a:srgbClr val="1B2E48"/>
                      </a:solidFill>
                      <a:prstDash val="solid"/>
                      <a:round/>
                      <a:headEnd type="none" w="med" len="med"/>
                      <a:tailEnd type="none" w="med" len="med"/>
                    </a:lnB>
                    <a:solidFill>
                      <a:srgbClr val="1D3557"/>
                    </a:solidFill>
                  </a:tcPr>
                </a:tc>
                <a:tc>
                  <a:txBody>
                    <a:bodyPr/>
                    <a:lstStyle/>
                    <a:p>
                      <a:pPr marL="0" indent="0">
                        <a:lnSpc>
                          <a:spcPts val="1960"/>
                        </a:lnSpc>
                        <a:buNone/>
                      </a:pPr>
                      <a:r>
                        <a:rPr lang="en-US" sz="2000" b="1" dirty="0">
                          <a:solidFill>
                            <a:srgbClr val="F3F1EA"/>
                          </a:solidFill>
                          <a:latin typeface="Nunito Sans" pitchFamily="34" charset="0"/>
                          <a:ea typeface="Nunito Sans" pitchFamily="34" charset="-122"/>
                          <a:cs typeface="Nunito Sans" pitchFamily="34" charset="-120"/>
                        </a:rPr>
                        <a:t>KEY IDEAS</a:t>
                      </a:r>
                      <a:endParaRPr lang="en-US" sz="2000" dirty="0">
                        <a:latin typeface="Nunito Sans" charset="0"/>
                        <a:ea typeface="Nunito Sans" charset="0"/>
                        <a:cs typeface="Nunito Sans" charset="0"/>
                      </a:endParaRPr>
                    </a:p>
                  </a:txBody>
                  <a:tcPr marL="152400" marR="152400" marT="114300" marB="114300">
                    <a:lnL w="12700" cap="flat" cmpd="sng" algn="ctr">
                      <a:solidFill>
                        <a:srgbClr val="1B2E48"/>
                      </a:solidFill>
                      <a:prstDash val="solid"/>
                      <a:round/>
                      <a:headEnd type="none" w="med" len="med"/>
                      <a:tailEnd type="none" w="med" len="med"/>
                    </a:lnL>
                    <a:lnR w="12700" cap="flat" cmpd="sng" algn="ctr">
                      <a:solidFill>
                        <a:srgbClr val="1B2E48"/>
                      </a:solidFill>
                      <a:prstDash val="solid"/>
                      <a:round/>
                      <a:headEnd type="none" w="med" len="med"/>
                      <a:tailEnd type="none" w="med" len="med"/>
                    </a:lnR>
                    <a:lnT w="0" cap="flat" cmpd="sng" algn="ctr">
                      <a:noFill/>
                    </a:lnT>
                    <a:lnB w="12700" cap="flat" cmpd="sng" algn="ctr">
                      <a:solidFill>
                        <a:srgbClr val="1B2E48"/>
                      </a:solidFill>
                      <a:prstDash val="solid"/>
                      <a:round/>
                      <a:headEnd type="none" w="med" len="med"/>
                      <a:tailEnd type="none" w="med" len="med"/>
                    </a:lnB>
                    <a:solidFill>
                      <a:srgbClr val="1D3557"/>
                    </a:solidFill>
                  </a:tcPr>
                </a:tc>
                <a:tc>
                  <a:txBody>
                    <a:bodyPr/>
                    <a:lstStyle/>
                    <a:p>
                      <a:pPr marL="0" indent="0">
                        <a:lnSpc>
                          <a:spcPts val="1960"/>
                        </a:lnSpc>
                        <a:buNone/>
                      </a:pPr>
                      <a:r>
                        <a:rPr lang="en-US" sz="2000" b="1" dirty="0">
                          <a:solidFill>
                            <a:srgbClr val="F3F1EA"/>
                          </a:solidFill>
                          <a:latin typeface="Nunito Sans" pitchFamily="34" charset="0"/>
                          <a:ea typeface="Nunito Sans" pitchFamily="34" charset="-122"/>
                          <a:cs typeface="Nunito Sans" pitchFamily="34" charset="-120"/>
                        </a:rPr>
                        <a:t>BENEFITS</a:t>
                      </a:r>
                      <a:endParaRPr lang="en-US" sz="2000" dirty="0">
                        <a:latin typeface="Nunito Sans" charset="0"/>
                        <a:ea typeface="Nunito Sans" charset="0"/>
                        <a:cs typeface="Nunito Sans" charset="0"/>
                      </a:endParaRPr>
                    </a:p>
                  </a:txBody>
                  <a:tcPr marL="152400" marR="152400" marT="114300" marB="114300">
                    <a:lnL w="12700" cap="flat" cmpd="sng" algn="ctr">
                      <a:solidFill>
                        <a:srgbClr val="1B2E48"/>
                      </a:solidFill>
                      <a:prstDash val="solid"/>
                      <a:round/>
                      <a:headEnd type="none" w="med" len="med"/>
                      <a:tailEnd type="none" w="med" len="med"/>
                    </a:lnL>
                    <a:lnR w="12700" cap="flat" cmpd="sng" algn="ctr">
                      <a:solidFill>
                        <a:srgbClr val="1B2E48"/>
                      </a:solidFill>
                      <a:prstDash val="solid"/>
                      <a:round/>
                      <a:headEnd type="none" w="med" len="med"/>
                      <a:tailEnd type="none" w="med" len="med"/>
                    </a:lnR>
                    <a:lnT w="0" cap="flat" cmpd="sng" algn="ctr">
                      <a:noFill/>
                    </a:lnT>
                    <a:lnB w="12700" cap="flat" cmpd="sng" algn="ctr">
                      <a:solidFill>
                        <a:srgbClr val="1B2E48"/>
                      </a:solidFill>
                      <a:prstDash val="solid"/>
                      <a:round/>
                      <a:headEnd type="none" w="med" len="med"/>
                      <a:tailEnd type="none" w="med" len="med"/>
                    </a:lnB>
                    <a:solidFill>
                      <a:srgbClr val="1D3557"/>
                    </a:solidFill>
                  </a:tcPr>
                </a:tc>
                <a:extLst>
                  <a:ext uri="{0D108BD9-81ED-4DB2-BD59-A6C34878D82A}">
                    <a16:rowId xmlns:a16="http://schemas.microsoft.com/office/drawing/2014/main" val="10000"/>
                  </a:ext>
                </a:extLst>
              </a:tr>
              <a:tr h="987971">
                <a:tc>
                  <a:txBody>
                    <a:bodyPr/>
                    <a:lstStyle/>
                    <a:p>
                      <a:pPr marL="0" indent="0">
                        <a:lnSpc>
                          <a:spcPts val="1960"/>
                        </a:lnSpc>
                        <a:buNone/>
                      </a:pPr>
                      <a:r>
                        <a:rPr lang="en-US" sz="2000" dirty="0">
                          <a:solidFill>
                            <a:srgbClr val="1D3557"/>
                          </a:solidFill>
                          <a:latin typeface="Nunito Sans" pitchFamily="34" charset="0"/>
                          <a:ea typeface="Nunito Sans" pitchFamily="34" charset="-122"/>
                          <a:cs typeface="Nunito Sans" pitchFamily="34" charset="-120"/>
                        </a:rPr>
                        <a:t>Transport</a:t>
                      </a:r>
                      <a:endParaRPr lang="en-US" sz="2000" dirty="0">
                        <a:latin typeface="Nunito Sans" charset="0"/>
                        <a:ea typeface="Nunito Sans" charset="0"/>
                        <a:cs typeface="Nunito Sans" charset="0"/>
                      </a:endParaRPr>
                    </a:p>
                  </a:txBody>
                  <a:tcPr marL="152400" marR="152400" marT="114300" marB="114300">
                    <a:lnL w="0" cap="flat" cmpd="sng" algn="ctr">
                      <a:noFill/>
                    </a:lnL>
                    <a:lnR w="12700" cap="flat" cmpd="sng" algn="ctr">
                      <a:solidFill>
                        <a:srgbClr val="CBCBC8"/>
                      </a:solidFill>
                      <a:prstDash val="solid"/>
                      <a:round/>
                      <a:headEnd type="none" w="med" len="med"/>
                      <a:tailEnd type="none" w="med" len="med"/>
                    </a:lnR>
                    <a:lnT w="12700" cap="flat" cmpd="sng" algn="ctr">
                      <a:solidFill>
                        <a:srgbClr val="1B2E48"/>
                      </a:solidFill>
                      <a:prstDash val="solid"/>
                      <a:round/>
                      <a:headEnd type="none" w="med" len="med"/>
                      <a:tailEnd type="none" w="med" len="med"/>
                    </a:lnT>
                    <a:lnB w="12700" cap="flat" cmpd="sng" algn="ctr">
                      <a:solidFill>
                        <a:srgbClr val="CBCBC8"/>
                      </a:solidFill>
                      <a:prstDash val="solid"/>
                      <a:round/>
                      <a:headEnd type="none" w="med" len="med"/>
                      <a:tailEnd type="none" w="med" len="med"/>
                    </a:lnB>
                    <a:solidFill>
                      <a:srgbClr val="FFFEFB"/>
                    </a:solidFill>
                  </a:tcPr>
                </a:tc>
                <a:tc>
                  <a:txBody>
                    <a:bodyPr/>
                    <a:lstStyle/>
                    <a:p>
                      <a:pPr marL="0" indent="0">
                        <a:lnSpc>
                          <a:spcPts val="1960"/>
                        </a:lnSpc>
                        <a:buNone/>
                      </a:pPr>
                      <a:r>
                        <a:rPr lang="en-US" sz="2000" dirty="0">
                          <a:solidFill>
                            <a:srgbClr val="2A3646"/>
                          </a:solidFill>
                          <a:latin typeface="Nunito Sans" pitchFamily="34" charset="0"/>
                          <a:ea typeface="Nunito Sans" pitchFamily="34" charset="-122"/>
                          <a:cs typeface="Nunito Sans" pitchFamily="34" charset="-120"/>
                        </a:rPr>
                        <a:t>Electric buses and trams • Computer-controlled public transport • Pedestrian zones and cycle paths • Fewer private vehicles</a:t>
                      </a:r>
                      <a:endParaRPr lang="en-US" sz="2000" dirty="0">
                        <a:latin typeface="Nunito Sans" charset="0"/>
                        <a:ea typeface="Nunito Sans" charset="0"/>
                        <a:cs typeface="Nunito Sans" charset="0"/>
                      </a:endParaRPr>
                    </a:p>
                  </a:txBody>
                  <a:tcPr marL="152400" marR="152400" marT="114300" marB="114300">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1B2E48"/>
                      </a:solidFill>
                      <a:prstDash val="solid"/>
                      <a:round/>
                      <a:headEnd type="none" w="med" len="med"/>
                      <a:tailEnd type="none" w="med" len="med"/>
                    </a:lnT>
                    <a:lnB w="12700" cap="flat" cmpd="sng" algn="ctr">
                      <a:solidFill>
                        <a:srgbClr val="CBCBC8"/>
                      </a:solidFill>
                      <a:prstDash val="solid"/>
                      <a:round/>
                      <a:headEnd type="none" w="med" len="med"/>
                      <a:tailEnd type="none" w="med" len="med"/>
                    </a:lnB>
                    <a:solidFill>
                      <a:srgbClr val="FFFEFB"/>
                    </a:solidFill>
                  </a:tcPr>
                </a:tc>
                <a:tc>
                  <a:txBody>
                    <a:bodyPr/>
                    <a:lstStyle/>
                    <a:p>
                      <a:pPr marL="0" indent="0">
                        <a:lnSpc>
                          <a:spcPts val="1960"/>
                        </a:lnSpc>
                        <a:buNone/>
                      </a:pPr>
                      <a:r>
                        <a:rPr lang="en-US" sz="2000" dirty="0">
                          <a:solidFill>
                            <a:srgbClr val="2A3646"/>
                          </a:solidFill>
                          <a:latin typeface="Nunito Sans" pitchFamily="34" charset="0"/>
                          <a:ea typeface="Nunito Sans" pitchFamily="34" charset="-122"/>
                          <a:cs typeface="Nunito Sans" pitchFamily="34" charset="-120"/>
                        </a:rPr>
                        <a:t>Fewer traffic jams • Less air pollution • Faster, greener travel</a:t>
                      </a:r>
                      <a:endParaRPr lang="en-US" sz="2000" dirty="0">
                        <a:latin typeface="Nunito Sans" charset="0"/>
                        <a:ea typeface="Nunito Sans" charset="0"/>
                        <a:cs typeface="Nunito Sans" charset="0"/>
                      </a:endParaRPr>
                    </a:p>
                  </a:txBody>
                  <a:tcPr marL="152400" marR="152400" marT="114300" marB="114300">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1B2E48"/>
                      </a:solidFill>
                      <a:prstDash val="solid"/>
                      <a:round/>
                      <a:headEnd type="none" w="med" len="med"/>
                      <a:tailEnd type="none" w="med" len="med"/>
                    </a:lnT>
                    <a:lnB w="12700" cap="flat" cmpd="sng" algn="ctr">
                      <a:solidFill>
                        <a:srgbClr val="CBCBC8"/>
                      </a:solidFill>
                      <a:prstDash val="solid"/>
                      <a:round/>
                      <a:headEnd type="none" w="med" len="med"/>
                      <a:tailEnd type="none" w="med" len="med"/>
                    </a:lnB>
                    <a:solidFill>
                      <a:srgbClr val="FFFEFB"/>
                    </a:solidFill>
                  </a:tcPr>
                </a:tc>
                <a:extLst>
                  <a:ext uri="{0D108BD9-81ED-4DB2-BD59-A6C34878D82A}">
                    <a16:rowId xmlns:a16="http://schemas.microsoft.com/office/drawing/2014/main" val="10001"/>
                  </a:ext>
                </a:extLst>
              </a:tr>
              <a:tr h="739080">
                <a:tc>
                  <a:txBody>
                    <a:bodyPr/>
                    <a:lstStyle/>
                    <a:p>
                      <a:pPr marL="0" indent="0">
                        <a:lnSpc>
                          <a:spcPts val="1960"/>
                        </a:lnSpc>
                        <a:buNone/>
                      </a:pPr>
                      <a:r>
                        <a:rPr lang="en-US" sz="2000" dirty="0">
                          <a:solidFill>
                            <a:srgbClr val="1D3557"/>
                          </a:solidFill>
                          <a:latin typeface="Nunito Sans" pitchFamily="34" charset="0"/>
                          <a:ea typeface="Nunito Sans" pitchFamily="34" charset="-122"/>
                          <a:cs typeface="Nunito Sans" pitchFamily="34" charset="-120"/>
                        </a:rPr>
                        <a:t>Infrastructure</a:t>
                      </a:r>
                      <a:endParaRPr lang="en-US" sz="2000" dirty="0">
                        <a:latin typeface="Nunito Sans" charset="0"/>
                        <a:ea typeface="Nunito Sans" charset="0"/>
                        <a:cs typeface="Nunito Sans" charset="0"/>
                      </a:endParaRPr>
                    </a:p>
                  </a:txBody>
                  <a:tcPr marL="152400" marR="152400" marT="114300" marB="114300">
                    <a:lnL w="0" cap="flat" cmpd="sng" algn="ctr">
                      <a:noFill/>
                    </a:lnL>
                    <a:lnR w="12700" cap="flat" cmpd="sng" algn="ctr">
                      <a:solidFill>
                        <a:srgbClr val="BEC3C2"/>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BEC3C2"/>
                      </a:solidFill>
                      <a:prstDash val="solid"/>
                      <a:round/>
                      <a:headEnd type="none" w="med" len="med"/>
                      <a:tailEnd type="none" w="med" len="med"/>
                    </a:lnB>
                    <a:solidFill>
                      <a:srgbClr val="EEF4F3"/>
                    </a:solidFill>
                  </a:tcPr>
                </a:tc>
                <a:tc>
                  <a:txBody>
                    <a:bodyPr/>
                    <a:lstStyle/>
                    <a:p>
                      <a:pPr marL="0" indent="0">
                        <a:lnSpc>
                          <a:spcPts val="1960"/>
                        </a:lnSpc>
                        <a:buNone/>
                      </a:pPr>
                      <a:r>
                        <a:rPr lang="en-US" sz="2000" dirty="0">
                          <a:solidFill>
                            <a:srgbClr val="2A3646"/>
                          </a:solidFill>
                          <a:latin typeface="Nunito Sans" pitchFamily="34" charset="0"/>
                          <a:ea typeface="Nunito Sans" pitchFamily="34" charset="-122"/>
                          <a:cs typeface="Nunito Sans" pitchFamily="34" charset="-120"/>
                        </a:rPr>
                        <a:t>Smart sensors and cameras • Smart street lights • Green skyscrapers and roof gardens • Smart waste collection</a:t>
                      </a:r>
                      <a:endParaRPr lang="en-US" sz="2000" dirty="0">
                        <a:latin typeface="Nunito Sans" charset="0"/>
                        <a:ea typeface="Nunito Sans" charset="0"/>
                        <a:cs typeface="Nunito Sans" charset="0"/>
                      </a:endParaRPr>
                    </a:p>
                  </a:txBody>
                  <a:tcPr marL="152400" marR="152400" marT="114300" marB="114300">
                    <a:lnL w="12700" cap="flat" cmpd="sng" algn="ctr">
                      <a:solidFill>
                        <a:srgbClr val="BEC3C2"/>
                      </a:solidFill>
                      <a:prstDash val="solid"/>
                      <a:round/>
                      <a:headEnd type="none" w="med" len="med"/>
                      <a:tailEnd type="none" w="med" len="med"/>
                    </a:lnL>
                    <a:lnR w="12700" cap="flat" cmpd="sng" algn="ctr">
                      <a:solidFill>
                        <a:srgbClr val="BEC3C2"/>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BEC3C2"/>
                      </a:solidFill>
                      <a:prstDash val="solid"/>
                      <a:round/>
                      <a:headEnd type="none" w="med" len="med"/>
                      <a:tailEnd type="none" w="med" len="med"/>
                    </a:lnB>
                    <a:solidFill>
                      <a:srgbClr val="EEF4F3"/>
                    </a:solidFill>
                  </a:tcPr>
                </a:tc>
                <a:tc>
                  <a:txBody>
                    <a:bodyPr/>
                    <a:lstStyle/>
                    <a:p>
                      <a:pPr marL="0" indent="0">
                        <a:lnSpc>
                          <a:spcPts val="1960"/>
                        </a:lnSpc>
                        <a:buNone/>
                      </a:pPr>
                      <a:r>
                        <a:rPr lang="en-US" sz="2000" dirty="0">
                          <a:solidFill>
                            <a:srgbClr val="2A3646"/>
                          </a:solidFill>
                          <a:latin typeface="Nunito Sans" pitchFamily="34" charset="0"/>
                          <a:ea typeface="Nunito Sans" pitchFamily="34" charset="-122"/>
                          <a:cs typeface="Nunito Sans" pitchFamily="34" charset="-120"/>
                        </a:rPr>
                        <a:t>Save energy • Reduce waste • Operate more efficiently</a:t>
                      </a:r>
                      <a:endParaRPr lang="en-US" sz="2000" dirty="0">
                        <a:latin typeface="Nunito Sans" charset="0"/>
                        <a:ea typeface="Nunito Sans" charset="0"/>
                        <a:cs typeface="Nunito Sans" charset="0"/>
                      </a:endParaRPr>
                    </a:p>
                  </a:txBody>
                  <a:tcPr marL="152400" marR="152400" marT="114300" marB="114300">
                    <a:lnL w="12700" cap="flat" cmpd="sng" algn="ctr">
                      <a:solidFill>
                        <a:srgbClr val="BEC3C2"/>
                      </a:solidFill>
                      <a:prstDash val="solid"/>
                      <a:round/>
                      <a:headEnd type="none" w="med" len="med"/>
                      <a:tailEnd type="none" w="med" len="med"/>
                    </a:lnL>
                    <a:lnR w="12700" cap="flat" cmpd="sng" algn="ctr">
                      <a:solidFill>
                        <a:srgbClr val="BEC3C2"/>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BEC3C2"/>
                      </a:solidFill>
                      <a:prstDash val="solid"/>
                      <a:round/>
                      <a:headEnd type="none" w="med" len="med"/>
                      <a:tailEnd type="none" w="med" len="med"/>
                    </a:lnB>
                    <a:solidFill>
                      <a:srgbClr val="EEF4F3"/>
                    </a:solidFill>
                  </a:tcPr>
                </a:tc>
                <a:extLst>
                  <a:ext uri="{0D108BD9-81ED-4DB2-BD59-A6C34878D82A}">
                    <a16:rowId xmlns:a16="http://schemas.microsoft.com/office/drawing/2014/main" val="10002"/>
                  </a:ext>
                </a:extLst>
              </a:tr>
              <a:tr h="739080">
                <a:tc>
                  <a:txBody>
                    <a:bodyPr/>
                    <a:lstStyle/>
                    <a:p>
                      <a:pPr marL="0" indent="0">
                        <a:lnSpc>
                          <a:spcPts val="1960"/>
                        </a:lnSpc>
                        <a:buNone/>
                      </a:pPr>
                      <a:r>
                        <a:rPr lang="en-US" sz="2000" dirty="0">
                          <a:solidFill>
                            <a:srgbClr val="1D3557"/>
                          </a:solidFill>
                          <a:latin typeface="Nunito Sans" pitchFamily="34" charset="0"/>
                          <a:ea typeface="Nunito Sans" pitchFamily="34" charset="-122"/>
                          <a:cs typeface="Nunito Sans" pitchFamily="34" charset="-120"/>
                        </a:rPr>
                        <a:t>Living conditions</a:t>
                      </a:r>
                      <a:endParaRPr lang="en-US" sz="2000" dirty="0">
                        <a:latin typeface="Nunito Sans" charset="0"/>
                        <a:ea typeface="Nunito Sans" charset="0"/>
                        <a:cs typeface="Nunito Sans" charset="0"/>
                      </a:endParaRPr>
                    </a:p>
                  </a:txBody>
                  <a:tcPr marL="152400" marR="152400" marT="114300" marB="114300">
                    <a:lnL w="0" cap="flat" cmpd="sng" algn="ctr">
                      <a:noFill/>
                    </a:lnL>
                    <a:lnR w="12700" cap="flat" cmpd="sng" algn="ctr">
                      <a:solidFill>
                        <a:srgbClr val="CBCBC8"/>
                      </a:solidFill>
                      <a:prstDash val="solid"/>
                      <a:round/>
                      <a:headEnd type="none" w="med" len="med"/>
                      <a:tailEnd type="none" w="med" len="med"/>
                    </a:lnR>
                    <a:lnT w="12700" cap="flat" cmpd="sng" algn="ctr">
                      <a:solidFill>
                        <a:srgbClr val="BEC3C2"/>
                      </a:solidFill>
                      <a:prstDash val="solid"/>
                      <a:round/>
                      <a:headEnd type="none" w="med" len="med"/>
                      <a:tailEnd type="none" w="med" len="med"/>
                    </a:lnT>
                    <a:lnB w="12700" cap="flat" cmpd="sng" algn="ctr">
                      <a:solidFill>
                        <a:srgbClr val="CBCBC8"/>
                      </a:solidFill>
                      <a:prstDash val="solid"/>
                      <a:round/>
                      <a:headEnd type="none" w="med" len="med"/>
                      <a:tailEnd type="none" w="med" len="med"/>
                    </a:lnB>
                    <a:solidFill>
                      <a:srgbClr val="FFFEFB"/>
                    </a:solidFill>
                  </a:tcPr>
                </a:tc>
                <a:tc>
                  <a:txBody>
                    <a:bodyPr/>
                    <a:lstStyle/>
                    <a:p>
                      <a:pPr marL="0" indent="0">
                        <a:lnSpc>
                          <a:spcPts val="1960"/>
                        </a:lnSpc>
                        <a:buNone/>
                      </a:pPr>
                      <a:r>
                        <a:rPr lang="en-US" sz="2000" dirty="0">
                          <a:solidFill>
                            <a:srgbClr val="2A3646"/>
                          </a:solidFill>
                          <a:latin typeface="Nunito Sans" pitchFamily="34" charset="0"/>
                          <a:ea typeface="Nunito Sans" pitchFamily="34" charset="-122"/>
                          <a:cs typeface="Nunito Sans" pitchFamily="34" charset="-120"/>
                        </a:rPr>
                        <a:t>More green spaces • Renewable and clean energy • AI assistants and robots • More plants and animals</a:t>
                      </a:r>
                      <a:endParaRPr lang="en-US" sz="2000" dirty="0">
                        <a:latin typeface="Nunito Sans" charset="0"/>
                        <a:ea typeface="Nunito Sans" charset="0"/>
                        <a:cs typeface="Nunito Sans" charset="0"/>
                      </a:endParaRPr>
                    </a:p>
                  </a:txBody>
                  <a:tcPr marL="152400" marR="152400" marT="114300" marB="114300">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BEC3C2"/>
                      </a:solidFill>
                      <a:prstDash val="solid"/>
                      <a:round/>
                      <a:headEnd type="none" w="med" len="med"/>
                      <a:tailEnd type="none" w="med" len="med"/>
                    </a:lnT>
                    <a:lnB w="12700" cap="flat" cmpd="sng" algn="ctr">
                      <a:solidFill>
                        <a:srgbClr val="CBCBC8"/>
                      </a:solidFill>
                      <a:prstDash val="solid"/>
                      <a:round/>
                      <a:headEnd type="none" w="med" len="med"/>
                      <a:tailEnd type="none" w="med" len="med"/>
                    </a:lnB>
                    <a:solidFill>
                      <a:srgbClr val="FFFEFB"/>
                    </a:solidFill>
                  </a:tcPr>
                </a:tc>
                <a:tc>
                  <a:txBody>
                    <a:bodyPr/>
                    <a:lstStyle/>
                    <a:p>
                      <a:pPr marL="0" indent="0">
                        <a:lnSpc>
                          <a:spcPts val="1960"/>
                        </a:lnSpc>
                        <a:buNone/>
                      </a:pPr>
                      <a:r>
                        <a:rPr lang="en-US" sz="2000" dirty="0">
                          <a:solidFill>
                            <a:srgbClr val="2A3646"/>
                          </a:solidFill>
                          <a:latin typeface="Nunito Sans" pitchFamily="34" charset="0"/>
                          <a:ea typeface="Nunito Sans" pitchFamily="34" charset="-122"/>
                          <a:cs typeface="Nunito Sans" pitchFamily="34" charset="-120"/>
                        </a:rPr>
                        <a:t>Healthier lives • Better quality of life • More liveable cities</a:t>
                      </a:r>
                      <a:endParaRPr lang="en-US" sz="2000" dirty="0">
                        <a:latin typeface="Nunito Sans" charset="0"/>
                        <a:ea typeface="Nunito Sans" charset="0"/>
                        <a:cs typeface="Nunito Sans" charset="0"/>
                      </a:endParaRPr>
                    </a:p>
                  </a:txBody>
                  <a:tcPr marL="152400" marR="152400" marT="114300" marB="114300">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BEC3C2"/>
                      </a:solidFill>
                      <a:prstDash val="solid"/>
                      <a:round/>
                      <a:headEnd type="none" w="med" len="med"/>
                      <a:tailEnd type="none" w="med" len="med"/>
                    </a:lnT>
                    <a:lnB w="12700" cap="flat" cmpd="sng" algn="ctr">
                      <a:solidFill>
                        <a:srgbClr val="CBCBC8"/>
                      </a:solidFill>
                      <a:prstDash val="solid"/>
                      <a:round/>
                      <a:headEnd type="none" w="med" len="med"/>
                      <a:tailEnd type="none" w="med" len="med"/>
                    </a:lnB>
                    <a:solidFill>
                      <a:srgbClr val="FFFEFB"/>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AF6"/>
        </a:solidFill>
        <a:effectLst/>
      </p:bgPr>
    </p:bg>
    <p:spTree>
      <p:nvGrpSpPr>
        <p:cNvPr id="1" name=""/>
        <p:cNvGrpSpPr/>
        <p:nvPr/>
      </p:nvGrpSpPr>
      <p:grpSpPr>
        <a:xfrm>
          <a:off x="0" y="0"/>
          <a:ext cx="0" cy="0"/>
          <a:chOff x="0" y="0"/>
          <a:chExt cx="0" cy="0"/>
        </a:xfrm>
      </p:grpSpPr>
      <p:sp>
        <p:nvSpPr>
          <p:cNvPr id="2" name="Text 0"/>
          <p:cNvSpPr/>
          <p:nvPr/>
        </p:nvSpPr>
        <p:spPr>
          <a:xfrm>
            <a:off x="812800" y="7620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17279"/>
                </a:solidFill>
                <a:latin typeface="Nunito Sans" pitchFamily="34" charset="0"/>
                <a:ea typeface="Nunito Sans" pitchFamily="34" charset="-122"/>
                <a:cs typeface="Nunito Sans" pitchFamily="34" charset="-120"/>
              </a:rPr>
              <a:t>SPEAKING TOOLKIT</a:t>
            </a:r>
            <a:endParaRPr lang="en-US" sz="1200" dirty="0"/>
          </a:p>
        </p:txBody>
      </p:sp>
      <p:sp>
        <p:nvSpPr>
          <p:cNvPr id="3" name="Text 1"/>
          <p:cNvSpPr>
            <a:spLocks noGrp="1"/>
          </p:cNvSpPr>
          <p:nvPr>
            <p:ph type="title"/>
          </p:nvPr>
        </p:nvSpPr>
        <p:spPr>
          <a:xfrm>
            <a:off x="812800" y="10515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D3557"/>
                </a:solidFill>
                <a:latin typeface="Be Vietnam Pro" pitchFamily="34" charset="0"/>
                <a:ea typeface="Be Vietnam Pro" pitchFamily="34" charset="-122"/>
                <a:cs typeface="Be Vietnam Pro" pitchFamily="34" charset="-120"/>
              </a:rPr>
              <a:t>Useful language</a:t>
            </a:r>
            <a:endParaRPr lang="en-US" sz="3000" dirty="0"/>
          </a:p>
        </p:txBody>
      </p:sp>
      <p:sp>
        <p:nvSpPr>
          <p:cNvPr id="4" name="Shape 2"/>
          <p:cNvSpPr/>
          <p:nvPr/>
        </p:nvSpPr>
        <p:spPr>
          <a:xfrm>
            <a:off x="812800" y="1750020"/>
            <a:ext cx="10566400" cy="3899991"/>
          </a:xfrm>
          <a:custGeom>
            <a:avLst/>
            <a:gdLst/>
            <a:ahLst/>
            <a:cxnLst/>
            <a:rect l="l" t="t" r="r" b="b"/>
            <a:pathLst>
              <a:path w="10566400" h="3899991">
                <a:moveTo>
                  <a:pt x="10464800" y="0"/>
                </a:moveTo>
                <a:lnTo>
                  <a:pt x="10464800" y="0"/>
                </a:lnTo>
                <a:arcTo wR="101600" hR="101600" stAng="16200000" swAng="5400000"/>
                <a:lnTo>
                  <a:pt x="10566400" y="3798391"/>
                </a:lnTo>
                <a:arcTo wR="101600" hR="101600" stAng="0" swAng="5400000"/>
                <a:lnTo>
                  <a:pt x="101600" y="3899991"/>
                </a:lnTo>
                <a:arcTo wR="101600" hR="101600" stAng="5400000" swAng="5400000"/>
                <a:lnTo>
                  <a:pt x="0" y="3798391"/>
                </a:lnTo>
                <a:arcTo wR="101600" hR="88900" stAng="10800000" swAng="-5400000"/>
                <a:lnTo>
                  <a:pt x="10464800" y="3887291"/>
                </a:lnTo>
                <a:arcTo wR="88900" hR="88900" stAng="5400000" swAng="-5400000"/>
                <a:lnTo>
                  <a:pt x="10553700" y="101600"/>
                </a:lnTo>
                <a:arcTo wR="88900" hR="101600" stAng="0" swAng="-5400000"/>
                <a:close/>
              </a:path>
            </a:pathLst>
          </a:custGeom>
          <a:solidFill>
            <a:srgbClr val="DCE5E8"/>
          </a:solidFill>
          <a:ln/>
        </p:spPr>
      </p:sp>
      <p:sp>
        <p:nvSpPr>
          <p:cNvPr id="5" name="Shape 3"/>
          <p:cNvSpPr/>
          <p:nvPr/>
        </p:nvSpPr>
        <p:spPr>
          <a:xfrm>
            <a:off x="812800" y="1750020"/>
            <a:ext cx="10566400" cy="3899991"/>
          </a:xfrm>
          <a:custGeom>
            <a:avLst/>
            <a:gdLst/>
            <a:ahLst/>
            <a:cxnLst/>
            <a:rect l="l" t="t" r="r" b="b"/>
            <a:pathLst>
              <a:path w="10566400" h="3899991">
                <a:moveTo>
                  <a:pt x="101600" y="3899991"/>
                </a:moveTo>
                <a:lnTo>
                  <a:pt x="101600" y="3899991"/>
                </a:lnTo>
                <a:arcTo wR="101600" hR="101600" stAng="5400000" swAng="5400000"/>
                <a:lnTo>
                  <a:pt x="0" y="101600"/>
                </a:lnTo>
                <a:arcTo wR="101600" hR="101600" stAng="10800000" swAng="5400000"/>
                <a:lnTo>
                  <a:pt x="10464800" y="0"/>
                </a:lnTo>
                <a:arcTo wR="101600" hR="101600" stAng="16200000" swAng="5400000"/>
                <a:lnTo>
                  <a:pt x="10566400" y="101600"/>
                </a:lnTo>
                <a:arcTo wR="101600" hR="88900" stAng="0" swAng="-5400000"/>
                <a:lnTo>
                  <a:pt x="101600" y="12700"/>
                </a:lnTo>
                <a:arcTo wR="88900" hR="88900" stAng="16200000" swAng="-5400000"/>
                <a:lnTo>
                  <a:pt x="12700" y="3798391"/>
                </a:lnTo>
                <a:arcTo wR="88900" hR="101600" stAng="10800000" swAng="-5400000"/>
                <a:close/>
              </a:path>
            </a:pathLst>
          </a:custGeom>
          <a:solidFill>
            <a:srgbClr val="141413">
              <a:alpha val="22000"/>
            </a:srgbClr>
          </a:solidFill>
          <a:ln/>
        </p:spPr>
      </p:sp>
      <p:graphicFrame>
        <p:nvGraphicFramePr>
          <p:cNvPr id="6" name="Table 0"/>
          <p:cNvGraphicFramePr>
            <a:graphicFrameLocks noGrp="1"/>
          </p:cNvGraphicFramePr>
          <p:nvPr>
            <p:extLst>
              <p:ext uri="{D42A27DB-BD31-4B8C-83A1-F6EECF244321}">
                <p14:modId xmlns:p14="http://schemas.microsoft.com/office/powerpoint/2010/main" val="4067980756"/>
              </p:ext>
            </p:extLst>
          </p:nvPr>
        </p:nvGraphicFramePr>
        <p:xfrm>
          <a:off x="825500" y="1762720"/>
          <a:ext cx="10541000" cy="4254500"/>
        </p:xfrm>
        <a:graphic>
          <a:graphicData uri="http://schemas.openxmlformats.org/drawingml/2006/table">
            <a:tbl>
              <a:tblPr/>
              <a:tblGrid>
                <a:gridCol w="3373120">
                  <a:extLst>
                    <a:ext uri="{9D8B030D-6E8A-4147-A177-3AD203B41FA5}">
                      <a16:colId xmlns:a16="http://schemas.microsoft.com/office/drawing/2014/main" val="20000"/>
                    </a:ext>
                  </a:extLst>
                </a:gridCol>
                <a:gridCol w="7167880">
                  <a:extLst>
                    <a:ext uri="{9D8B030D-6E8A-4147-A177-3AD203B41FA5}">
                      <a16:colId xmlns:a16="http://schemas.microsoft.com/office/drawing/2014/main" val="20001"/>
                    </a:ext>
                  </a:extLst>
                </a:gridCol>
              </a:tblGrid>
              <a:tr h="430510">
                <a:tc>
                  <a:txBody>
                    <a:bodyPr/>
                    <a:lstStyle/>
                    <a:p>
                      <a:pPr marL="0" indent="0">
                        <a:lnSpc>
                          <a:spcPts val="1960"/>
                        </a:lnSpc>
                        <a:buNone/>
                      </a:pPr>
                      <a:r>
                        <a:rPr lang="en-US" sz="2000" b="1" dirty="0">
                          <a:solidFill>
                            <a:srgbClr val="F3F1EA"/>
                          </a:solidFill>
                          <a:latin typeface="Nunito Sans" pitchFamily="34" charset="0"/>
                          <a:ea typeface="Nunito Sans" pitchFamily="34" charset="-122"/>
                          <a:cs typeface="Nunito Sans" pitchFamily="34" charset="-120"/>
                        </a:rPr>
                        <a:t>SPEAKING FUNCTION</a:t>
                      </a:r>
                      <a:endParaRPr lang="en-US" sz="2000" dirty="0">
                        <a:latin typeface="Nunito Sans" charset="0"/>
                        <a:ea typeface="Nunito Sans" charset="0"/>
                        <a:cs typeface="Nunito Sans" charset="0"/>
                      </a:endParaRPr>
                    </a:p>
                  </a:txBody>
                  <a:tcPr marL="152400" marR="152400" marT="88900" marB="88900">
                    <a:lnL w="0" cap="flat" cmpd="sng" algn="ctr">
                      <a:noFill/>
                    </a:lnL>
                    <a:lnR w="12700" cap="flat" cmpd="sng" algn="ctr">
                      <a:solidFill>
                        <a:srgbClr val="1B2E48"/>
                      </a:solidFill>
                      <a:prstDash val="solid"/>
                      <a:round/>
                      <a:headEnd type="none" w="med" len="med"/>
                      <a:tailEnd type="none" w="med" len="med"/>
                    </a:lnR>
                    <a:lnT w="0" cap="flat" cmpd="sng" algn="ctr">
                      <a:noFill/>
                    </a:lnT>
                    <a:lnB w="12700" cap="flat" cmpd="sng" algn="ctr">
                      <a:solidFill>
                        <a:srgbClr val="1B2E48"/>
                      </a:solidFill>
                      <a:prstDash val="solid"/>
                      <a:round/>
                      <a:headEnd type="none" w="med" len="med"/>
                      <a:tailEnd type="none" w="med" len="med"/>
                    </a:lnB>
                    <a:solidFill>
                      <a:srgbClr val="1D3557"/>
                    </a:solidFill>
                  </a:tcPr>
                </a:tc>
                <a:tc>
                  <a:txBody>
                    <a:bodyPr/>
                    <a:lstStyle/>
                    <a:p>
                      <a:pPr marL="0" indent="0">
                        <a:lnSpc>
                          <a:spcPts val="1960"/>
                        </a:lnSpc>
                        <a:buNone/>
                      </a:pPr>
                      <a:r>
                        <a:rPr lang="en-US" sz="2000" b="1" dirty="0">
                          <a:solidFill>
                            <a:srgbClr val="F3F1EA"/>
                          </a:solidFill>
                          <a:latin typeface="Nunito Sans" pitchFamily="34" charset="0"/>
                          <a:ea typeface="Nunito Sans" pitchFamily="34" charset="-122"/>
                          <a:cs typeface="Nunito Sans" pitchFamily="34" charset="-120"/>
                        </a:rPr>
                        <a:t>USEFUL EXPRESSIONS</a:t>
                      </a:r>
                      <a:endParaRPr lang="en-US" sz="2000" dirty="0">
                        <a:latin typeface="Nunito Sans" charset="0"/>
                        <a:ea typeface="Nunito Sans" charset="0"/>
                        <a:cs typeface="Nunito Sans" charset="0"/>
                      </a:endParaRPr>
                    </a:p>
                  </a:txBody>
                  <a:tcPr marL="152400" marR="152400" marT="88900" marB="88900">
                    <a:lnL w="12700" cap="flat" cmpd="sng" algn="ctr">
                      <a:solidFill>
                        <a:srgbClr val="1B2E48"/>
                      </a:solidFill>
                      <a:prstDash val="solid"/>
                      <a:round/>
                      <a:headEnd type="none" w="med" len="med"/>
                      <a:tailEnd type="none" w="med" len="med"/>
                    </a:lnL>
                    <a:lnR w="12700" cap="flat" cmpd="sng" algn="ctr">
                      <a:solidFill>
                        <a:srgbClr val="1B2E48"/>
                      </a:solidFill>
                      <a:prstDash val="solid"/>
                      <a:round/>
                      <a:headEnd type="none" w="med" len="med"/>
                      <a:tailEnd type="none" w="med" len="med"/>
                    </a:lnR>
                    <a:lnT w="0" cap="flat" cmpd="sng" algn="ctr">
                      <a:noFill/>
                    </a:lnT>
                    <a:lnB w="12700" cap="flat" cmpd="sng" algn="ctr">
                      <a:solidFill>
                        <a:srgbClr val="1B2E48"/>
                      </a:solidFill>
                      <a:prstDash val="solid"/>
                      <a:round/>
                      <a:headEnd type="none" w="med" len="med"/>
                      <a:tailEnd type="none" w="med" len="med"/>
                    </a:lnB>
                    <a:solidFill>
                      <a:srgbClr val="1D3557"/>
                    </a:solidFill>
                  </a:tcPr>
                </a:tc>
                <a:extLst>
                  <a:ext uri="{0D108BD9-81ED-4DB2-BD59-A6C34878D82A}">
                    <a16:rowId xmlns:a16="http://schemas.microsoft.com/office/drawing/2014/main" val="10000"/>
                  </a:ext>
                </a:extLst>
              </a:tr>
              <a:tr h="430510">
                <a:tc>
                  <a:txBody>
                    <a:bodyPr/>
                    <a:lstStyle/>
                    <a:p>
                      <a:pPr marL="0" indent="0">
                        <a:lnSpc>
                          <a:spcPts val="1960"/>
                        </a:lnSpc>
                        <a:buNone/>
                      </a:pPr>
                      <a:r>
                        <a:rPr lang="en-US" sz="2000" dirty="0">
                          <a:solidFill>
                            <a:srgbClr val="1D3557"/>
                          </a:solidFill>
                          <a:latin typeface="Nunito Sans" pitchFamily="34" charset="0"/>
                          <a:ea typeface="Nunito Sans" pitchFamily="34" charset="-122"/>
                          <a:cs typeface="Nunito Sans" pitchFamily="34" charset="-120"/>
                        </a:rPr>
                        <a:t>Making predictions</a:t>
                      </a:r>
                      <a:endParaRPr lang="en-US" sz="2000" dirty="0">
                        <a:latin typeface="Nunito Sans" charset="0"/>
                        <a:ea typeface="Nunito Sans" charset="0"/>
                        <a:cs typeface="Nunito Sans" charset="0"/>
                      </a:endParaRPr>
                    </a:p>
                  </a:txBody>
                  <a:tcPr marL="152400" marR="152400" marT="88900" marB="88900">
                    <a:lnL w="0" cap="flat" cmpd="sng" algn="ctr">
                      <a:noFill/>
                    </a:lnL>
                    <a:lnR w="12700" cap="flat" cmpd="sng" algn="ctr">
                      <a:solidFill>
                        <a:srgbClr val="CBCBC8"/>
                      </a:solidFill>
                      <a:prstDash val="solid"/>
                      <a:round/>
                      <a:headEnd type="none" w="med" len="med"/>
                      <a:tailEnd type="none" w="med" len="med"/>
                    </a:lnR>
                    <a:lnT w="12700" cap="flat" cmpd="sng" algn="ctr">
                      <a:solidFill>
                        <a:srgbClr val="1B2E48"/>
                      </a:solidFill>
                      <a:prstDash val="solid"/>
                      <a:round/>
                      <a:headEnd type="none" w="med" len="med"/>
                      <a:tailEnd type="none" w="med" len="med"/>
                    </a:lnT>
                    <a:lnB w="12700" cap="flat" cmpd="sng" algn="ctr">
                      <a:solidFill>
                        <a:srgbClr val="CBCBC8"/>
                      </a:solidFill>
                      <a:prstDash val="solid"/>
                      <a:round/>
                      <a:headEnd type="none" w="med" len="med"/>
                      <a:tailEnd type="none" w="med" len="med"/>
                    </a:lnB>
                    <a:solidFill>
                      <a:srgbClr val="FFFEFB"/>
                    </a:solidFill>
                  </a:tcPr>
                </a:tc>
                <a:tc>
                  <a:txBody>
                    <a:bodyPr/>
                    <a:lstStyle/>
                    <a:p>
                      <a:pPr marL="0" indent="0">
                        <a:lnSpc>
                          <a:spcPts val="1960"/>
                        </a:lnSpc>
                        <a:buNone/>
                      </a:pPr>
                      <a:r>
                        <a:rPr lang="en-US" sz="2000" dirty="0">
                          <a:solidFill>
                            <a:srgbClr val="2A3646"/>
                          </a:solidFill>
                          <a:latin typeface="Nunito Sans" pitchFamily="34" charset="0"/>
                          <a:ea typeface="Nunito Sans" pitchFamily="34" charset="-122"/>
                          <a:cs typeface="Nunito Sans" pitchFamily="34" charset="-120"/>
                        </a:rPr>
                        <a:t>I think there will be… / Cities will have…</a:t>
                      </a:r>
                      <a:endParaRPr lang="en-US" sz="2000" dirty="0">
                        <a:latin typeface="Nunito Sans" charset="0"/>
                        <a:ea typeface="Nunito Sans" charset="0"/>
                        <a:cs typeface="Nunito Sans" charset="0"/>
                      </a:endParaRPr>
                    </a:p>
                  </a:txBody>
                  <a:tcPr marL="152400" marR="152400" marT="88900" marB="88900">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1B2E48"/>
                      </a:solidFill>
                      <a:prstDash val="solid"/>
                      <a:round/>
                      <a:headEnd type="none" w="med" len="med"/>
                      <a:tailEnd type="none" w="med" len="med"/>
                    </a:lnT>
                    <a:lnB w="12700" cap="flat" cmpd="sng" algn="ctr">
                      <a:solidFill>
                        <a:srgbClr val="CBCBC8"/>
                      </a:solidFill>
                      <a:prstDash val="solid"/>
                      <a:round/>
                      <a:headEnd type="none" w="med" len="med"/>
                      <a:tailEnd type="none" w="med" len="med"/>
                    </a:lnB>
                    <a:solidFill>
                      <a:srgbClr val="FFFEFB"/>
                    </a:solidFill>
                  </a:tcPr>
                </a:tc>
                <a:extLst>
                  <a:ext uri="{0D108BD9-81ED-4DB2-BD59-A6C34878D82A}">
                    <a16:rowId xmlns:a16="http://schemas.microsoft.com/office/drawing/2014/main" val="10001"/>
                  </a:ext>
                </a:extLst>
              </a:tr>
              <a:tr h="430510">
                <a:tc>
                  <a:txBody>
                    <a:bodyPr/>
                    <a:lstStyle/>
                    <a:p>
                      <a:pPr marL="0" indent="0">
                        <a:lnSpc>
                          <a:spcPts val="1960"/>
                        </a:lnSpc>
                        <a:buNone/>
                      </a:pPr>
                      <a:r>
                        <a:rPr lang="en-US" sz="2000" dirty="0">
                          <a:solidFill>
                            <a:srgbClr val="1D3557"/>
                          </a:solidFill>
                          <a:latin typeface="Nunito Sans" pitchFamily="34" charset="0"/>
                          <a:ea typeface="Nunito Sans" pitchFamily="34" charset="-122"/>
                          <a:cs typeface="Nunito Sans" pitchFamily="34" charset="-120"/>
                        </a:rPr>
                        <a:t>Describing technology</a:t>
                      </a:r>
                      <a:endParaRPr lang="en-US" sz="2000" dirty="0">
                        <a:latin typeface="Nunito Sans" charset="0"/>
                        <a:ea typeface="Nunito Sans" charset="0"/>
                        <a:cs typeface="Nunito Sans" charset="0"/>
                      </a:endParaRPr>
                    </a:p>
                  </a:txBody>
                  <a:tcPr marL="152400" marR="152400" marT="88900" marB="88900">
                    <a:lnL w="0" cap="flat" cmpd="sng" algn="ctr">
                      <a:noFill/>
                    </a:lnL>
                    <a:lnR w="12700" cap="flat" cmpd="sng" algn="ctr">
                      <a:solidFill>
                        <a:srgbClr val="BEC3C2"/>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BEC3C2"/>
                      </a:solidFill>
                      <a:prstDash val="solid"/>
                      <a:round/>
                      <a:headEnd type="none" w="med" len="med"/>
                      <a:tailEnd type="none" w="med" len="med"/>
                    </a:lnB>
                    <a:solidFill>
                      <a:srgbClr val="EEF4F3"/>
                    </a:solidFill>
                  </a:tcPr>
                </a:tc>
                <a:tc>
                  <a:txBody>
                    <a:bodyPr/>
                    <a:lstStyle/>
                    <a:p>
                      <a:pPr marL="0" indent="0">
                        <a:lnSpc>
                          <a:spcPts val="1960"/>
                        </a:lnSpc>
                        <a:buNone/>
                      </a:pPr>
                      <a:r>
                        <a:rPr lang="en-US" sz="2000" dirty="0">
                          <a:solidFill>
                            <a:srgbClr val="2A3646"/>
                          </a:solidFill>
                          <a:latin typeface="Nunito Sans" pitchFamily="34" charset="0"/>
                          <a:ea typeface="Nunito Sans" pitchFamily="34" charset="-122"/>
                          <a:cs typeface="Nunito Sans" pitchFamily="34" charset="-120"/>
                        </a:rPr>
                        <a:t>… will be equipped with… / … will be controlled by…</a:t>
                      </a:r>
                      <a:endParaRPr lang="en-US" sz="2000" dirty="0">
                        <a:latin typeface="Nunito Sans" charset="0"/>
                        <a:ea typeface="Nunito Sans" charset="0"/>
                        <a:cs typeface="Nunito Sans" charset="0"/>
                      </a:endParaRPr>
                    </a:p>
                  </a:txBody>
                  <a:tcPr marL="152400" marR="152400" marT="88900" marB="88900">
                    <a:lnL w="12700" cap="flat" cmpd="sng" algn="ctr">
                      <a:solidFill>
                        <a:srgbClr val="BEC3C2"/>
                      </a:solidFill>
                      <a:prstDash val="solid"/>
                      <a:round/>
                      <a:headEnd type="none" w="med" len="med"/>
                      <a:tailEnd type="none" w="med" len="med"/>
                    </a:lnL>
                    <a:lnR w="12700" cap="flat" cmpd="sng" algn="ctr">
                      <a:solidFill>
                        <a:srgbClr val="BEC3C2"/>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BEC3C2"/>
                      </a:solidFill>
                      <a:prstDash val="solid"/>
                      <a:round/>
                      <a:headEnd type="none" w="med" len="med"/>
                      <a:tailEnd type="none" w="med" len="med"/>
                    </a:lnB>
                    <a:solidFill>
                      <a:srgbClr val="EEF4F3"/>
                    </a:solidFill>
                  </a:tcPr>
                </a:tc>
                <a:extLst>
                  <a:ext uri="{0D108BD9-81ED-4DB2-BD59-A6C34878D82A}">
                    <a16:rowId xmlns:a16="http://schemas.microsoft.com/office/drawing/2014/main" val="10002"/>
                  </a:ext>
                </a:extLst>
              </a:tr>
              <a:tr h="430510">
                <a:tc>
                  <a:txBody>
                    <a:bodyPr/>
                    <a:lstStyle/>
                    <a:p>
                      <a:pPr marL="0" indent="0">
                        <a:lnSpc>
                          <a:spcPts val="1960"/>
                        </a:lnSpc>
                        <a:buNone/>
                      </a:pPr>
                      <a:r>
                        <a:rPr lang="en-US" sz="2000" dirty="0">
                          <a:solidFill>
                            <a:srgbClr val="1D3557"/>
                          </a:solidFill>
                          <a:latin typeface="Nunito Sans" pitchFamily="34" charset="0"/>
                          <a:ea typeface="Nunito Sans" pitchFamily="34" charset="-122"/>
                          <a:cs typeface="Nunito Sans" pitchFamily="34" charset="-120"/>
                        </a:rPr>
                        <a:t>Explaining purposes</a:t>
                      </a:r>
                      <a:endParaRPr lang="en-US" sz="2000" dirty="0">
                        <a:latin typeface="Nunito Sans" charset="0"/>
                        <a:ea typeface="Nunito Sans" charset="0"/>
                        <a:cs typeface="Nunito Sans" charset="0"/>
                      </a:endParaRPr>
                    </a:p>
                  </a:txBody>
                  <a:tcPr marL="152400" marR="152400" marT="88900" marB="88900">
                    <a:lnL w="0" cap="flat" cmpd="sng" algn="ctr">
                      <a:noFill/>
                    </a:lnL>
                    <a:lnR w="12700" cap="flat" cmpd="sng" algn="ctr">
                      <a:solidFill>
                        <a:srgbClr val="CBCBC8"/>
                      </a:solidFill>
                      <a:prstDash val="solid"/>
                      <a:round/>
                      <a:headEnd type="none" w="med" len="med"/>
                      <a:tailEnd type="none" w="med" len="med"/>
                    </a:lnR>
                    <a:lnT w="12700" cap="flat" cmpd="sng" algn="ctr">
                      <a:solidFill>
                        <a:srgbClr val="BEC3C2"/>
                      </a:solidFill>
                      <a:prstDash val="solid"/>
                      <a:round/>
                      <a:headEnd type="none" w="med" len="med"/>
                      <a:tailEnd type="none" w="med" len="med"/>
                    </a:lnT>
                    <a:lnB w="12700" cap="flat" cmpd="sng" algn="ctr">
                      <a:solidFill>
                        <a:srgbClr val="CBCBC8"/>
                      </a:solidFill>
                      <a:prstDash val="solid"/>
                      <a:round/>
                      <a:headEnd type="none" w="med" len="med"/>
                      <a:tailEnd type="none" w="med" len="med"/>
                    </a:lnB>
                    <a:solidFill>
                      <a:srgbClr val="FFFEFB"/>
                    </a:solidFill>
                  </a:tcPr>
                </a:tc>
                <a:tc>
                  <a:txBody>
                    <a:bodyPr/>
                    <a:lstStyle/>
                    <a:p>
                      <a:pPr marL="0" indent="0">
                        <a:lnSpc>
                          <a:spcPts val="1960"/>
                        </a:lnSpc>
                        <a:buNone/>
                      </a:pPr>
                      <a:r>
                        <a:rPr lang="en-US" sz="2000" dirty="0">
                          <a:solidFill>
                            <a:srgbClr val="2A3646"/>
                          </a:solidFill>
                          <a:latin typeface="Nunito Sans" pitchFamily="34" charset="0"/>
                          <a:ea typeface="Nunito Sans" pitchFamily="34" charset="-122"/>
                          <a:cs typeface="Nunito Sans" pitchFamily="34" charset="-120"/>
                        </a:rPr>
                        <a:t>… will be used to… / … will help people…</a:t>
                      </a:r>
                      <a:endParaRPr lang="en-US" sz="2000" dirty="0">
                        <a:latin typeface="Nunito Sans" charset="0"/>
                        <a:ea typeface="Nunito Sans" charset="0"/>
                        <a:cs typeface="Nunito Sans" charset="0"/>
                      </a:endParaRPr>
                    </a:p>
                  </a:txBody>
                  <a:tcPr marL="152400" marR="152400" marT="88900" marB="88900">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BEC3C2"/>
                      </a:solidFill>
                      <a:prstDash val="solid"/>
                      <a:round/>
                      <a:headEnd type="none" w="med" len="med"/>
                      <a:tailEnd type="none" w="med" len="med"/>
                    </a:lnT>
                    <a:lnB w="12700" cap="flat" cmpd="sng" algn="ctr">
                      <a:solidFill>
                        <a:srgbClr val="CBCBC8"/>
                      </a:solidFill>
                      <a:prstDash val="solid"/>
                      <a:round/>
                      <a:headEnd type="none" w="med" len="med"/>
                      <a:tailEnd type="none" w="med" len="med"/>
                    </a:lnB>
                    <a:solidFill>
                      <a:srgbClr val="FFFEFB"/>
                    </a:solidFill>
                  </a:tcPr>
                </a:tc>
                <a:extLst>
                  <a:ext uri="{0D108BD9-81ED-4DB2-BD59-A6C34878D82A}">
                    <a16:rowId xmlns:a16="http://schemas.microsoft.com/office/drawing/2014/main" val="10003"/>
                  </a:ext>
                </a:extLst>
              </a:tr>
              <a:tr h="430510">
                <a:tc>
                  <a:txBody>
                    <a:bodyPr/>
                    <a:lstStyle/>
                    <a:p>
                      <a:pPr marL="0" indent="0">
                        <a:lnSpc>
                          <a:spcPts val="1960"/>
                        </a:lnSpc>
                        <a:buNone/>
                      </a:pPr>
                      <a:r>
                        <a:rPr lang="en-US" sz="2000" dirty="0">
                          <a:solidFill>
                            <a:srgbClr val="1D3557"/>
                          </a:solidFill>
                          <a:latin typeface="Nunito Sans" pitchFamily="34" charset="0"/>
                          <a:ea typeface="Nunito Sans" pitchFamily="34" charset="-122"/>
                          <a:cs typeface="Nunito Sans" pitchFamily="34" charset="-120"/>
                        </a:rPr>
                        <a:t>Giving reasons</a:t>
                      </a:r>
                      <a:endParaRPr lang="en-US" sz="2000" dirty="0">
                        <a:latin typeface="Nunito Sans" charset="0"/>
                        <a:ea typeface="Nunito Sans" charset="0"/>
                        <a:cs typeface="Nunito Sans" charset="0"/>
                      </a:endParaRPr>
                    </a:p>
                  </a:txBody>
                  <a:tcPr marL="152400" marR="152400" marT="88900" marB="88900">
                    <a:lnL w="0" cap="flat" cmpd="sng" algn="ctr">
                      <a:noFill/>
                    </a:lnL>
                    <a:lnR w="12700" cap="flat" cmpd="sng" algn="ctr">
                      <a:solidFill>
                        <a:srgbClr val="BEC3C2"/>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BEC3C2"/>
                      </a:solidFill>
                      <a:prstDash val="solid"/>
                      <a:round/>
                      <a:headEnd type="none" w="med" len="med"/>
                      <a:tailEnd type="none" w="med" len="med"/>
                    </a:lnB>
                    <a:solidFill>
                      <a:srgbClr val="EEF4F3"/>
                    </a:solidFill>
                  </a:tcPr>
                </a:tc>
                <a:tc>
                  <a:txBody>
                    <a:bodyPr/>
                    <a:lstStyle/>
                    <a:p>
                      <a:pPr marL="0" indent="0">
                        <a:lnSpc>
                          <a:spcPts val="1960"/>
                        </a:lnSpc>
                        <a:buNone/>
                      </a:pPr>
                      <a:r>
                        <a:rPr lang="en-US" sz="2000" dirty="0">
                          <a:solidFill>
                            <a:srgbClr val="2A3646"/>
                          </a:solidFill>
                          <a:latin typeface="Nunito Sans" pitchFamily="34" charset="0"/>
                          <a:ea typeface="Nunito Sans" pitchFamily="34" charset="-122"/>
                          <a:cs typeface="Nunito Sans" pitchFamily="34" charset="-120"/>
                        </a:rPr>
                        <a:t>This is because… / Thanks to…</a:t>
                      </a:r>
                      <a:endParaRPr lang="en-US" sz="2000" dirty="0">
                        <a:latin typeface="Nunito Sans" charset="0"/>
                        <a:ea typeface="Nunito Sans" charset="0"/>
                        <a:cs typeface="Nunito Sans" charset="0"/>
                      </a:endParaRPr>
                    </a:p>
                  </a:txBody>
                  <a:tcPr marL="152400" marR="152400" marT="88900" marB="88900">
                    <a:lnL w="12700" cap="flat" cmpd="sng" algn="ctr">
                      <a:solidFill>
                        <a:srgbClr val="BEC3C2"/>
                      </a:solidFill>
                      <a:prstDash val="solid"/>
                      <a:round/>
                      <a:headEnd type="none" w="med" len="med"/>
                      <a:tailEnd type="none" w="med" len="med"/>
                    </a:lnL>
                    <a:lnR w="12700" cap="flat" cmpd="sng" algn="ctr">
                      <a:solidFill>
                        <a:srgbClr val="BEC3C2"/>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BEC3C2"/>
                      </a:solidFill>
                      <a:prstDash val="solid"/>
                      <a:round/>
                      <a:headEnd type="none" w="med" len="med"/>
                      <a:tailEnd type="none" w="med" len="med"/>
                    </a:lnB>
                    <a:solidFill>
                      <a:srgbClr val="EEF4F3"/>
                    </a:solidFill>
                  </a:tcPr>
                </a:tc>
                <a:extLst>
                  <a:ext uri="{0D108BD9-81ED-4DB2-BD59-A6C34878D82A}">
                    <a16:rowId xmlns:a16="http://schemas.microsoft.com/office/drawing/2014/main" val="10004"/>
                  </a:ext>
                </a:extLst>
              </a:tr>
              <a:tr h="430510">
                <a:tc>
                  <a:txBody>
                    <a:bodyPr/>
                    <a:lstStyle/>
                    <a:p>
                      <a:pPr marL="0" indent="0">
                        <a:lnSpc>
                          <a:spcPts val="1960"/>
                        </a:lnSpc>
                        <a:buNone/>
                      </a:pPr>
                      <a:r>
                        <a:rPr lang="en-US" sz="2000" dirty="0">
                          <a:solidFill>
                            <a:srgbClr val="1D3557"/>
                          </a:solidFill>
                          <a:latin typeface="Nunito Sans" pitchFamily="34" charset="0"/>
                          <a:ea typeface="Nunito Sans" pitchFamily="34" charset="-122"/>
                          <a:cs typeface="Nunito Sans" pitchFamily="34" charset="-120"/>
                        </a:rPr>
                        <a:t>Describing benefits</a:t>
                      </a:r>
                      <a:endParaRPr lang="en-US" sz="2000" dirty="0">
                        <a:latin typeface="Nunito Sans" charset="0"/>
                        <a:ea typeface="Nunito Sans" charset="0"/>
                        <a:cs typeface="Nunito Sans" charset="0"/>
                      </a:endParaRPr>
                    </a:p>
                  </a:txBody>
                  <a:tcPr marL="152400" marR="152400" marT="88900" marB="88900">
                    <a:lnL w="0" cap="flat" cmpd="sng" algn="ctr">
                      <a:noFill/>
                    </a:lnL>
                    <a:lnR w="12700" cap="flat" cmpd="sng" algn="ctr">
                      <a:solidFill>
                        <a:srgbClr val="CBCBC8"/>
                      </a:solidFill>
                      <a:prstDash val="solid"/>
                      <a:round/>
                      <a:headEnd type="none" w="med" len="med"/>
                      <a:tailEnd type="none" w="med" len="med"/>
                    </a:lnR>
                    <a:lnT w="12700" cap="flat" cmpd="sng" algn="ctr">
                      <a:solidFill>
                        <a:srgbClr val="BEC3C2"/>
                      </a:solidFill>
                      <a:prstDash val="solid"/>
                      <a:round/>
                      <a:headEnd type="none" w="med" len="med"/>
                      <a:tailEnd type="none" w="med" len="med"/>
                    </a:lnT>
                    <a:lnB w="12700" cap="flat" cmpd="sng" algn="ctr">
                      <a:solidFill>
                        <a:srgbClr val="CBCBC8"/>
                      </a:solidFill>
                      <a:prstDash val="solid"/>
                      <a:round/>
                      <a:headEnd type="none" w="med" len="med"/>
                      <a:tailEnd type="none" w="med" len="med"/>
                    </a:lnB>
                    <a:solidFill>
                      <a:srgbClr val="FFFEFB"/>
                    </a:solidFill>
                  </a:tcPr>
                </a:tc>
                <a:tc>
                  <a:txBody>
                    <a:bodyPr/>
                    <a:lstStyle/>
                    <a:p>
                      <a:pPr marL="0" indent="0">
                        <a:lnSpc>
                          <a:spcPts val="1960"/>
                        </a:lnSpc>
                        <a:buNone/>
                      </a:pPr>
                      <a:r>
                        <a:rPr lang="en-US" sz="2000" dirty="0">
                          <a:solidFill>
                            <a:srgbClr val="2A3646"/>
                          </a:solidFill>
                          <a:latin typeface="Nunito Sans" pitchFamily="34" charset="0"/>
                          <a:ea typeface="Nunito Sans" pitchFamily="34" charset="-122"/>
                          <a:cs typeface="Nunito Sans" pitchFamily="34" charset="-120"/>
                        </a:rPr>
                        <a:t>As a result,… / This will make cities…</a:t>
                      </a:r>
                      <a:endParaRPr lang="en-US" sz="2000" dirty="0">
                        <a:latin typeface="Nunito Sans" charset="0"/>
                        <a:ea typeface="Nunito Sans" charset="0"/>
                        <a:cs typeface="Nunito Sans" charset="0"/>
                      </a:endParaRPr>
                    </a:p>
                  </a:txBody>
                  <a:tcPr marL="152400" marR="152400" marT="88900" marB="88900">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BEC3C2"/>
                      </a:solidFill>
                      <a:prstDash val="solid"/>
                      <a:round/>
                      <a:headEnd type="none" w="med" len="med"/>
                      <a:tailEnd type="none" w="med" len="med"/>
                    </a:lnT>
                    <a:lnB w="12700" cap="flat" cmpd="sng" algn="ctr">
                      <a:solidFill>
                        <a:srgbClr val="CBCBC8"/>
                      </a:solidFill>
                      <a:prstDash val="solid"/>
                      <a:round/>
                      <a:headEnd type="none" w="med" len="med"/>
                      <a:tailEnd type="none" w="med" len="med"/>
                    </a:lnB>
                    <a:solidFill>
                      <a:srgbClr val="FFFEFB"/>
                    </a:solidFill>
                  </a:tcPr>
                </a:tc>
                <a:extLst>
                  <a:ext uri="{0D108BD9-81ED-4DB2-BD59-A6C34878D82A}">
                    <a16:rowId xmlns:a16="http://schemas.microsoft.com/office/drawing/2014/main" val="10005"/>
                  </a:ext>
                </a:extLst>
              </a:tr>
              <a:tr h="430510">
                <a:tc>
                  <a:txBody>
                    <a:bodyPr/>
                    <a:lstStyle/>
                    <a:p>
                      <a:pPr marL="0" indent="0">
                        <a:lnSpc>
                          <a:spcPts val="1960"/>
                        </a:lnSpc>
                        <a:buNone/>
                      </a:pPr>
                      <a:r>
                        <a:rPr lang="en-US" sz="2000" dirty="0">
                          <a:solidFill>
                            <a:srgbClr val="1D3557"/>
                          </a:solidFill>
                          <a:latin typeface="Nunito Sans" pitchFamily="34" charset="0"/>
                          <a:ea typeface="Nunito Sans" pitchFamily="34" charset="-122"/>
                          <a:cs typeface="Nunito Sans" pitchFamily="34" charset="-120"/>
                        </a:rPr>
                        <a:t>Expressing opinions</a:t>
                      </a:r>
                      <a:endParaRPr lang="en-US" sz="2000" dirty="0">
                        <a:latin typeface="Nunito Sans" charset="0"/>
                        <a:ea typeface="Nunito Sans" charset="0"/>
                        <a:cs typeface="Nunito Sans" charset="0"/>
                      </a:endParaRPr>
                    </a:p>
                  </a:txBody>
                  <a:tcPr marL="152400" marR="152400" marT="88900" marB="88900">
                    <a:lnL w="0" cap="flat" cmpd="sng" algn="ctr">
                      <a:noFill/>
                    </a:lnL>
                    <a:lnR w="12700" cap="flat" cmpd="sng" algn="ctr">
                      <a:solidFill>
                        <a:srgbClr val="BEC3C2"/>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BEC3C2"/>
                      </a:solidFill>
                      <a:prstDash val="solid"/>
                      <a:round/>
                      <a:headEnd type="none" w="med" len="med"/>
                      <a:tailEnd type="none" w="med" len="med"/>
                    </a:lnB>
                    <a:solidFill>
                      <a:srgbClr val="EEF4F3"/>
                    </a:solidFill>
                  </a:tcPr>
                </a:tc>
                <a:tc>
                  <a:txBody>
                    <a:bodyPr/>
                    <a:lstStyle/>
                    <a:p>
                      <a:pPr marL="0" indent="0">
                        <a:lnSpc>
                          <a:spcPts val="1960"/>
                        </a:lnSpc>
                        <a:buNone/>
                      </a:pPr>
                      <a:r>
                        <a:rPr lang="en-US" sz="2000" dirty="0">
                          <a:solidFill>
                            <a:srgbClr val="2A3646"/>
                          </a:solidFill>
                          <a:latin typeface="Nunito Sans" pitchFamily="34" charset="0"/>
                          <a:ea typeface="Nunito Sans" pitchFamily="34" charset="-122"/>
                          <a:cs typeface="Nunito Sans" pitchFamily="34" charset="-120"/>
                        </a:rPr>
                        <a:t>In my opinion,… / I believe…</a:t>
                      </a:r>
                      <a:endParaRPr lang="en-US" sz="2000" dirty="0">
                        <a:latin typeface="Nunito Sans" charset="0"/>
                        <a:ea typeface="Nunito Sans" charset="0"/>
                        <a:cs typeface="Nunito Sans" charset="0"/>
                      </a:endParaRPr>
                    </a:p>
                  </a:txBody>
                  <a:tcPr marL="152400" marR="152400" marT="88900" marB="88900">
                    <a:lnL w="12700" cap="flat" cmpd="sng" algn="ctr">
                      <a:solidFill>
                        <a:srgbClr val="BEC3C2"/>
                      </a:solidFill>
                      <a:prstDash val="solid"/>
                      <a:round/>
                      <a:headEnd type="none" w="med" len="med"/>
                      <a:tailEnd type="none" w="med" len="med"/>
                    </a:lnL>
                    <a:lnR w="12700" cap="flat" cmpd="sng" algn="ctr">
                      <a:solidFill>
                        <a:srgbClr val="BEC3C2"/>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BEC3C2"/>
                      </a:solidFill>
                      <a:prstDash val="solid"/>
                      <a:round/>
                      <a:headEnd type="none" w="med" len="med"/>
                      <a:tailEnd type="none" w="med" len="med"/>
                    </a:lnB>
                    <a:solidFill>
                      <a:srgbClr val="EEF4F3"/>
                    </a:solidFill>
                  </a:tcPr>
                </a:tc>
                <a:extLst>
                  <a:ext uri="{0D108BD9-81ED-4DB2-BD59-A6C34878D82A}">
                    <a16:rowId xmlns:a16="http://schemas.microsoft.com/office/drawing/2014/main" val="10006"/>
                  </a:ext>
                </a:extLst>
              </a:tr>
              <a:tr h="430510">
                <a:tc>
                  <a:txBody>
                    <a:bodyPr/>
                    <a:lstStyle/>
                    <a:p>
                      <a:pPr marL="0" indent="0">
                        <a:lnSpc>
                          <a:spcPts val="1960"/>
                        </a:lnSpc>
                        <a:buNone/>
                      </a:pPr>
                      <a:r>
                        <a:rPr lang="en-US" sz="2000" dirty="0">
                          <a:solidFill>
                            <a:srgbClr val="1D3557"/>
                          </a:solidFill>
                          <a:latin typeface="Nunito Sans" pitchFamily="34" charset="0"/>
                          <a:ea typeface="Nunito Sans" pitchFamily="34" charset="-122"/>
                          <a:cs typeface="Nunito Sans" pitchFamily="34" charset="-120"/>
                        </a:rPr>
                        <a:t>Agreeing / disagreeing</a:t>
                      </a:r>
                      <a:endParaRPr lang="en-US" sz="2000" dirty="0">
                        <a:latin typeface="Nunito Sans" charset="0"/>
                        <a:ea typeface="Nunito Sans" charset="0"/>
                        <a:cs typeface="Nunito Sans" charset="0"/>
                      </a:endParaRPr>
                    </a:p>
                  </a:txBody>
                  <a:tcPr marL="152400" marR="152400" marT="88900" marB="88900">
                    <a:lnL w="0" cap="flat" cmpd="sng" algn="ctr">
                      <a:noFill/>
                    </a:lnL>
                    <a:lnR w="12700" cap="flat" cmpd="sng" algn="ctr">
                      <a:solidFill>
                        <a:srgbClr val="CBCBC8"/>
                      </a:solidFill>
                      <a:prstDash val="solid"/>
                      <a:round/>
                      <a:headEnd type="none" w="med" len="med"/>
                      <a:tailEnd type="none" w="med" len="med"/>
                    </a:lnR>
                    <a:lnT w="12700" cap="flat" cmpd="sng" algn="ctr">
                      <a:solidFill>
                        <a:srgbClr val="BEC3C2"/>
                      </a:solidFill>
                      <a:prstDash val="solid"/>
                      <a:round/>
                      <a:headEnd type="none" w="med" len="med"/>
                      <a:tailEnd type="none" w="med" len="med"/>
                    </a:lnT>
                    <a:lnB w="12700" cap="flat" cmpd="sng" algn="ctr">
                      <a:solidFill>
                        <a:srgbClr val="CBCBC8"/>
                      </a:solidFill>
                      <a:prstDash val="solid"/>
                      <a:round/>
                      <a:headEnd type="none" w="med" len="med"/>
                      <a:tailEnd type="none" w="med" len="med"/>
                    </a:lnB>
                    <a:solidFill>
                      <a:srgbClr val="FFFEFB"/>
                    </a:solidFill>
                  </a:tcPr>
                </a:tc>
                <a:tc>
                  <a:txBody>
                    <a:bodyPr/>
                    <a:lstStyle/>
                    <a:p>
                      <a:pPr marL="0" indent="0">
                        <a:lnSpc>
                          <a:spcPts val="1960"/>
                        </a:lnSpc>
                        <a:buNone/>
                      </a:pPr>
                      <a:r>
                        <a:rPr lang="en-US" sz="2000" dirty="0">
                          <a:solidFill>
                            <a:srgbClr val="2A3646"/>
                          </a:solidFill>
                          <a:latin typeface="Nunito Sans" pitchFamily="34" charset="0"/>
                          <a:ea typeface="Nunito Sans" pitchFamily="34" charset="-122"/>
                          <a:cs typeface="Nunito Sans" pitchFamily="34" charset="-120"/>
                        </a:rPr>
                        <a:t>I agree with you. / That’s true, but… / I’m not sure about that.</a:t>
                      </a:r>
                      <a:endParaRPr lang="en-US" sz="2000" dirty="0">
                        <a:latin typeface="Nunito Sans" charset="0"/>
                        <a:ea typeface="Nunito Sans" charset="0"/>
                        <a:cs typeface="Nunito Sans" charset="0"/>
                      </a:endParaRPr>
                    </a:p>
                  </a:txBody>
                  <a:tcPr marL="152400" marR="152400" marT="88900" marB="88900">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BEC3C2"/>
                      </a:solidFill>
                      <a:prstDash val="solid"/>
                      <a:round/>
                      <a:headEnd type="none" w="med" len="med"/>
                      <a:tailEnd type="none" w="med" len="med"/>
                    </a:lnT>
                    <a:lnB w="12700" cap="flat" cmpd="sng" algn="ctr">
                      <a:solidFill>
                        <a:srgbClr val="CBCBC8"/>
                      </a:solidFill>
                      <a:prstDash val="solid"/>
                      <a:round/>
                      <a:headEnd type="none" w="med" len="med"/>
                      <a:tailEnd type="none" w="med" len="med"/>
                    </a:lnB>
                    <a:solidFill>
                      <a:srgbClr val="FFFEFB"/>
                    </a:solidFill>
                  </a:tcPr>
                </a:tc>
                <a:extLst>
                  <a:ext uri="{0D108BD9-81ED-4DB2-BD59-A6C34878D82A}">
                    <a16:rowId xmlns:a16="http://schemas.microsoft.com/office/drawing/2014/main" val="10007"/>
                  </a:ext>
                </a:extLst>
              </a:tr>
              <a:tr h="430510">
                <a:tc>
                  <a:txBody>
                    <a:bodyPr/>
                    <a:lstStyle/>
                    <a:p>
                      <a:pPr marL="0" indent="0">
                        <a:lnSpc>
                          <a:spcPts val="1960"/>
                        </a:lnSpc>
                        <a:buNone/>
                      </a:pPr>
                      <a:r>
                        <a:rPr lang="en-US" sz="2000" dirty="0">
                          <a:solidFill>
                            <a:srgbClr val="1D3557"/>
                          </a:solidFill>
                          <a:latin typeface="Nunito Sans" pitchFamily="34" charset="0"/>
                          <a:ea typeface="Nunito Sans" pitchFamily="34" charset="-122"/>
                          <a:cs typeface="Nunito Sans" pitchFamily="34" charset="-120"/>
                        </a:rPr>
                        <a:t>Talking about problems</a:t>
                      </a:r>
                      <a:endParaRPr lang="en-US" sz="2000" dirty="0">
                        <a:latin typeface="Nunito Sans" charset="0"/>
                        <a:ea typeface="Nunito Sans" charset="0"/>
                        <a:cs typeface="Nunito Sans" charset="0"/>
                      </a:endParaRPr>
                    </a:p>
                  </a:txBody>
                  <a:tcPr marL="152400" marR="152400" marT="88900" marB="88900">
                    <a:lnL w="0" cap="flat" cmpd="sng" algn="ctr">
                      <a:noFill/>
                    </a:lnL>
                    <a:lnR w="12700" cap="flat" cmpd="sng" algn="ctr">
                      <a:solidFill>
                        <a:srgbClr val="BEC3C2"/>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BEC3C2"/>
                      </a:solidFill>
                      <a:prstDash val="solid"/>
                      <a:round/>
                      <a:headEnd type="none" w="med" len="med"/>
                      <a:tailEnd type="none" w="med" len="med"/>
                    </a:lnB>
                    <a:solidFill>
                      <a:srgbClr val="EEF4F3"/>
                    </a:solidFill>
                  </a:tcPr>
                </a:tc>
                <a:tc>
                  <a:txBody>
                    <a:bodyPr/>
                    <a:lstStyle/>
                    <a:p>
                      <a:pPr marL="0" indent="0">
                        <a:lnSpc>
                          <a:spcPts val="1960"/>
                        </a:lnSpc>
                        <a:buNone/>
                      </a:pPr>
                      <a:r>
                        <a:rPr lang="en-US" sz="2000" dirty="0">
                          <a:solidFill>
                            <a:srgbClr val="2A3646"/>
                          </a:solidFill>
                          <a:latin typeface="Nunito Sans" pitchFamily="34" charset="0"/>
                          <a:ea typeface="Nunito Sans" pitchFamily="34" charset="-122"/>
                          <a:cs typeface="Nunito Sans" pitchFamily="34" charset="-120"/>
                        </a:rPr>
                        <a:t>One problem is that… / People may / might… / To solve this,…</a:t>
                      </a:r>
                      <a:endParaRPr lang="en-US" sz="2000" dirty="0">
                        <a:latin typeface="Nunito Sans" charset="0"/>
                        <a:ea typeface="Nunito Sans" charset="0"/>
                        <a:cs typeface="Nunito Sans" charset="0"/>
                      </a:endParaRPr>
                    </a:p>
                  </a:txBody>
                  <a:tcPr marL="152400" marR="152400" marT="88900" marB="88900">
                    <a:lnL w="12700" cap="flat" cmpd="sng" algn="ctr">
                      <a:solidFill>
                        <a:srgbClr val="BEC3C2"/>
                      </a:solidFill>
                      <a:prstDash val="solid"/>
                      <a:round/>
                      <a:headEnd type="none" w="med" len="med"/>
                      <a:tailEnd type="none" w="med" len="med"/>
                    </a:lnL>
                    <a:lnR w="12700" cap="flat" cmpd="sng" algn="ctr">
                      <a:solidFill>
                        <a:srgbClr val="BEC3C2"/>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BEC3C2"/>
                      </a:solidFill>
                      <a:prstDash val="solid"/>
                      <a:round/>
                      <a:headEnd type="none" w="med" len="med"/>
                      <a:tailEnd type="none" w="med" len="med"/>
                    </a:lnB>
                    <a:solidFill>
                      <a:srgbClr val="EEF4F3"/>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EF4F3"/>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marL="0" indent="0" algn="l">
              <a:lnSpc>
                <a:spcPts val="1680"/>
              </a:lnSpc>
              <a:buNone/>
            </a:pPr>
            <a:r>
              <a:rPr lang="en-US" b="1" kern="0" spc="150" dirty="0">
                <a:solidFill>
                  <a:srgbClr val="117279"/>
                </a:solidFill>
                <a:latin typeface="Nunito Sans" pitchFamily="34" charset="0"/>
                <a:ea typeface="Nunito Sans" pitchFamily="34" charset="-122"/>
                <a:cs typeface="Nunito Sans" pitchFamily="34" charset="-120"/>
              </a:rPr>
              <a:t>QUESTION BANK • CHOOSE 2–3 QUESTIONS</a:t>
            </a:r>
            <a:endParaRPr lang="en-US" dirty="0"/>
          </a:p>
        </p:txBody>
      </p:sp>
      <p:sp>
        <p:nvSpPr>
          <p:cNvPr id="3" name="Text 1"/>
          <p:cNvSpPr>
            <a:spLocks noGrp="1"/>
          </p:cNvSpPr>
          <p:nvPr>
            <p:ph type="title"/>
          </p:nvPr>
        </p:nvSpPr>
        <p:spPr>
          <a:xfrm>
            <a:off x="812800" y="1000720"/>
            <a:ext cx="10883392" cy="444500"/>
          </a:xfrm>
          <a:prstGeom prst="rect">
            <a:avLst/>
          </a:prstGeom>
          <a:noFill/>
          <a:ln/>
        </p:spPr>
        <p:txBody>
          <a:bodyPr wrap="square" lIns="0" tIns="0" rIns="0" bIns="0" rtlCol="0" anchor="t">
            <a:normAutofit/>
          </a:bodyPr>
          <a:lstStyle/>
          <a:p>
            <a:pPr marL="0" indent="0" algn="l">
              <a:lnSpc>
                <a:spcPts val="3300"/>
              </a:lnSpc>
              <a:buNone/>
            </a:pPr>
            <a:r>
              <a:rPr lang="en-US" sz="1800" b="1" i="0" dirty="0">
                <a:solidFill>
                  <a:srgbClr val="1D3557"/>
                </a:solidFill>
                <a:latin typeface="Be Vietnam Pro" pitchFamily="34" charset="0"/>
                <a:ea typeface="Be Vietnam Pro" pitchFamily="34" charset="-122"/>
                <a:cs typeface="Be Vietnam Pro" pitchFamily="34" charset="-120"/>
              </a:rPr>
              <a:t>What can we ask about future cities?</a:t>
            </a:r>
            <a:endParaRPr lang="en-US" sz="1800" dirty="0"/>
          </a:p>
        </p:txBody>
      </p:sp>
      <p:sp>
        <p:nvSpPr>
          <p:cNvPr id="4" name="Shape 2"/>
          <p:cNvSpPr/>
          <p:nvPr/>
        </p:nvSpPr>
        <p:spPr>
          <a:xfrm>
            <a:off x="812800" y="1648420"/>
            <a:ext cx="5207000" cy="1653431"/>
          </a:xfrm>
          <a:prstGeom prst="roundRect">
            <a:avLst>
              <a:gd name="adj" fmla="val 6145"/>
            </a:avLst>
          </a:prstGeom>
          <a:solidFill>
            <a:srgbClr val="FFFEFB"/>
          </a:solidFill>
          <a:ln/>
        </p:spPr>
      </p:sp>
      <p:sp>
        <p:nvSpPr>
          <p:cNvPr id="5" name="Shape 3"/>
          <p:cNvSpPr/>
          <p:nvPr/>
        </p:nvSpPr>
        <p:spPr>
          <a:xfrm>
            <a:off x="812800" y="1648420"/>
            <a:ext cx="5207000" cy="1653431"/>
          </a:xfrm>
          <a:custGeom>
            <a:avLst/>
            <a:gdLst/>
            <a:ahLst/>
            <a:cxnLst/>
            <a:rect l="l" t="t" r="r" b="b"/>
            <a:pathLst>
              <a:path w="5207000" h="1653431">
                <a:moveTo>
                  <a:pt x="101600" y="1653431"/>
                </a:moveTo>
                <a:lnTo>
                  <a:pt x="101600" y="1653431"/>
                </a:lnTo>
                <a:arcTo wR="101600" hR="101600" stAng="5400000" swAng="5400000"/>
                <a:lnTo>
                  <a:pt x="0" y="101600"/>
                </a:lnTo>
                <a:arcTo wR="101600" hR="101600" stAng="10800000" swAng="5400000"/>
                <a:lnTo>
                  <a:pt x="101600" y="0"/>
                </a:lnTo>
                <a:arcTo wR="50800" hR="101600" stAng="16200000" swAng="-5400000"/>
                <a:lnTo>
                  <a:pt x="50800" y="1551831"/>
                </a:lnTo>
                <a:arcTo wR="50800" hR="101600" stAng="10800000" swAng="-5400000"/>
                <a:close/>
              </a:path>
            </a:pathLst>
          </a:custGeom>
          <a:solidFill>
            <a:srgbClr val="117279"/>
          </a:solidFill>
          <a:ln/>
        </p:spPr>
      </p:sp>
      <p:sp>
        <p:nvSpPr>
          <p:cNvPr id="6" name="Text 4"/>
          <p:cNvSpPr/>
          <p:nvPr/>
        </p:nvSpPr>
        <p:spPr>
          <a:xfrm>
            <a:off x="1092200" y="1826220"/>
            <a:ext cx="4839970" cy="299690"/>
          </a:xfrm>
          <a:prstGeom prst="rect">
            <a:avLst/>
          </a:prstGeom>
          <a:noFill/>
          <a:ln/>
        </p:spPr>
        <p:txBody>
          <a:bodyPr wrap="square" lIns="0" tIns="0" rIns="0" bIns="0" rtlCol="0" anchor="t">
            <a:normAutofit/>
          </a:bodyPr>
          <a:lstStyle/>
          <a:p>
            <a:pPr marL="0" indent="0" algn="l">
              <a:lnSpc>
                <a:spcPts val="2160"/>
              </a:lnSpc>
              <a:buNone/>
            </a:pPr>
            <a:r>
              <a:rPr lang="en-US" b="1" dirty="0">
                <a:solidFill>
                  <a:srgbClr val="1D3557"/>
                </a:solidFill>
                <a:latin typeface="Be Vietnam Pro" pitchFamily="34" charset="0"/>
                <a:ea typeface="Be Vietnam Pro" pitchFamily="34" charset="-122"/>
                <a:cs typeface="Be Vietnam Pro" pitchFamily="34" charset="-120"/>
              </a:rPr>
              <a:t>Transport</a:t>
            </a:r>
            <a:endParaRPr lang="en-US" dirty="0"/>
          </a:p>
        </p:txBody>
      </p:sp>
      <p:sp>
        <p:nvSpPr>
          <p:cNvPr id="7" name="Text 5"/>
          <p:cNvSpPr/>
          <p:nvPr/>
        </p:nvSpPr>
        <p:spPr>
          <a:xfrm>
            <a:off x="1153120" y="2074812"/>
            <a:ext cx="4771430" cy="985441"/>
          </a:xfrm>
          <a:prstGeom prst="rect">
            <a:avLst/>
          </a:prstGeom>
          <a:noFill/>
          <a:ln/>
        </p:spPr>
        <p:txBody>
          <a:bodyPr wrap="square" lIns="0" tIns="0" rIns="0" bIns="0" rtlCol="0" anchor="t">
            <a:noAutofit/>
          </a:bodyPr>
          <a:lstStyle/>
          <a:p>
            <a:pPr marL="193080" indent="-193080" algn="l">
              <a:lnSpc>
                <a:spcPts val="1890"/>
              </a:lnSpc>
              <a:buSzPct val="100000"/>
              <a:buFontTx/>
              <a:buAutoNum type="arabicPeriod"/>
            </a:pPr>
            <a:r>
              <a:rPr lang="en-US" dirty="0">
                <a:solidFill>
                  <a:srgbClr val="2A3646"/>
                </a:solidFill>
                <a:latin typeface="Nunito Sans" pitchFamily="34" charset="0"/>
                <a:ea typeface="Nunito Sans" pitchFamily="34" charset="-122"/>
                <a:cs typeface="Nunito Sans" pitchFamily="34" charset="-120"/>
              </a:rPr>
              <a:t>What will people use to travel in future cities?</a:t>
            </a:r>
            <a:endParaRPr lang="en-US" dirty="0"/>
          </a:p>
          <a:p>
            <a:pPr marL="193080" indent="-193080" algn="l">
              <a:lnSpc>
                <a:spcPts val="1890"/>
              </a:lnSpc>
              <a:buSzPct val="100000"/>
              <a:buFontTx/>
              <a:buAutoNum type="arabicPeriod"/>
            </a:pPr>
            <a:r>
              <a:rPr lang="en-US" dirty="0">
                <a:solidFill>
                  <a:srgbClr val="2A3646"/>
                </a:solidFill>
                <a:latin typeface="Nunito Sans" pitchFamily="34" charset="0"/>
                <a:ea typeface="Nunito Sans" pitchFamily="34" charset="-122"/>
                <a:cs typeface="Nunito Sans" pitchFamily="34" charset="-120"/>
              </a:rPr>
              <a:t>Will private cars still be popular?</a:t>
            </a:r>
            <a:endParaRPr lang="en-US" dirty="0"/>
          </a:p>
          <a:p>
            <a:pPr marL="193080" indent="-193080" algn="l">
              <a:lnSpc>
                <a:spcPts val="1890"/>
              </a:lnSpc>
              <a:buSzPct val="100000"/>
              <a:buFontTx/>
              <a:buAutoNum type="arabicPeriod"/>
            </a:pPr>
            <a:r>
              <a:rPr lang="en-US" dirty="0">
                <a:solidFill>
                  <a:srgbClr val="2A3646"/>
                </a:solidFill>
                <a:latin typeface="Nunito Sans" pitchFamily="34" charset="0"/>
                <a:ea typeface="Nunito Sans" pitchFamily="34" charset="-122"/>
                <a:cs typeface="Nunito Sans" pitchFamily="34" charset="-120"/>
              </a:rPr>
              <a:t>Why will public transport be better?</a:t>
            </a:r>
            <a:endParaRPr lang="en-US" dirty="0"/>
          </a:p>
          <a:p>
            <a:pPr marL="193080" indent="-193080" algn="l">
              <a:lnSpc>
                <a:spcPts val="1890"/>
              </a:lnSpc>
              <a:buSzPct val="100000"/>
              <a:buFontTx/>
              <a:buAutoNum type="arabicPeriod"/>
            </a:pPr>
            <a:r>
              <a:rPr lang="en-US" dirty="0">
                <a:solidFill>
                  <a:srgbClr val="2A3646"/>
                </a:solidFill>
                <a:latin typeface="Nunito Sans" pitchFamily="34" charset="0"/>
                <a:ea typeface="Nunito Sans" pitchFamily="34" charset="-122"/>
                <a:cs typeface="Nunito Sans" pitchFamily="34" charset="-120"/>
              </a:rPr>
              <a:t>How will technology reduce traffic jams?</a:t>
            </a:r>
            <a:endParaRPr lang="en-US" dirty="0"/>
          </a:p>
        </p:txBody>
      </p:sp>
      <p:sp>
        <p:nvSpPr>
          <p:cNvPr id="8" name="Shape 6"/>
          <p:cNvSpPr/>
          <p:nvPr/>
        </p:nvSpPr>
        <p:spPr>
          <a:xfrm>
            <a:off x="6172200" y="1648420"/>
            <a:ext cx="5207000" cy="1831231"/>
          </a:xfrm>
          <a:prstGeom prst="roundRect">
            <a:avLst>
              <a:gd name="adj" fmla="val 6145"/>
            </a:avLst>
          </a:prstGeom>
          <a:solidFill>
            <a:srgbClr val="FFFEFB"/>
          </a:solidFill>
          <a:ln/>
        </p:spPr>
      </p:sp>
      <p:sp>
        <p:nvSpPr>
          <p:cNvPr id="9" name="Shape 7"/>
          <p:cNvSpPr/>
          <p:nvPr/>
        </p:nvSpPr>
        <p:spPr>
          <a:xfrm>
            <a:off x="6172200" y="1648420"/>
            <a:ext cx="5207000" cy="1653431"/>
          </a:xfrm>
          <a:custGeom>
            <a:avLst/>
            <a:gdLst/>
            <a:ahLst/>
            <a:cxnLst/>
            <a:rect l="l" t="t" r="r" b="b"/>
            <a:pathLst>
              <a:path w="5207000" h="1653431">
                <a:moveTo>
                  <a:pt x="101600" y="1653431"/>
                </a:moveTo>
                <a:lnTo>
                  <a:pt x="101600" y="1653431"/>
                </a:lnTo>
                <a:arcTo wR="101600" hR="101600" stAng="5400000" swAng="5400000"/>
                <a:lnTo>
                  <a:pt x="0" y="101600"/>
                </a:lnTo>
                <a:arcTo wR="101600" hR="101600" stAng="10800000" swAng="5400000"/>
                <a:lnTo>
                  <a:pt x="101600" y="0"/>
                </a:lnTo>
                <a:arcTo wR="50800" hR="101600" stAng="16200000" swAng="-5400000"/>
                <a:lnTo>
                  <a:pt x="50800" y="1551831"/>
                </a:lnTo>
                <a:arcTo wR="50800" hR="101600" stAng="10800000" swAng="-5400000"/>
                <a:close/>
              </a:path>
            </a:pathLst>
          </a:custGeom>
          <a:solidFill>
            <a:srgbClr val="E8762A"/>
          </a:solidFill>
          <a:ln/>
        </p:spPr>
      </p:sp>
      <p:sp>
        <p:nvSpPr>
          <p:cNvPr id="10" name="Text 8"/>
          <p:cNvSpPr/>
          <p:nvPr/>
        </p:nvSpPr>
        <p:spPr>
          <a:xfrm>
            <a:off x="6451600" y="1826220"/>
            <a:ext cx="4839970" cy="299690"/>
          </a:xfrm>
          <a:prstGeom prst="rect">
            <a:avLst/>
          </a:prstGeom>
          <a:noFill/>
          <a:ln/>
        </p:spPr>
        <p:txBody>
          <a:bodyPr wrap="square" lIns="0" tIns="0" rIns="0" bIns="0" rtlCol="0" anchor="t">
            <a:normAutofit/>
          </a:bodyPr>
          <a:lstStyle/>
          <a:p>
            <a:pPr marL="0" indent="0" algn="l">
              <a:lnSpc>
                <a:spcPts val="2160"/>
              </a:lnSpc>
              <a:buNone/>
            </a:pPr>
            <a:r>
              <a:rPr lang="en-US" b="1" dirty="0">
                <a:solidFill>
                  <a:srgbClr val="1D3557"/>
                </a:solidFill>
                <a:latin typeface="Be Vietnam Pro" pitchFamily="34" charset="0"/>
                <a:ea typeface="Be Vietnam Pro" pitchFamily="34" charset="-122"/>
                <a:cs typeface="Be Vietnam Pro" pitchFamily="34" charset="-120"/>
              </a:rPr>
              <a:t>Infrastructure</a:t>
            </a:r>
            <a:endParaRPr lang="en-US" dirty="0"/>
          </a:p>
        </p:txBody>
      </p:sp>
      <p:sp>
        <p:nvSpPr>
          <p:cNvPr id="11" name="Text 9"/>
          <p:cNvSpPr/>
          <p:nvPr/>
        </p:nvSpPr>
        <p:spPr>
          <a:xfrm>
            <a:off x="6512520" y="2164011"/>
            <a:ext cx="4771430" cy="985441"/>
          </a:xfrm>
          <a:prstGeom prst="rect">
            <a:avLst/>
          </a:prstGeom>
          <a:noFill/>
          <a:ln/>
        </p:spPr>
        <p:txBody>
          <a:bodyPr wrap="square" lIns="0" tIns="0" rIns="0" bIns="0" rtlCol="0" anchor="t">
            <a:noAutofit/>
          </a:bodyPr>
          <a:lstStyle/>
          <a:p>
            <a:pPr marL="193080" indent="-193080" algn="l">
              <a:lnSpc>
                <a:spcPts val="1890"/>
              </a:lnSpc>
              <a:buSzPct val="100000"/>
              <a:buFontTx/>
              <a:buAutoNum type="arabicPeriod"/>
            </a:pPr>
            <a:r>
              <a:rPr lang="en-US" dirty="0">
                <a:solidFill>
                  <a:srgbClr val="2A3646"/>
                </a:solidFill>
                <a:latin typeface="Nunito Sans" pitchFamily="34" charset="0"/>
                <a:ea typeface="Nunito Sans" pitchFamily="34" charset="-122"/>
                <a:cs typeface="Nunito Sans" pitchFamily="34" charset="-120"/>
              </a:rPr>
              <a:t>What will buildings look like?</a:t>
            </a:r>
            <a:endParaRPr lang="en-US" dirty="0"/>
          </a:p>
          <a:p>
            <a:pPr marL="193080" indent="-193080" algn="l">
              <a:lnSpc>
                <a:spcPts val="1890"/>
              </a:lnSpc>
              <a:buSzPct val="100000"/>
              <a:buFontTx/>
              <a:buAutoNum type="arabicPeriod"/>
            </a:pPr>
            <a:r>
              <a:rPr lang="en-US" dirty="0">
                <a:solidFill>
                  <a:srgbClr val="2A3646"/>
                </a:solidFill>
                <a:latin typeface="Nunito Sans" pitchFamily="34" charset="0"/>
                <a:ea typeface="Nunito Sans" pitchFamily="34" charset="-122"/>
                <a:cs typeface="Nunito Sans" pitchFamily="34" charset="-120"/>
              </a:rPr>
              <a:t>How will smart sensors help the city?</a:t>
            </a:r>
            <a:endParaRPr lang="en-US" dirty="0"/>
          </a:p>
          <a:p>
            <a:pPr marL="193080" indent="-193080" algn="l">
              <a:lnSpc>
                <a:spcPts val="1890"/>
              </a:lnSpc>
              <a:buSzPct val="100000"/>
              <a:buFontTx/>
              <a:buAutoNum type="arabicPeriod"/>
            </a:pPr>
            <a:r>
              <a:rPr lang="en-US" dirty="0">
                <a:solidFill>
                  <a:srgbClr val="2A3646"/>
                </a:solidFill>
                <a:latin typeface="Nunito Sans" pitchFamily="34" charset="0"/>
                <a:ea typeface="Nunito Sans" pitchFamily="34" charset="-122"/>
                <a:cs typeface="Nunito Sans" pitchFamily="34" charset="-120"/>
              </a:rPr>
              <a:t>What will make buildings more eco-friendly?</a:t>
            </a:r>
            <a:endParaRPr lang="en-US" dirty="0"/>
          </a:p>
          <a:p>
            <a:pPr marL="193080" indent="-193080" algn="l">
              <a:lnSpc>
                <a:spcPts val="1890"/>
              </a:lnSpc>
              <a:buSzPct val="100000"/>
              <a:buFontTx/>
              <a:buAutoNum type="arabicPeriod"/>
            </a:pPr>
            <a:r>
              <a:rPr lang="en-US" dirty="0">
                <a:solidFill>
                  <a:srgbClr val="2A3646"/>
                </a:solidFill>
                <a:latin typeface="Nunito Sans" pitchFamily="34" charset="0"/>
                <a:ea typeface="Nunito Sans" pitchFamily="34" charset="-122"/>
                <a:cs typeface="Nunito Sans" pitchFamily="34" charset="-120"/>
              </a:rPr>
              <a:t>How will technology help save energy?</a:t>
            </a:r>
            <a:endParaRPr lang="en-US" dirty="0"/>
          </a:p>
        </p:txBody>
      </p:sp>
      <p:sp>
        <p:nvSpPr>
          <p:cNvPr id="12" name="Shape 10"/>
          <p:cNvSpPr/>
          <p:nvPr/>
        </p:nvSpPr>
        <p:spPr>
          <a:xfrm>
            <a:off x="772815" y="3619202"/>
            <a:ext cx="5207000" cy="2403029"/>
          </a:xfrm>
          <a:prstGeom prst="roundRect">
            <a:avLst>
              <a:gd name="adj" fmla="val 6145"/>
            </a:avLst>
          </a:prstGeom>
          <a:solidFill>
            <a:srgbClr val="FFFEFB"/>
          </a:solidFill>
          <a:ln/>
        </p:spPr>
      </p:sp>
      <p:sp>
        <p:nvSpPr>
          <p:cNvPr id="13" name="Shape 11"/>
          <p:cNvSpPr/>
          <p:nvPr/>
        </p:nvSpPr>
        <p:spPr>
          <a:xfrm>
            <a:off x="717550" y="3779920"/>
            <a:ext cx="5207000" cy="1653431"/>
          </a:xfrm>
          <a:custGeom>
            <a:avLst/>
            <a:gdLst/>
            <a:ahLst/>
            <a:cxnLst/>
            <a:rect l="l" t="t" r="r" b="b"/>
            <a:pathLst>
              <a:path w="5207000" h="1653431">
                <a:moveTo>
                  <a:pt x="101600" y="1653431"/>
                </a:moveTo>
                <a:lnTo>
                  <a:pt x="101600" y="1653431"/>
                </a:lnTo>
                <a:arcTo wR="101600" hR="101600" stAng="5400000" swAng="5400000"/>
                <a:lnTo>
                  <a:pt x="0" y="101600"/>
                </a:lnTo>
                <a:arcTo wR="101600" hR="101600" stAng="10800000" swAng="5400000"/>
                <a:lnTo>
                  <a:pt x="101600" y="0"/>
                </a:lnTo>
                <a:arcTo wR="50800" hR="101600" stAng="16200000" swAng="-5400000"/>
                <a:lnTo>
                  <a:pt x="50800" y="1551831"/>
                </a:lnTo>
                <a:arcTo wR="50800" hR="101600" stAng="10800000" swAng="-5400000"/>
                <a:close/>
              </a:path>
            </a:pathLst>
          </a:custGeom>
          <a:solidFill>
            <a:srgbClr val="1D3557"/>
          </a:solidFill>
          <a:ln/>
        </p:spPr>
      </p:sp>
      <p:sp>
        <p:nvSpPr>
          <p:cNvPr id="14" name="Text 12"/>
          <p:cNvSpPr/>
          <p:nvPr/>
        </p:nvSpPr>
        <p:spPr>
          <a:xfrm>
            <a:off x="1092200" y="3632051"/>
            <a:ext cx="4839970" cy="299690"/>
          </a:xfrm>
          <a:prstGeom prst="rect">
            <a:avLst/>
          </a:prstGeom>
          <a:noFill/>
          <a:ln/>
        </p:spPr>
        <p:txBody>
          <a:bodyPr wrap="square" lIns="0" tIns="0" rIns="0" bIns="0" rtlCol="0" anchor="t">
            <a:normAutofit/>
          </a:bodyPr>
          <a:lstStyle/>
          <a:p>
            <a:pPr marL="0" indent="0" algn="l">
              <a:lnSpc>
                <a:spcPts val="2160"/>
              </a:lnSpc>
              <a:buNone/>
            </a:pPr>
            <a:r>
              <a:rPr lang="en-US" b="1" dirty="0">
                <a:solidFill>
                  <a:srgbClr val="1D3557"/>
                </a:solidFill>
                <a:latin typeface="Be Vietnam Pro" pitchFamily="34" charset="0"/>
                <a:ea typeface="Be Vietnam Pro" pitchFamily="34" charset="-122"/>
                <a:cs typeface="Be Vietnam Pro" pitchFamily="34" charset="-120"/>
              </a:rPr>
              <a:t>Living conditions</a:t>
            </a:r>
            <a:endParaRPr lang="en-US" dirty="0"/>
          </a:p>
        </p:txBody>
      </p:sp>
      <p:sp>
        <p:nvSpPr>
          <p:cNvPr id="15" name="Text 13"/>
          <p:cNvSpPr/>
          <p:nvPr/>
        </p:nvSpPr>
        <p:spPr>
          <a:xfrm>
            <a:off x="1092200" y="4249092"/>
            <a:ext cx="4771430" cy="1315641"/>
          </a:xfrm>
          <a:prstGeom prst="rect">
            <a:avLst/>
          </a:prstGeom>
          <a:noFill/>
          <a:ln/>
        </p:spPr>
        <p:txBody>
          <a:bodyPr wrap="square" lIns="0" tIns="0" rIns="0" bIns="0" rtlCol="0" anchor="t">
            <a:normAutofit/>
          </a:bodyPr>
          <a:lstStyle/>
          <a:p>
            <a:pPr marL="193080" indent="-193080" algn="l">
              <a:lnSpc>
                <a:spcPts val="1890"/>
              </a:lnSpc>
              <a:buSzPct val="100000"/>
              <a:buFontTx/>
              <a:buAutoNum type="arabicPeriod"/>
            </a:pPr>
            <a:r>
              <a:rPr lang="en-US" dirty="0">
                <a:solidFill>
                  <a:srgbClr val="2A3646"/>
                </a:solidFill>
                <a:latin typeface="Nunito Sans" pitchFamily="34" charset="0"/>
                <a:ea typeface="Nunito Sans" pitchFamily="34" charset="-122"/>
                <a:cs typeface="Nunito Sans" pitchFamily="34" charset="-120"/>
              </a:rPr>
              <a:t>Where will people relax in future cities?</a:t>
            </a:r>
            <a:endParaRPr lang="en-US" dirty="0"/>
          </a:p>
          <a:p>
            <a:pPr marL="193080" indent="-193080" algn="l">
              <a:lnSpc>
                <a:spcPts val="1890"/>
              </a:lnSpc>
              <a:buSzPct val="100000"/>
              <a:buFontTx/>
              <a:buAutoNum type="arabicPeriod"/>
            </a:pPr>
            <a:r>
              <a:rPr lang="en-US" dirty="0">
                <a:solidFill>
                  <a:srgbClr val="2A3646"/>
                </a:solidFill>
                <a:latin typeface="Nunito Sans" pitchFamily="34" charset="0"/>
                <a:ea typeface="Nunito Sans" pitchFamily="34" charset="-122"/>
                <a:cs typeface="Nunito Sans" pitchFamily="34" charset="-120"/>
              </a:rPr>
              <a:t>How will AI make people’s lives easier?</a:t>
            </a:r>
            <a:endParaRPr lang="en-US" dirty="0"/>
          </a:p>
          <a:p>
            <a:pPr marL="193080" indent="-193080" algn="l">
              <a:lnSpc>
                <a:spcPts val="1890"/>
              </a:lnSpc>
              <a:buSzPct val="100000"/>
              <a:buFontTx/>
              <a:buAutoNum type="arabicPeriod"/>
            </a:pPr>
            <a:r>
              <a:rPr lang="en-US" dirty="0">
                <a:solidFill>
                  <a:srgbClr val="2A3646"/>
                </a:solidFill>
                <a:latin typeface="Nunito Sans" pitchFamily="34" charset="0"/>
                <a:ea typeface="Nunito Sans" pitchFamily="34" charset="-122"/>
                <a:cs typeface="Nunito Sans" pitchFamily="34" charset="-120"/>
              </a:rPr>
              <a:t>Why will future cities be healthier?</a:t>
            </a:r>
            <a:endParaRPr lang="en-US" dirty="0"/>
          </a:p>
          <a:p>
            <a:pPr marL="193080" indent="-193080" algn="l">
              <a:lnSpc>
                <a:spcPts val="1890"/>
              </a:lnSpc>
              <a:buSzPct val="100000"/>
              <a:buFontTx/>
              <a:buAutoNum type="arabicPeriod"/>
            </a:pPr>
            <a:r>
              <a:rPr lang="en-US" dirty="0">
                <a:solidFill>
                  <a:srgbClr val="2A3646"/>
                </a:solidFill>
                <a:latin typeface="Nunito Sans" pitchFamily="34" charset="0"/>
                <a:ea typeface="Nunito Sans" pitchFamily="34" charset="-122"/>
                <a:cs typeface="Nunito Sans" pitchFamily="34" charset="-120"/>
              </a:rPr>
              <a:t>What will make future cities more liveable?</a:t>
            </a:r>
            <a:endParaRPr lang="en-US" dirty="0"/>
          </a:p>
        </p:txBody>
      </p:sp>
      <p:sp>
        <p:nvSpPr>
          <p:cNvPr id="16" name="Shape 14"/>
          <p:cNvSpPr/>
          <p:nvPr/>
        </p:nvSpPr>
        <p:spPr>
          <a:xfrm>
            <a:off x="6197600" y="3632051"/>
            <a:ext cx="5207000" cy="2403029"/>
          </a:xfrm>
          <a:prstGeom prst="roundRect">
            <a:avLst>
              <a:gd name="adj" fmla="val 6145"/>
            </a:avLst>
          </a:prstGeom>
          <a:solidFill>
            <a:srgbClr val="FFFEFB"/>
          </a:solidFill>
          <a:ln/>
        </p:spPr>
      </p:sp>
      <p:sp>
        <p:nvSpPr>
          <p:cNvPr id="17" name="Shape 15"/>
          <p:cNvSpPr/>
          <p:nvPr/>
        </p:nvSpPr>
        <p:spPr>
          <a:xfrm>
            <a:off x="6172200" y="3739414"/>
            <a:ext cx="5207000" cy="1653431"/>
          </a:xfrm>
          <a:custGeom>
            <a:avLst/>
            <a:gdLst/>
            <a:ahLst/>
            <a:cxnLst/>
            <a:rect l="l" t="t" r="r" b="b"/>
            <a:pathLst>
              <a:path w="5207000" h="1653431">
                <a:moveTo>
                  <a:pt x="101600" y="1653431"/>
                </a:moveTo>
                <a:lnTo>
                  <a:pt x="101600" y="1653431"/>
                </a:lnTo>
                <a:arcTo wR="101600" hR="101600" stAng="5400000" swAng="5400000"/>
                <a:lnTo>
                  <a:pt x="0" y="101600"/>
                </a:lnTo>
                <a:arcTo wR="101600" hR="101600" stAng="10800000" swAng="5400000"/>
                <a:lnTo>
                  <a:pt x="101600" y="0"/>
                </a:lnTo>
                <a:arcTo wR="50800" hR="101600" stAng="16200000" swAng="-5400000"/>
                <a:lnTo>
                  <a:pt x="50800" y="1551831"/>
                </a:lnTo>
                <a:arcTo wR="50800" hR="101600" stAng="10800000" swAng="-5400000"/>
                <a:close/>
              </a:path>
            </a:pathLst>
          </a:custGeom>
          <a:solidFill>
            <a:srgbClr val="5D6877"/>
          </a:solidFill>
          <a:ln/>
        </p:spPr>
      </p:sp>
      <p:sp>
        <p:nvSpPr>
          <p:cNvPr id="18" name="Text 16"/>
          <p:cNvSpPr/>
          <p:nvPr/>
        </p:nvSpPr>
        <p:spPr>
          <a:xfrm>
            <a:off x="6451600" y="3632051"/>
            <a:ext cx="4839970" cy="299690"/>
          </a:xfrm>
          <a:prstGeom prst="rect">
            <a:avLst/>
          </a:prstGeom>
          <a:noFill/>
          <a:ln/>
        </p:spPr>
        <p:txBody>
          <a:bodyPr wrap="square" lIns="0" tIns="0" rIns="0" bIns="0" rtlCol="0" anchor="t">
            <a:normAutofit/>
          </a:bodyPr>
          <a:lstStyle/>
          <a:p>
            <a:pPr marL="0" indent="0" algn="l">
              <a:lnSpc>
                <a:spcPts val="2160"/>
              </a:lnSpc>
              <a:buNone/>
            </a:pPr>
            <a:r>
              <a:rPr lang="en-US" b="1" dirty="0">
                <a:solidFill>
                  <a:srgbClr val="1D3557"/>
                </a:solidFill>
                <a:latin typeface="Be Vietnam Pro" pitchFamily="34" charset="0"/>
                <a:ea typeface="Be Vietnam Pro" pitchFamily="34" charset="-122"/>
                <a:cs typeface="Be Vietnam Pro" pitchFamily="34" charset="-120"/>
              </a:rPr>
              <a:t>Smart city challenges</a:t>
            </a:r>
            <a:endParaRPr lang="en-US" dirty="0"/>
          </a:p>
        </p:txBody>
      </p:sp>
      <p:sp>
        <p:nvSpPr>
          <p:cNvPr id="19" name="Text 17"/>
          <p:cNvSpPr/>
          <p:nvPr/>
        </p:nvSpPr>
        <p:spPr>
          <a:xfrm>
            <a:off x="6389985" y="4184088"/>
            <a:ext cx="4771430" cy="985441"/>
          </a:xfrm>
          <a:prstGeom prst="rect">
            <a:avLst/>
          </a:prstGeom>
          <a:noFill/>
          <a:ln/>
        </p:spPr>
        <p:txBody>
          <a:bodyPr wrap="square" lIns="0" tIns="0" rIns="0" bIns="0" rtlCol="0" anchor="t">
            <a:noAutofit/>
          </a:bodyPr>
          <a:lstStyle/>
          <a:p>
            <a:pPr marL="193080" indent="-193080" algn="l">
              <a:lnSpc>
                <a:spcPts val="1890"/>
              </a:lnSpc>
              <a:buSzPct val="100000"/>
              <a:buFontTx/>
              <a:buAutoNum type="arabicPeriod"/>
            </a:pPr>
            <a:r>
              <a:rPr lang="en-US" dirty="0">
                <a:solidFill>
                  <a:srgbClr val="2A3646"/>
                </a:solidFill>
                <a:latin typeface="Nunito Sans" pitchFamily="34" charset="0"/>
                <a:ea typeface="Nunito Sans" pitchFamily="34" charset="-122"/>
                <a:cs typeface="Nunito Sans" pitchFamily="34" charset="-120"/>
              </a:rPr>
              <a:t>Would you like to live in a smart city? Why?</a:t>
            </a:r>
            <a:endParaRPr lang="en-US" dirty="0"/>
          </a:p>
          <a:p>
            <a:pPr marL="193080" indent="-193080" algn="l">
              <a:lnSpc>
                <a:spcPts val="1890"/>
              </a:lnSpc>
              <a:buSzPct val="100000"/>
              <a:buFontTx/>
              <a:buAutoNum type="arabicPeriod"/>
            </a:pPr>
            <a:r>
              <a:rPr lang="en-US" dirty="0">
                <a:solidFill>
                  <a:srgbClr val="2A3646"/>
                </a:solidFill>
                <a:latin typeface="Nunito Sans" pitchFamily="34" charset="0"/>
                <a:ea typeface="Nunito Sans" pitchFamily="34" charset="-122"/>
                <a:cs typeface="Nunito Sans" pitchFamily="34" charset="-120"/>
              </a:rPr>
              <a:t>How can cameras and sensors be useful or worrying?</a:t>
            </a:r>
            <a:endParaRPr lang="en-US" dirty="0"/>
          </a:p>
          <a:p>
            <a:pPr marL="193080" indent="-193080" algn="l">
              <a:lnSpc>
                <a:spcPts val="1890"/>
              </a:lnSpc>
              <a:buSzPct val="100000"/>
              <a:buFontTx/>
              <a:buAutoNum type="arabicPeriod"/>
            </a:pPr>
            <a:r>
              <a:rPr lang="en-US" dirty="0">
                <a:solidFill>
                  <a:srgbClr val="2A3646"/>
                </a:solidFill>
                <a:latin typeface="Nunito Sans" pitchFamily="34" charset="0"/>
                <a:ea typeface="Nunito Sans" pitchFamily="34" charset="-122"/>
                <a:cs typeface="Nunito Sans" pitchFamily="34" charset="-120"/>
              </a:rPr>
              <a:t>Why might some people feel lonely in a smart city?</a:t>
            </a:r>
            <a:endParaRPr lang="en-US" dirty="0"/>
          </a:p>
          <a:p>
            <a:pPr marL="193080" indent="-193080" algn="l">
              <a:lnSpc>
                <a:spcPts val="1890"/>
              </a:lnSpc>
              <a:buSzPct val="100000"/>
              <a:buFontTx/>
              <a:buAutoNum type="arabicPeriod"/>
            </a:pPr>
            <a:r>
              <a:rPr lang="en-US" dirty="0">
                <a:solidFill>
                  <a:srgbClr val="2A3646"/>
                </a:solidFill>
                <a:latin typeface="Nunito Sans" pitchFamily="34" charset="0"/>
                <a:ea typeface="Nunito Sans" pitchFamily="34" charset="-122"/>
                <a:cs typeface="Nunito Sans" pitchFamily="34" charset="-120"/>
              </a:rPr>
              <a:t>How can a smart city create a sense of community?</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AF6"/>
        </a:solidFill>
        <a:effectLst/>
      </p:bgPr>
    </p:bg>
    <p:spTree>
      <p:nvGrpSpPr>
        <p:cNvPr id="1" name=""/>
        <p:cNvGrpSpPr/>
        <p:nvPr/>
      </p:nvGrpSpPr>
      <p:grpSpPr>
        <a:xfrm>
          <a:off x="0" y="0"/>
          <a:ext cx="0" cy="0"/>
          <a:chOff x="0" y="0"/>
          <a:chExt cx="0" cy="0"/>
        </a:xfrm>
      </p:grpSpPr>
      <p:sp>
        <p:nvSpPr>
          <p:cNvPr id="2" name="Text 0"/>
          <p:cNvSpPr/>
          <p:nvPr/>
        </p:nvSpPr>
        <p:spPr>
          <a:xfrm>
            <a:off x="812800" y="762000"/>
            <a:ext cx="10883392" cy="238720"/>
          </a:xfrm>
          <a:prstGeom prst="rect">
            <a:avLst/>
          </a:prstGeom>
          <a:noFill/>
          <a:ln/>
        </p:spPr>
        <p:txBody>
          <a:bodyPr wrap="square" lIns="0" tIns="0" rIns="0" bIns="0" rtlCol="0" anchor="t">
            <a:normAutofit/>
          </a:bodyPr>
          <a:lstStyle/>
          <a:p>
            <a:pPr marL="0" indent="0" algn="l">
              <a:lnSpc>
                <a:spcPts val="1680"/>
              </a:lnSpc>
              <a:buNone/>
            </a:pPr>
            <a:r>
              <a:rPr lang="en-US" sz="2000" b="1" kern="0" spc="150" dirty="0">
                <a:solidFill>
                  <a:srgbClr val="117279"/>
                </a:solidFill>
                <a:latin typeface="Nunito Sans" pitchFamily="34" charset="0"/>
                <a:ea typeface="Nunito Sans" pitchFamily="34" charset="-122"/>
                <a:cs typeface="Nunito Sans" pitchFamily="34" charset="-120"/>
              </a:rPr>
              <a:t>TIPS • KEEP THE CONVERSATION GOING</a:t>
            </a:r>
            <a:endParaRPr lang="en-US" sz="2000" dirty="0"/>
          </a:p>
        </p:txBody>
      </p:sp>
      <p:sp>
        <p:nvSpPr>
          <p:cNvPr id="3" name="Text 1"/>
          <p:cNvSpPr>
            <a:spLocks noGrp="1"/>
          </p:cNvSpPr>
          <p:nvPr>
            <p:ph type="title"/>
          </p:nvPr>
        </p:nvSpPr>
        <p:spPr>
          <a:xfrm>
            <a:off x="812800" y="1051520"/>
            <a:ext cx="10883392" cy="444500"/>
          </a:xfrm>
          <a:prstGeom prst="rect">
            <a:avLst/>
          </a:prstGeom>
          <a:noFill/>
          <a:ln/>
        </p:spPr>
        <p:txBody>
          <a:bodyPr wrap="square" lIns="0" tIns="0" rIns="0" bIns="0" rtlCol="0" anchor="t">
            <a:normAutofit/>
          </a:bodyPr>
          <a:lstStyle/>
          <a:p>
            <a:pPr marL="0" indent="0" algn="l">
              <a:lnSpc>
                <a:spcPts val="3300"/>
              </a:lnSpc>
              <a:buNone/>
            </a:pPr>
            <a:r>
              <a:rPr lang="en-US" sz="2000" b="1" i="0" dirty="0">
                <a:solidFill>
                  <a:srgbClr val="1D3557"/>
                </a:solidFill>
                <a:latin typeface="Be Vietnam Pro" pitchFamily="34" charset="0"/>
                <a:ea typeface="Be Vietnam Pro" pitchFamily="34" charset="-122"/>
                <a:cs typeface="Be Vietnam Pro" pitchFamily="34" charset="-120"/>
              </a:rPr>
              <a:t>Don’t stop after one answer</a:t>
            </a:r>
            <a:endParaRPr lang="en-US" sz="2000" dirty="0"/>
          </a:p>
        </p:txBody>
      </p:sp>
      <p:sp>
        <p:nvSpPr>
          <p:cNvPr id="4" name="Shape 2"/>
          <p:cNvSpPr/>
          <p:nvPr/>
        </p:nvSpPr>
        <p:spPr>
          <a:xfrm>
            <a:off x="812800" y="2561481"/>
            <a:ext cx="10566400" cy="0"/>
          </a:xfrm>
          <a:prstGeom prst="line">
            <a:avLst/>
          </a:prstGeom>
          <a:noFill/>
          <a:ln w="12700">
            <a:solidFill>
              <a:srgbClr val="DCE5E8"/>
            </a:solidFill>
            <a:prstDash val="solid"/>
          </a:ln>
        </p:spPr>
      </p:sp>
      <p:sp>
        <p:nvSpPr>
          <p:cNvPr id="5" name="Text 3"/>
          <p:cNvSpPr/>
          <p:nvPr/>
        </p:nvSpPr>
        <p:spPr>
          <a:xfrm>
            <a:off x="812800" y="1877020"/>
            <a:ext cx="2485390" cy="299690"/>
          </a:xfrm>
          <a:prstGeom prst="rect">
            <a:avLst/>
          </a:prstGeom>
          <a:noFill/>
          <a:ln/>
        </p:spPr>
        <p:txBody>
          <a:bodyPr wrap="square" lIns="0" tIns="0" rIns="0" bIns="0" rtlCol="0" anchor="t">
            <a:normAutofit/>
          </a:bodyPr>
          <a:lstStyle/>
          <a:p>
            <a:pPr marL="0" indent="0" algn="l">
              <a:lnSpc>
                <a:spcPts val="2160"/>
              </a:lnSpc>
              <a:buNone/>
            </a:pPr>
            <a:r>
              <a:rPr lang="en-US" sz="2000" b="1" dirty="0">
                <a:solidFill>
                  <a:srgbClr val="1D3557"/>
                </a:solidFill>
                <a:latin typeface="Be Vietnam Pro" pitchFamily="34" charset="0"/>
                <a:ea typeface="Be Vietnam Pro" pitchFamily="34" charset="-122"/>
                <a:cs typeface="Be Vietnam Pro" pitchFamily="34" charset="-120"/>
              </a:rPr>
              <a:t>Follow-ups</a:t>
            </a:r>
            <a:endParaRPr lang="en-US" sz="2000" dirty="0"/>
          </a:p>
        </p:txBody>
      </p:sp>
      <p:sp>
        <p:nvSpPr>
          <p:cNvPr id="6" name="Text 4"/>
          <p:cNvSpPr/>
          <p:nvPr/>
        </p:nvSpPr>
        <p:spPr>
          <a:xfrm>
            <a:off x="812800" y="2189411"/>
            <a:ext cx="2485390" cy="238720"/>
          </a:xfrm>
          <a:prstGeom prst="rect">
            <a:avLst/>
          </a:prstGeom>
          <a:noFill/>
          <a:ln/>
        </p:spPr>
        <p:txBody>
          <a:bodyPr wrap="square" lIns="0" tIns="0" rIns="0" bIns="0" rtlCol="0" anchor="t">
            <a:normAutofit/>
          </a:bodyPr>
          <a:lstStyle/>
          <a:p>
            <a:pPr marL="0" indent="0" algn="l">
              <a:lnSpc>
                <a:spcPts val="1680"/>
              </a:lnSpc>
              <a:buNone/>
            </a:pPr>
            <a:r>
              <a:rPr lang="en-US" sz="2000" dirty="0">
                <a:solidFill>
                  <a:srgbClr val="5D6877"/>
                </a:solidFill>
                <a:latin typeface="Nunito Sans" pitchFamily="34" charset="0"/>
                <a:ea typeface="Nunito Sans" pitchFamily="34" charset="-122"/>
                <a:cs typeface="Nunito Sans" pitchFamily="34" charset="-120"/>
              </a:rPr>
              <a:t>Ask for more details</a:t>
            </a:r>
            <a:endParaRPr lang="en-US" sz="2000" dirty="0"/>
          </a:p>
        </p:txBody>
      </p:sp>
      <p:sp>
        <p:nvSpPr>
          <p:cNvPr id="7" name="Text 5"/>
          <p:cNvSpPr/>
          <p:nvPr/>
        </p:nvSpPr>
        <p:spPr>
          <a:xfrm>
            <a:off x="3429000" y="1951930"/>
            <a:ext cx="880418" cy="375890"/>
          </a:xfrm>
          <a:prstGeom prst="roundRect">
            <a:avLst>
              <a:gd name="adj" fmla="val 50000"/>
            </a:avLst>
          </a:prstGeom>
          <a:solidFill>
            <a:srgbClr val="EEF4F3"/>
          </a:solidFill>
          <a:ln/>
        </p:spPr>
        <p:txBody>
          <a:bodyPr wrap="none" lIns="0" tIns="0" rIns="0" bIns="0" rtlCol="0" anchor="ctr">
            <a:noAutofit/>
          </a:bodyPr>
          <a:lstStyle/>
          <a:p>
            <a:pPr marL="0" indent="0" algn="ctr">
              <a:lnSpc>
                <a:spcPts val="1960"/>
              </a:lnSpc>
              <a:buNone/>
            </a:pPr>
            <a:r>
              <a:rPr lang="en-US" sz="2000" dirty="0">
                <a:solidFill>
                  <a:srgbClr val="2A3646"/>
                </a:solidFill>
                <a:latin typeface="Nunito Sans" pitchFamily="34" charset="0"/>
                <a:ea typeface="Nunito Sans" pitchFamily="34" charset="-122"/>
                <a:cs typeface="Nunito Sans" pitchFamily="34" charset="-120"/>
              </a:rPr>
              <a:t>Really?</a:t>
            </a:r>
            <a:endParaRPr lang="en-US" sz="2000" dirty="0"/>
          </a:p>
        </p:txBody>
      </p:sp>
      <p:sp>
        <p:nvSpPr>
          <p:cNvPr id="8" name="Text 6"/>
          <p:cNvSpPr/>
          <p:nvPr/>
        </p:nvSpPr>
        <p:spPr>
          <a:xfrm>
            <a:off x="4607719" y="1937778"/>
            <a:ext cx="2020590" cy="375890"/>
          </a:xfrm>
          <a:prstGeom prst="roundRect">
            <a:avLst>
              <a:gd name="adj" fmla="val 50000"/>
            </a:avLst>
          </a:prstGeom>
          <a:solidFill>
            <a:srgbClr val="EEF4F3"/>
          </a:solidFill>
          <a:ln/>
        </p:spPr>
        <p:txBody>
          <a:bodyPr wrap="none" lIns="0" tIns="0" rIns="0" bIns="0" rtlCol="0" anchor="ctr">
            <a:noAutofit/>
          </a:bodyPr>
          <a:lstStyle/>
          <a:p>
            <a:pPr marL="0" indent="0" algn="ctr">
              <a:lnSpc>
                <a:spcPts val="1960"/>
              </a:lnSpc>
              <a:buNone/>
            </a:pPr>
            <a:r>
              <a:rPr lang="en-US" sz="2000" dirty="0">
                <a:solidFill>
                  <a:srgbClr val="2A3646"/>
                </a:solidFill>
                <a:latin typeface="Nunito Sans" pitchFamily="34" charset="0"/>
                <a:ea typeface="Nunito Sans" pitchFamily="34" charset="-122"/>
                <a:cs typeface="Nunito Sans" pitchFamily="34" charset="-120"/>
              </a:rPr>
              <a:t>Why do you think so?</a:t>
            </a:r>
            <a:endParaRPr lang="en-US" sz="2000" dirty="0"/>
          </a:p>
        </p:txBody>
      </p:sp>
      <p:sp>
        <p:nvSpPr>
          <p:cNvPr id="9" name="Text 7"/>
          <p:cNvSpPr/>
          <p:nvPr/>
        </p:nvSpPr>
        <p:spPr>
          <a:xfrm>
            <a:off x="7202074" y="1937778"/>
            <a:ext cx="1916063" cy="375890"/>
          </a:xfrm>
          <a:prstGeom prst="roundRect">
            <a:avLst>
              <a:gd name="adj" fmla="val 50000"/>
            </a:avLst>
          </a:prstGeom>
          <a:solidFill>
            <a:srgbClr val="EEF4F3"/>
          </a:solidFill>
          <a:ln/>
        </p:spPr>
        <p:txBody>
          <a:bodyPr wrap="none" lIns="0" tIns="0" rIns="0" bIns="0" rtlCol="0" anchor="ctr">
            <a:noAutofit/>
          </a:bodyPr>
          <a:lstStyle/>
          <a:p>
            <a:pPr marL="0" indent="0" algn="ctr">
              <a:lnSpc>
                <a:spcPts val="1960"/>
              </a:lnSpc>
              <a:buNone/>
            </a:pPr>
            <a:r>
              <a:rPr lang="en-US" sz="2000" dirty="0">
                <a:solidFill>
                  <a:srgbClr val="2A3646"/>
                </a:solidFill>
                <a:latin typeface="Nunito Sans" pitchFamily="34" charset="0"/>
                <a:ea typeface="Nunito Sans" pitchFamily="34" charset="-122"/>
                <a:cs typeface="Nunito Sans" pitchFamily="34" charset="-120"/>
              </a:rPr>
              <a:t>How will that work?</a:t>
            </a:r>
            <a:endParaRPr lang="en-US" sz="2000" dirty="0"/>
          </a:p>
        </p:txBody>
      </p:sp>
      <p:sp>
        <p:nvSpPr>
          <p:cNvPr id="10" name="Text 8"/>
          <p:cNvSpPr/>
          <p:nvPr/>
        </p:nvSpPr>
        <p:spPr>
          <a:xfrm>
            <a:off x="5311279" y="1585039"/>
            <a:ext cx="2373511" cy="375890"/>
          </a:xfrm>
          <a:prstGeom prst="roundRect">
            <a:avLst>
              <a:gd name="adj" fmla="val 50000"/>
            </a:avLst>
          </a:prstGeom>
          <a:solidFill>
            <a:srgbClr val="EEF4F3"/>
          </a:solidFill>
          <a:ln/>
        </p:spPr>
        <p:txBody>
          <a:bodyPr wrap="none" lIns="0" tIns="0" rIns="0" bIns="0" rtlCol="0" anchor="ctr">
            <a:noAutofit/>
          </a:bodyPr>
          <a:lstStyle/>
          <a:p>
            <a:pPr marL="0" indent="0" algn="ctr">
              <a:lnSpc>
                <a:spcPts val="1960"/>
              </a:lnSpc>
              <a:buNone/>
            </a:pPr>
            <a:r>
              <a:rPr lang="en-US" sz="2000" dirty="0">
                <a:solidFill>
                  <a:srgbClr val="2A3646"/>
                </a:solidFill>
                <a:latin typeface="Nunito Sans" pitchFamily="34" charset="0"/>
                <a:ea typeface="Nunito Sans" pitchFamily="34" charset="-122"/>
                <a:cs typeface="Nunito Sans" pitchFamily="34" charset="-120"/>
              </a:rPr>
              <a:t>Can you give an example?</a:t>
            </a:r>
            <a:endParaRPr lang="en-US" sz="2000" dirty="0"/>
          </a:p>
        </p:txBody>
      </p:sp>
      <p:sp>
        <p:nvSpPr>
          <p:cNvPr id="11" name="Shape 9"/>
          <p:cNvSpPr/>
          <p:nvPr/>
        </p:nvSpPr>
        <p:spPr>
          <a:xfrm>
            <a:off x="812800" y="3719661"/>
            <a:ext cx="10566400" cy="0"/>
          </a:xfrm>
          <a:prstGeom prst="line">
            <a:avLst/>
          </a:prstGeom>
          <a:noFill/>
          <a:ln w="12700">
            <a:solidFill>
              <a:srgbClr val="DCE5E8"/>
            </a:solidFill>
            <a:prstDash val="solid"/>
          </a:ln>
        </p:spPr>
      </p:sp>
      <p:sp>
        <p:nvSpPr>
          <p:cNvPr id="12" name="Text 10"/>
          <p:cNvSpPr/>
          <p:nvPr/>
        </p:nvSpPr>
        <p:spPr>
          <a:xfrm>
            <a:off x="812800" y="2877691"/>
            <a:ext cx="2485390" cy="299690"/>
          </a:xfrm>
          <a:prstGeom prst="rect">
            <a:avLst/>
          </a:prstGeom>
          <a:noFill/>
          <a:ln/>
        </p:spPr>
        <p:txBody>
          <a:bodyPr wrap="square" lIns="0" tIns="0" rIns="0" bIns="0" rtlCol="0" anchor="t">
            <a:normAutofit/>
          </a:bodyPr>
          <a:lstStyle/>
          <a:p>
            <a:pPr marL="0" indent="0" algn="l">
              <a:lnSpc>
                <a:spcPts val="2160"/>
              </a:lnSpc>
              <a:buNone/>
            </a:pPr>
            <a:r>
              <a:rPr lang="en-US" sz="2000" b="1" dirty="0">
                <a:solidFill>
                  <a:srgbClr val="1D3557"/>
                </a:solidFill>
                <a:latin typeface="Be Vietnam Pro" pitchFamily="34" charset="0"/>
                <a:ea typeface="Be Vietnam Pro" pitchFamily="34" charset="-122"/>
                <a:cs typeface="Be Vietnam Pro" pitchFamily="34" charset="-120"/>
              </a:rPr>
              <a:t>Wh-questions</a:t>
            </a:r>
            <a:endParaRPr lang="en-US" sz="2000" dirty="0"/>
          </a:p>
        </p:txBody>
      </p:sp>
      <p:sp>
        <p:nvSpPr>
          <p:cNvPr id="13" name="Text 11"/>
          <p:cNvSpPr/>
          <p:nvPr/>
        </p:nvSpPr>
        <p:spPr>
          <a:xfrm>
            <a:off x="812800" y="3190081"/>
            <a:ext cx="2485390" cy="238720"/>
          </a:xfrm>
          <a:prstGeom prst="rect">
            <a:avLst/>
          </a:prstGeom>
          <a:noFill/>
          <a:ln/>
        </p:spPr>
        <p:txBody>
          <a:bodyPr wrap="square" lIns="0" tIns="0" rIns="0" bIns="0" rtlCol="0" anchor="t">
            <a:normAutofit/>
          </a:bodyPr>
          <a:lstStyle/>
          <a:p>
            <a:pPr marL="0" indent="0" algn="l">
              <a:lnSpc>
                <a:spcPts val="1680"/>
              </a:lnSpc>
              <a:buNone/>
            </a:pPr>
            <a:r>
              <a:rPr lang="en-US" sz="2000" dirty="0">
                <a:solidFill>
                  <a:srgbClr val="5D6877"/>
                </a:solidFill>
                <a:latin typeface="Nunito Sans" pitchFamily="34" charset="0"/>
                <a:ea typeface="Nunito Sans" pitchFamily="34" charset="-122"/>
                <a:cs typeface="Nunito Sans" pitchFamily="34" charset="-120"/>
              </a:rPr>
              <a:t>Develop the idea</a:t>
            </a:r>
            <a:endParaRPr lang="en-US" sz="2000" dirty="0"/>
          </a:p>
        </p:txBody>
      </p:sp>
      <p:sp>
        <p:nvSpPr>
          <p:cNvPr id="14" name="Text 12"/>
          <p:cNvSpPr/>
          <p:nvPr/>
        </p:nvSpPr>
        <p:spPr>
          <a:xfrm>
            <a:off x="2963333" y="2720231"/>
            <a:ext cx="2654681" cy="375772"/>
          </a:xfrm>
          <a:prstGeom prst="roundRect">
            <a:avLst>
              <a:gd name="adj" fmla="val 50000"/>
            </a:avLst>
          </a:prstGeom>
          <a:solidFill>
            <a:srgbClr val="FCEBDD"/>
          </a:solidFill>
          <a:ln/>
        </p:spPr>
        <p:txBody>
          <a:bodyPr wrap="none" lIns="0" tIns="0" rIns="0" bIns="0" rtlCol="0" anchor="ctr">
            <a:noAutofit/>
          </a:bodyPr>
          <a:lstStyle/>
          <a:p>
            <a:pPr marL="0" indent="0" algn="ctr">
              <a:lnSpc>
                <a:spcPts val="1960"/>
              </a:lnSpc>
              <a:buNone/>
            </a:pPr>
            <a:r>
              <a:rPr lang="en-US" sz="2000" dirty="0">
                <a:solidFill>
                  <a:srgbClr val="2A3646"/>
                </a:solidFill>
                <a:latin typeface="Nunito Sans" pitchFamily="34" charset="0"/>
                <a:ea typeface="Nunito Sans" pitchFamily="34" charset="-122"/>
                <a:cs typeface="Nunito Sans" pitchFamily="34" charset="-120"/>
              </a:rPr>
              <a:t>Where will people live?</a:t>
            </a:r>
            <a:endParaRPr lang="en-US" sz="2000" dirty="0"/>
          </a:p>
        </p:txBody>
      </p:sp>
      <p:sp>
        <p:nvSpPr>
          <p:cNvPr id="15" name="Text 13"/>
          <p:cNvSpPr/>
          <p:nvPr/>
        </p:nvSpPr>
        <p:spPr>
          <a:xfrm>
            <a:off x="6573989" y="2685305"/>
            <a:ext cx="2765192" cy="410653"/>
          </a:xfrm>
          <a:prstGeom prst="roundRect">
            <a:avLst>
              <a:gd name="adj" fmla="val 50000"/>
            </a:avLst>
          </a:prstGeom>
          <a:solidFill>
            <a:srgbClr val="FCEBDD"/>
          </a:solidFill>
          <a:ln/>
        </p:spPr>
        <p:txBody>
          <a:bodyPr wrap="none" lIns="0" tIns="0" rIns="0" bIns="0" rtlCol="0" anchor="ctr">
            <a:noAutofit/>
          </a:bodyPr>
          <a:lstStyle/>
          <a:p>
            <a:pPr marL="0" indent="0" algn="ctr">
              <a:lnSpc>
                <a:spcPts val="1960"/>
              </a:lnSpc>
              <a:buNone/>
            </a:pPr>
            <a:r>
              <a:rPr lang="en-US" sz="2000" dirty="0">
                <a:solidFill>
                  <a:srgbClr val="2A3646"/>
                </a:solidFill>
                <a:latin typeface="Nunito Sans" pitchFamily="34" charset="0"/>
                <a:ea typeface="Nunito Sans" pitchFamily="34" charset="-122"/>
                <a:cs typeface="Nunito Sans" pitchFamily="34" charset="-120"/>
              </a:rPr>
              <a:t>What jobs will they do?</a:t>
            </a:r>
            <a:endParaRPr lang="en-US" sz="2000" dirty="0"/>
          </a:p>
        </p:txBody>
      </p:sp>
      <p:sp>
        <p:nvSpPr>
          <p:cNvPr id="16" name="Text 14"/>
          <p:cNvSpPr/>
          <p:nvPr/>
        </p:nvSpPr>
        <p:spPr>
          <a:xfrm>
            <a:off x="2963333" y="3185022"/>
            <a:ext cx="4961467" cy="375786"/>
          </a:xfrm>
          <a:prstGeom prst="roundRect">
            <a:avLst>
              <a:gd name="adj" fmla="val 50000"/>
            </a:avLst>
          </a:prstGeom>
          <a:solidFill>
            <a:srgbClr val="FCEBDD"/>
          </a:solidFill>
          <a:ln/>
        </p:spPr>
        <p:txBody>
          <a:bodyPr wrap="none" lIns="0" tIns="0" rIns="0" bIns="0" rtlCol="0" anchor="ctr">
            <a:noAutofit/>
          </a:bodyPr>
          <a:lstStyle/>
          <a:p>
            <a:pPr marL="0" indent="0" algn="ctr">
              <a:lnSpc>
                <a:spcPts val="1960"/>
              </a:lnSpc>
              <a:buNone/>
            </a:pPr>
            <a:r>
              <a:rPr lang="en-US" sz="2000" dirty="0">
                <a:solidFill>
                  <a:srgbClr val="2A3646"/>
                </a:solidFill>
                <a:latin typeface="Nunito Sans" pitchFamily="34" charset="0"/>
                <a:ea typeface="Nunito Sans" pitchFamily="34" charset="-122"/>
                <a:cs typeface="Nunito Sans" pitchFamily="34" charset="-120"/>
              </a:rPr>
              <a:t>How will technology help city dwellers?</a:t>
            </a:r>
            <a:endParaRPr lang="en-US" sz="2000" dirty="0"/>
          </a:p>
        </p:txBody>
      </p:sp>
      <p:sp>
        <p:nvSpPr>
          <p:cNvPr id="17" name="Text 15"/>
          <p:cNvSpPr/>
          <p:nvPr/>
        </p:nvSpPr>
        <p:spPr>
          <a:xfrm>
            <a:off x="812800" y="3878411"/>
            <a:ext cx="2485390" cy="299690"/>
          </a:xfrm>
          <a:prstGeom prst="rect">
            <a:avLst/>
          </a:prstGeom>
          <a:noFill/>
          <a:ln/>
        </p:spPr>
        <p:txBody>
          <a:bodyPr wrap="square" lIns="0" tIns="0" rIns="0" bIns="0" rtlCol="0" anchor="t">
            <a:normAutofit/>
          </a:bodyPr>
          <a:lstStyle/>
          <a:p>
            <a:pPr marL="0" indent="0" algn="l">
              <a:lnSpc>
                <a:spcPts val="2160"/>
              </a:lnSpc>
              <a:buNone/>
            </a:pPr>
            <a:r>
              <a:rPr lang="en-US" sz="2000" b="1" dirty="0">
                <a:solidFill>
                  <a:srgbClr val="1D3557"/>
                </a:solidFill>
                <a:latin typeface="Be Vietnam Pro" pitchFamily="34" charset="0"/>
                <a:ea typeface="Be Vietnam Pro" pitchFamily="34" charset="-122"/>
                <a:cs typeface="Be Vietnam Pro" pitchFamily="34" charset="-120"/>
              </a:rPr>
              <a:t>Reacting</a:t>
            </a:r>
            <a:endParaRPr lang="en-US" sz="2000" dirty="0"/>
          </a:p>
        </p:txBody>
      </p:sp>
      <p:sp>
        <p:nvSpPr>
          <p:cNvPr id="18" name="Text 16"/>
          <p:cNvSpPr/>
          <p:nvPr/>
        </p:nvSpPr>
        <p:spPr>
          <a:xfrm>
            <a:off x="812800" y="4190802"/>
            <a:ext cx="2485390" cy="238720"/>
          </a:xfrm>
          <a:prstGeom prst="rect">
            <a:avLst/>
          </a:prstGeom>
          <a:noFill/>
          <a:ln/>
        </p:spPr>
        <p:txBody>
          <a:bodyPr wrap="square" lIns="0" tIns="0" rIns="0" bIns="0" rtlCol="0" anchor="t">
            <a:noAutofit/>
          </a:bodyPr>
          <a:lstStyle/>
          <a:p>
            <a:pPr marL="0" indent="0" algn="l">
              <a:lnSpc>
                <a:spcPts val="1680"/>
              </a:lnSpc>
              <a:buNone/>
            </a:pPr>
            <a:r>
              <a:rPr lang="en-US" sz="2000" dirty="0">
                <a:solidFill>
                  <a:srgbClr val="5D6877"/>
                </a:solidFill>
                <a:latin typeface="Nunito Sans" pitchFamily="34" charset="0"/>
                <a:ea typeface="Nunito Sans" pitchFamily="34" charset="-122"/>
                <a:cs typeface="Nunito Sans" pitchFamily="34" charset="-120"/>
              </a:rPr>
              <a:t>Show you are listening</a:t>
            </a:r>
            <a:endParaRPr lang="en-US" sz="2000" dirty="0"/>
          </a:p>
        </p:txBody>
      </p:sp>
      <p:sp>
        <p:nvSpPr>
          <p:cNvPr id="19" name="Text 17"/>
          <p:cNvSpPr/>
          <p:nvPr/>
        </p:nvSpPr>
        <p:spPr>
          <a:xfrm>
            <a:off x="3429000" y="3953321"/>
            <a:ext cx="1793379" cy="375890"/>
          </a:xfrm>
          <a:prstGeom prst="roundRect">
            <a:avLst>
              <a:gd name="adj" fmla="val 50000"/>
            </a:avLst>
          </a:prstGeom>
          <a:solidFill>
            <a:srgbClr val="E6EBF2"/>
          </a:solidFill>
          <a:ln/>
        </p:spPr>
        <p:txBody>
          <a:bodyPr wrap="none" lIns="0" tIns="0" rIns="0" bIns="0" rtlCol="0" anchor="ctr">
            <a:noAutofit/>
          </a:bodyPr>
          <a:lstStyle/>
          <a:p>
            <a:pPr marL="0" indent="0" algn="ctr">
              <a:lnSpc>
                <a:spcPts val="1960"/>
              </a:lnSpc>
              <a:buNone/>
            </a:pPr>
            <a:r>
              <a:rPr lang="en-US" sz="2000" dirty="0">
                <a:solidFill>
                  <a:srgbClr val="2A3646"/>
                </a:solidFill>
                <a:latin typeface="Nunito Sans" pitchFamily="34" charset="0"/>
                <a:ea typeface="Nunito Sans" pitchFamily="34" charset="-122"/>
                <a:cs typeface="Nunito Sans" pitchFamily="34" charset="-120"/>
              </a:rPr>
              <a:t>That sounds great!</a:t>
            </a:r>
            <a:endParaRPr lang="en-US" sz="2000" dirty="0"/>
          </a:p>
        </p:txBody>
      </p:sp>
      <p:sp>
        <p:nvSpPr>
          <p:cNvPr id="20" name="Text 18"/>
          <p:cNvSpPr/>
          <p:nvPr/>
        </p:nvSpPr>
        <p:spPr>
          <a:xfrm>
            <a:off x="5948263" y="3967475"/>
            <a:ext cx="1620838" cy="375890"/>
          </a:xfrm>
          <a:prstGeom prst="roundRect">
            <a:avLst>
              <a:gd name="adj" fmla="val 50000"/>
            </a:avLst>
          </a:prstGeom>
          <a:solidFill>
            <a:srgbClr val="E6EBF2"/>
          </a:solidFill>
          <a:ln/>
        </p:spPr>
        <p:txBody>
          <a:bodyPr wrap="none" lIns="0" tIns="0" rIns="0" bIns="0" rtlCol="0" anchor="ctr">
            <a:noAutofit/>
          </a:bodyPr>
          <a:lstStyle/>
          <a:p>
            <a:pPr marL="0" indent="0" algn="ctr">
              <a:lnSpc>
                <a:spcPts val="1960"/>
              </a:lnSpc>
              <a:buNone/>
            </a:pPr>
            <a:r>
              <a:rPr lang="en-US" sz="2000" dirty="0">
                <a:solidFill>
                  <a:srgbClr val="2A3646"/>
                </a:solidFill>
                <a:latin typeface="Nunito Sans" pitchFamily="34" charset="0"/>
                <a:ea typeface="Nunito Sans" pitchFamily="34" charset="-122"/>
                <a:cs typeface="Nunito Sans" pitchFamily="34" charset="-120"/>
              </a:rPr>
              <a:t>I agree with you.</a:t>
            </a:r>
            <a:endParaRPr lang="en-US" sz="2000" dirty="0"/>
          </a:p>
        </p:txBody>
      </p:sp>
      <p:sp>
        <p:nvSpPr>
          <p:cNvPr id="21" name="Text 19"/>
          <p:cNvSpPr/>
          <p:nvPr/>
        </p:nvSpPr>
        <p:spPr>
          <a:xfrm>
            <a:off x="8077961" y="3990156"/>
            <a:ext cx="1631702" cy="375890"/>
          </a:xfrm>
          <a:prstGeom prst="roundRect">
            <a:avLst>
              <a:gd name="adj" fmla="val 50000"/>
            </a:avLst>
          </a:prstGeom>
          <a:solidFill>
            <a:srgbClr val="E6EBF2"/>
          </a:solidFill>
          <a:ln/>
        </p:spPr>
        <p:txBody>
          <a:bodyPr wrap="none" lIns="0" tIns="0" rIns="0" bIns="0" rtlCol="0" anchor="ctr">
            <a:noAutofit/>
          </a:bodyPr>
          <a:lstStyle/>
          <a:p>
            <a:pPr marL="0" indent="0" algn="ctr">
              <a:lnSpc>
                <a:spcPts val="1960"/>
              </a:lnSpc>
              <a:buNone/>
            </a:pPr>
            <a:r>
              <a:rPr lang="en-US" sz="2000" dirty="0">
                <a:solidFill>
                  <a:srgbClr val="2A3646"/>
                </a:solidFill>
                <a:latin typeface="Nunito Sans" pitchFamily="34" charset="0"/>
                <a:ea typeface="Nunito Sans" pitchFamily="34" charset="-122"/>
                <a:cs typeface="Nunito Sans" pitchFamily="34" charset="-120"/>
              </a:rPr>
              <a:t>That’s true, but…</a:t>
            </a:r>
            <a:endParaRPr lang="en-US" sz="2000" dirty="0"/>
          </a:p>
        </p:txBody>
      </p:sp>
      <p:sp>
        <p:nvSpPr>
          <p:cNvPr id="22" name="Text 20"/>
          <p:cNvSpPr/>
          <p:nvPr/>
        </p:nvSpPr>
        <p:spPr>
          <a:xfrm>
            <a:off x="4607719" y="4562870"/>
            <a:ext cx="2150963" cy="375890"/>
          </a:xfrm>
          <a:prstGeom prst="roundRect">
            <a:avLst>
              <a:gd name="adj" fmla="val 50000"/>
            </a:avLst>
          </a:prstGeom>
          <a:solidFill>
            <a:srgbClr val="E6EBF2"/>
          </a:solidFill>
          <a:ln/>
        </p:spPr>
        <p:txBody>
          <a:bodyPr wrap="none" lIns="0" tIns="0" rIns="0" bIns="0" rtlCol="0" anchor="ctr">
            <a:noAutofit/>
          </a:bodyPr>
          <a:lstStyle/>
          <a:p>
            <a:pPr marL="0" indent="0" algn="ctr">
              <a:lnSpc>
                <a:spcPts val="1960"/>
              </a:lnSpc>
              <a:buNone/>
            </a:pPr>
            <a:r>
              <a:rPr lang="en-US" sz="2000" dirty="0">
                <a:solidFill>
                  <a:srgbClr val="2A3646"/>
                </a:solidFill>
                <a:latin typeface="Nunito Sans" pitchFamily="34" charset="0"/>
                <a:ea typeface="Nunito Sans" pitchFamily="34" charset="-122"/>
                <a:cs typeface="Nunito Sans" pitchFamily="34" charset="-120"/>
              </a:rPr>
              <a:t>I’m not sure about that.</a:t>
            </a:r>
            <a:endParaRPr 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AF6"/>
        </a:solidFill>
        <a:effectLst/>
      </p:bgPr>
    </p:bg>
    <p:spTree>
      <p:nvGrpSpPr>
        <p:cNvPr id="1" name=""/>
        <p:cNvGrpSpPr/>
        <p:nvPr/>
      </p:nvGrpSpPr>
      <p:grpSpPr>
        <a:xfrm>
          <a:off x="0" y="0"/>
          <a:ext cx="0" cy="0"/>
          <a:chOff x="0" y="0"/>
          <a:chExt cx="0" cy="0"/>
        </a:xfrm>
      </p:grpSpPr>
      <p:sp>
        <p:nvSpPr>
          <p:cNvPr id="2" name="Text 0"/>
          <p:cNvSpPr/>
          <p:nvPr/>
        </p:nvSpPr>
        <p:spPr>
          <a:xfrm>
            <a:off x="812800" y="762000"/>
            <a:ext cx="10883392" cy="238720"/>
          </a:xfrm>
          <a:prstGeom prst="rect">
            <a:avLst/>
          </a:prstGeom>
          <a:noFill/>
          <a:ln/>
        </p:spPr>
        <p:txBody>
          <a:bodyPr wrap="square" lIns="0" tIns="0" rIns="0" bIns="0" rtlCol="0" anchor="t">
            <a:normAutofit/>
          </a:bodyPr>
          <a:lstStyle/>
          <a:p>
            <a:pPr marL="0" indent="0" algn="l">
              <a:lnSpc>
                <a:spcPts val="1680"/>
              </a:lnSpc>
              <a:buNone/>
            </a:pPr>
            <a:r>
              <a:rPr lang="en-US" sz="2000" b="1" kern="0" spc="150" dirty="0">
                <a:solidFill>
                  <a:srgbClr val="117279"/>
                </a:solidFill>
                <a:latin typeface="Nunito Sans" pitchFamily="34" charset="0"/>
                <a:ea typeface="Nunito Sans" pitchFamily="34" charset="-122"/>
                <a:cs typeface="Nunito Sans" pitchFamily="34" charset="-120"/>
              </a:rPr>
              <a:t>MODEL CONVERSATION 1</a:t>
            </a:r>
            <a:endParaRPr lang="en-US" sz="2000" dirty="0"/>
          </a:p>
        </p:txBody>
      </p:sp>
      <p:sp>
        <p:nvSpPr>
          <p:cNvPr id="3" name="Text 1"/>
          <p:cNvSpPr>
            <a:spLocks noGrp="1"/>
          </p:cNvSpPr>
          <p:nvPr>
            <p:ph type="title"/>
          </p:nvPr>
        </p:nvSpPr>
        <p:spPr>
          <a:xfrm>
            <a:off x="812800" y="1051520"/>
            <a:ext cx="10883392" cy="444500"/>
          </a:xfrm>
          <a:prstGeom prst="rect">
            <a:avLst/>
          </a:prstGeom>
          <a:noFill/>
          <a:ln/>
        </p:spPr>
        <p:txBody>
          <a:bodyPr wrap="square" lIns="0" tIns="0" rIns="0" bIns="0" rtlCol="0" anchor="t">
            <a:normAutofit/>
          </a:bodyPr>
          <a:lstStyle/>
          <a:p>
            <a:pPr marL="0" indent="0" algn="l">
              <a:lnSpc>
                <a:spcPts val="3300"/>
              </a:lnSpc>
              <a:buNone/>
            </a:pPr>
            <a:r>
              <a:rPr lang="en-US" sz="2000" b="1" i="0" dirty="0">
                <a:solidFill>
                  <a:srgbClr val="1D3557"/>
                </a:solidFill>
                <a:latin typeface="Be Vietnam Pro" pitchFamily="34" charset="0"/>
                <a:ea typeface="Be Vietnam Pro" pitchFamily="34" charset="-122"/>
                <a:cs typeface="Be Vietnam Pro" pitchFamily="34" charset="-120"/>
              </a:rPr>
              <a:t>Topic: Infrastructure</a:t>
            </a:r>
            <a:endParaRPr lang="en-US" sz="2000" dirty="0"/>
          </a:p>
        </p:txBody>
      </p:sp>
      <p:sp>
        <p:nvSpPr>
          <p:cNvPr id="4" name="Text 2"/>
          <p:cNvSpPr/>
          <p:nvPr/>
        </p:nvSpPr>
        <p:spPr>
          <a:xfrm>
            <a:off x="812800" y="1750020"/>
            <a:ext cx="355600" cy="355600"/>
          </a:xfrm>
          <a:custGeom>
            <a:avLst/>
            <a:gdLst/>
            <a:ahLst/>
            <a:cxnLst/>
            <a:rect l="l" t="t" r="r" b="b"/>
            <a:pathLst>
              <a:path w="355600" h="355600">
                <a:moveTo>
                  <a:pt x="177800" y="0"/>
                </a:moveTo>
                <a:lnTo>
                  <a:pt x="177800" y="0"/>
                </a:lnTo>
                <a:arcTo wR="177800" hR="177800" stAng="16200000" swAng="5400000"/>
                <a:lnTo>
                  <a:pt x="355600" y="177800"/>
                </a:lnTo>
                <a:arcTo wR="177800" hR="177800" stAng="0" swAng="5400000"/>
                <a:lnTo>
                  <a:pt x="177800" y="355600"/>
                </a:lnTo>
                <a:arcTo wR="177800" hR="177800" stAng="5400000" swAng="5400000"/>
                <a:lnTo>
                  <a:pt x="0" y="177800"/>
                </a:lnTo>
                <a:arcTo wR="177800" hR="177800" stAng="10800000" swAng="5400000"/>
                <a:close/>
              </a:path>
            </a:pathLst>
          </a:custGeom>
          <a:solidFill>
            <a:srgbClr val="117279"/>
          </a:solidFill>
          <a:ln/>
        </p:spPr>
        <p:txBody>
          <a:bodyPr wrap="square" lIns="0" tIns="0" rIns="0" bIns="0" rtlCol="0" anchor="t">
            <a:normAutofit/>
          </a:bodyPr>
          <a:lstStyle/>
          <a:p>
            <a:pPr marL="0" indent="0" algn="ctr">
              <a:lnSpc>
                <a:spcPts val="2800"/>
              </a:lnSpc>
              <a:buNone/>
            </a:pPr>
            <a:r>
              <a:rPr lang="en-US" sz="2000" b="1" dirty="0">
                <a:solidFill>
                  <a:srgbClr val="FBFAF6"/>
                </a:solidFill>
                <a:latin typeface="Nunito Sans" pitchFamily="34" charset="0"/>
                <a:ea typeface="Nunito Sans" pitchFamily="34" charset="-122"/>
                <a:cs typeface="Nunito Sans" pitchFamily="34" charset="-120"/>
              </a:rPr>
              <a:t>A</a:t>
            </a:r>
            <a:endParaRPr lang="en-US" sz="2000" dirty="0"/>
          </a:p>
        </p:txBody>
      </p:sp>
      <p:sp>
        <p:nvSpPr>
          <p:cNvPr id="5" name="Text 3"/>
          <p:cNvSpPr/>
          <p:nvPr/>
        </p:nvSpPr>
        <p:spPr>
          <a:xfrm>
            <a:off x="1320800" y="1800820"/>
            <a:ext cx="10360152" cy="283170"/>
          </a:xfrm>
          <a:prstGeom prst="rect">
            <a:avLst/>
          </a:prstGeom>
          <a:noFill/>
          <a:ln/>
        </p:spPr>
        <p:txBody>
          <a:bodyPr wrap="square" lIns="0" tIns="0" rIns="0" bIns="0" rtlCol="0" anchor="t">
            <a:normAutofit/>
          </a:bodyPr>
          <a:lstStyle/>
          <a:p>
            <a:pPr marL="0" indent="0" algn="l">
              <a:lnSpc>
                <a:spcPts val="2030"/>
              </a:lnSpc>
              <a:buNone/>
            </a:pPr>
            <a:r>
              <a:rPr lang="en-US" sz="2000" dirty="0">
                <a:solidFill>
                  <a:srgbClr val="2A3646"/>
                </a:solidFill>
                <a:latin typeface="Nunito Sans" pitchFamily="34" charset="0"/>
                <a:ea typeface="Nunito Sans" pitchFamily="34" charset="-122"/>
                <a:cs typeface="Nunito Sans" pitchFamily="34" charset="-120"/>
              </a:rPr>
              <a:t>What do you think buildings will be like in future cities?</a:t>
            </a:r>
            <a:endParaRPr lang="en-US" sz="2000" dirty="0"/>
          </a:p>
        </p:txBody>
      </p:sp>
      <p:sp>
        <p:nvSpPr>
          <p:cNvPr id="6" name="Text 4"/>
          <p:cNvSpPr/>
          <p:nvPr/>
        </p:nvSpPr>
        <p:spPr>
          <a:xfrm>
            <a:off x="812800" y="2245320"/>
            <a:ext cx="355600" cy="355600"/>
          </a:xfrm>
          <a:custGeom>
            <a:avLst/>
            <a:gdLst/>
            <a:ahLst/>
            <a:cxnLst/>
            <a:rect l="l" t="t" r="r" b="b"/>
            <a:pathLst>
              <a:path w="355600" h="355600">
                <a:moveTo>
                  <a:pt x="177800" y="0"/>
                </a:moveTo>
                <a:lnTo>
                  <a:pt x="177800" y="0"/>
                </a:lnTo>
                <a:arcTo wR="177800" hR="177800" stAng="16200000" swAng="5400000"/>
                <a:lnTo>
                  <a:pt x="355600" y="177800"/>
                </a:lnTo>
                <a:arcTo wR="177800" hR="177800" stAng="0" swAng="5400000"/>
                <a:lnTo>
                  <a:pt x="177800" y="355600"/>
                </a:lnTo>
                <a:arcTo wR="177800" hR="177800" stAng="5400000" swAng="5400000"/>
                <a:lnTo>
                  <a:pt x="0" y="177800"/>
                </a:lnTo>
                <a:arcTo wR="177800" hR="177800" stAng="10800000" swAng="5400000"/>
                <a:close/>
              </a:path>
            </a:pathLst>
          </a:custGeom>
          <a:solidFill>
            <a:srgbClr val="E8762A"/>
          </a:solidFill>
          <a:ln/>
        </p:spPr>
        <p:txBody>
          <a:bodyPr wrap="square" lIns="0" tIns="0" rIns="0" bIns="0" rtlCol="0" anchor="t">
            <a:normAutofit/>
          </a:bodyPr>
          <a:lstStyle/>
          <a:p>
            <a:pPr marL="0" indent="0" algn="ctr">
              <a:lnSpc>
                <a:spcPts val="2800"/>
              </a:lnSpc>
              <a:buNone/>
            </a:pPr>
            <a:r>
              <a:rPr lang="en-US" sz="2000" b="1" dirty="0">
                <a:solidFill>
                  <a:srgbClr val="14233A"/>
                </a:solidFill>
                <a:latin typeface="Nunito Sans" pitchFamily="34" charset="0"/>
                <a:ea typeface="Nunito Sans" pitchFamily="34" charset="-122"/>
                <a:cs typeface="Nunito Sans" pitchFamily="34" charset="-120"/>
              </a:rPr>
              <a:t>B</a:t>
            </a:r>
            <a:endParaRPr lang="en-US" sz="2000" dirty="0"/>
          </a:p>
        </p:txBody>
      </p:sp>
      <p:sp>
        <p:nvSpPr>
          <p:cNvPr id="7" name="Text 5"/>
          <p:cNvSpPr/>
          <p:nvPr/>
        </p:nvSpPr>
        <p:spPr>
          <a:xfrm>
            <a:off x="1320800" y="2296120"/>
            <a:ext cx="10360152" cy="283170"/>
          </a:xfrm>
          <a:prstGeom prst="rect">
            <a:avLst/>
          </a:prstGeom>
          <a:noFill/>
          <a:ln/>
        </p:spPr>
        <p:txBody>
          <a:bodyPr wrap="square" lIns="0" tIns="0" rIns="0" bIns="0" rtlCol="0" anchor="t">
            <a:normAutofit/>
          </a:bodyPr>
          <a:lstStyle/>
          <a:p>
            <a:pPr marL="0" indent="0" algn="l">
              <a:lnSpc>
                <a:spcPts val="2030"/>
              </a:lnSpc>
              <a:buNone/>
            </a:pPr>
            <a:r>
              <a:rPr lang="en-US" sz="2000" dirty="0">
                <a:solidFill>
                  <a:srgbClr val="2A3646"/>
                </a:solidFill>
                <a:latin typeface="Nunito Sans" pitchFamily="34" charset="0"/>
                <a:ea typeface="Nunito Sans" pitchFamily="34" charset="-122"/>
                <a:cs typeface="Nunito Sans" pitchFamily="34" charset="-120"/>
              </a:rPr>
              <a:t>I think there will be more green skyscrapers with roof gardens.</a:t>
            </a:r>
            <a:endParaRPr lang="en-US" sz="2000" dirty="0"/>
          </a:p>
        </p:txBody>
      </p:sp>
      <p:sp>
        <p:nvSpPr>
          <p:cNvPr id="8" name="Text 6"/>
          <p:cNvSpPr/>
          <p:nvPr/>
        </p:nvSpPr>
        <p:spPr>
          <a:xfrm>
            <a:off x="812800" y="2740620"/>
            <a:ext cx="355600" cy="355600"/>
          </a:xfrm>
          <a:custGeom>
            <a:avLst/>
            <a:gdLst/>
            <a:ahLst/>
            <a:cxnLst/>
            <a:rect l="l" t="t" r="r" b="b"/>
            <a:pathLst>
              <a:path w="355600" h="355600">
                <a:moveTo>
                  <a:pt x="177800" y="0"/>
                </a:moveTo>
                <a:lnTo>
                  <a:pt x="177800" y="0"/>
                </a:lnTo>
                <a:arcTo wR="177800" hR="177800" stAng="16200000" swAng="5400000"/>
                <a:lnTo>
                  <a:pt x="355600" y="177800"/>
                </a:lnTo>
                <a:arcTo wR="177800" hR="177800" stAng="0" swAng="5400000"/>
                <a:lnTo>
                  <a:pt x="177800" y="355600"/>
                </a:lnTo>
                <a:arcTo wR="177800" hR="177800" stAng="5400000" swAng="5400000"/>
                <a:lnTo>
                  <a:pt x="0" y="177800"/>
                </a:lnTo>
                <a:arcTo wR="177800" hR="177800" stAng="10800000" swAng="5400000"/>
                <a:close/>
              </a:path>
            </a:pathLst>
          </a:custGeom>
          <a:solidFill>
            <a:srgbClr val="117279"/>
          </a:solidFill>
          <a:ln/>
        </p:spPr>
        <p:txBody>
          <a:bodyPr wrap="square" lIns="0" tIns="0" rIns="0" bIns="0" rtlCol="0" anchor="t">
            <a:normAutofit/>
          </a:bodyPr>
          <a:lstStyle/>
          <a:p>
            <a:pPr marL="0" indent="0" algn="ctr">
              <a:lnSpc>
                <a:spcPts val="2800"/>
              </a:lnSpc>
              <a:buNone/>
            </a:pPr>
            <a:r>
              <a:rPr lang="en-US" sz="2000" b="1" dirty="0">
                <a:solidFill>
                  <a:srgbClr val="FBFAF6"/>
                </a:solidFill>
                <a:latin typeface="Nunito Sans" pitchFamily="34" charset="0"/>
                <a:ea typeface="Nunito Sans" pitchFamily="34" charset="-122"/>
                <a:cs typeface="Nunito Sans" pitchFamily="34" charset="-120"/>
              </a:rPr>
              <a:t>A</a:t>
            </a:r>
            <a:endParaRPr lang="en-US" sz="2000" dirty="0"/>
          </a:p>
        </p:txBody>
      </p:sp>
      <p:sp>
        <p:nvSpPr>
          <p:cNvPr id="9" name="Text 7"/>
          <p:cNvSpPr/>
          <p:nvPr/>
        </p:nvSpPr>
        <p:spPr>
          <a:xfrm>
            <a:off x="1320800" y="2791420"/>
            <a:ext cx="10360152" cy="283170"/>
          </a:xfrm>
          <a:prstGeom prst="rect">
            <a:avLst/>
          </a:prstGeom>
          <a:noFill/>
          <a:ln/>
        </p:spPr>
        <p:txBody>
          <a:bodyPr wrap="square" lIns="0" tIns="0" rIns="0" bIns="0" rtlCol="0" anchor="t">
            <a:normAutofit/>
          </a:bodyPr>
          <a:lstStyle/>
          <a:p>
            <a:pPr marL="0" indent="0" algn="l">
              <a:lnSpc>
                <a:spcPts val="2030"/>
              </a:lnSpc>
              <a:buNone/>
            </a:pPr>
            <a:r>
              <a:rPr lang="en-US" sz="2000" dirty="0">
                <a:solidFill>
                  <a:srgbClr val="2A3646"/>
                </a:solidFill>
                <a:latin typeface="Nunito Sans" pitchFamily="34" charset="0"/>
                <a:ea typeface="Nunito Sans" pitchFamily="34" charset="-122"/>
                <a:cs typeface="Nunito Sans" pitchFamily="34" charset="-120"/>
              </a:rPr>
              <a:t>That sounds interesting! Why will they be popular?</a:t>
            </a:r>
            <a:endParaRPr lang="en-US" sz="2000" dirty="0"/>
          </a:p>
        </p:txBody>
      </p:sp>
      <p:sp>
        <p:nvSpPr>
          <p:cNvPr id="10" name="Text 8"/>
          <p:cNvSpPr/>
          <p:nvPr/>
        </p:nvSpPr>
        <p:spPr>
          <a:xfrm>
            <a:off x="812800" y="3235920"/>
            <a:ext cx="355600" cy="355600"/>
          </a:xfrm>
          <a:custGeom>
            <a:avLst/>
            <a:gdLst/>
            <a:ahLst/>
            <a:cxnLst/>
            <a:rect l="l" t="t" r="r" b="b"/>
            <a:pathLst>
              <a:path w="355600" h="355600">
                <a:moveTo>
                  <a:pt x="177800" y="0"/>
                </a:moveTo>
                <a:lnTo>
                  <a:pt x="177800" y="0"/>
                </a:lnTo>
                <a:arcTo wR="177800" hR="177800" stAng="16200000" swAng="5400000"/>
                <a:lnTo>
                  <a:pt x="355600" y="177800"/>
                </a:lnTo>
                <a:arcTo wR="177800" hR="177800" stAng="0" swAng="5400000"/>
                <a:lnTo>
                  <a:pt x="177800" y="355600"/>
                </a:lnTo>
                <a:arcTo wR="177800" hR="177800" stAng="5400000" swAng="5400000"/>
                <a:lnTo>
                  <a:pt x="0" y="177800"/>
                </a:lnTo>
                <a:arcTo wR="177800" hR="177800" stAng="10800000" swAng="5400000"/>
                <a:close/>
              </a:path>
            </a:pathLst>
          </a:custGeom>
          <a:solidFill>
            <a:srgbClr val="E8762A"/>
          </a:solidFill>
          <a:ln/>
        </p:spPr>
        <p:txBody>
          <a:bodyPr wrap="square" lIns="0" tIns="0" rIns="0" bIns="0" rtlCol="0" anchor="t">
            <a:normAutofit/>
          </a:bodyPr>
          <a:lstStyle/>
          <a:p>
            <a:pPr marL="0" indent="0" algn="ctr">
              <a:lnSpc>
                <a:spcPts val="2800"/>
              </a:lnSpc>
              <a:buNone/>
            </a:pPr>
            <a:r>
              <a:rPr lang="en-US" sz="2000" b="1" dirty="0">
                <a:solidFill>
                  <a:srgbClr val="14233A"/>
                </a:solidFill>
                <a:latin typeface="Nunito Sans" pitchFamily="34" charset="0"/>
                <a:ea typeface="Nunito Sans" pitchFamily="34" charset="-122"/>
                <a:cs typeface="Nunito Sans" pitchFamily="34" charset="-120"/>
              </a:rPr>
              <a:t>B</a:t>
            </a:r>
            <a:endParaRPr lang="en-US" sz="2000" dirty="0"/>
          </a:p>
        </p:txBody>
      </p:sp>
      <p:sp>
        <p:nvSpPr>
          <p:cNvPr id="11" name="Text 9"/>
          <p:cNvSpPr/>
          <p:nvPr/>
        </p:nvSpPr>
        <p:spPr>
          <a:xfrm>
            <a:off x="1320800" y="3286720"/>
            <a:ext cx="10360152" cy="283170"/>
          </a:xfrm>
          <a:prstGeom prst="rect">
            <a:avLst/>
          </a:prstGeom>
          <a:noFill/>
          <a:ln/>
        </p:spPr>
        <p:txBody>
          <a:bodyPr wrap="square" lIns="0" tIns="0" rIns="0" bIns="0" rtlCol="0" anchor="t">
            <a:normAutofit/>
          </a:bodyPr>
          <a:lstStyle/>
          <a:p>
            <a:pPr marL="0" indent="0" algn="l">
              <a:lnSpc>
                <a:spcPts val="2030"/>
              </a:lnSpc>
              <a:buNone/>
            </a:pPr>
            <a:r>
              <a:rPr lang="en-US" sz="2000" dirty="0">
                <a:solidFill>
                  <a:srgbClr val="2A3646"/>
                </a:solidFill>
                <a:latin typeface="Nunito Sans" pitchFamily="34" charset="0"/>
                <a:ea typeface="Nunito Sans" pitchFamily="34" charset="-122"/>
                <a:cs typeface="Nunito Sans" pitchFamily="34" charset="-120"/>
              </a:rPr>
              <a:t>Because they will provide more green spaces and help reduce air pollution.</a:t>
            </a:r>
            <a:endParaRPr lang="en-US" sz="2000" dirty="0"/>
          </a:p>
        </p:txBody>
      </p:sp>
      <p:sp>
        <p:nvSpPr>
          <p:cNvPr id="12" name="Text 10"/>
          <p:cNvSpPr/>
          <p:nvPr/>
        </p:nvSpPr>
        <p:spPr>
          <a:xfrm>
            <a:off x="812800" y="3731220"/>
            <a:ext cx="355600" cy="355600"/>
          </a:xfrm>
          <a:custGeom>
            <a:avLst/>
            <a:gdLst/>
            <a:ahLst/>
            <a:cxnLst/>
            <a:rect l="l" t="t" r="r" b="b"/>
            <a:pathLst>
              <a:path w="355600" h="355600">
                <a:moveTo>
                  <a:pt x="177800" y="0"/>
                </a:moveTo>
                <a:lnTo>
                  <a:pt x="177800" y="0"/>
                </a:lnTo>
                <a:arcTo wR="177800" hR="177800" stAng="16200000" swAng="5400000"/>
                <a:lnTo>
                  <a:pt x="355600" y="177800"/>
                </a:lnTo>
                <a:arcTo wR="177800" hR="177800" stAng="0" swAng="5400000"/>
                <a:lnTo>
                  <a:pt x="177800" y="355600"/>
                </a:lnTo>
                <a:arcTo wR="177800" hR="177800" stAng="5400000" swAng="5400000"/>
                <a:lnTo>
                  <a:pt x="0" y="177800"/>
                </a:lnTo>
                <a:arcTo wR="177800" hR="177800" stAng="10800000" swAng="5400000"/>
                <a:close/>
              </a:path>
            </a:pathLst>
          </a:custGeom>
          <a:solidFill>
            <a:srgbClr val="117279"/>
          </a:solidFill>
          <a:ln/>
        </p:spPr>
        <p:txBody>
          <a:bodyPr wrap="square" lIns="0" tIns="0" rIns="0" bIns="0" rtlCol="0" anchor="t">
            <a:normAutofit/>
          </a:bodyPr>
          <a:lstStyle/>
          <a:p>
            <a:pPr marL="0" indent="0" algn="ctr">
              <a:lnSpc>
                <a:spcPts val="2800"/>
              </a:lnSpc>
              <a:buNone/>
            </a:pPr>
            <a:r>
              <a:rPr lang="en-US" sz="2000" b="1" dirty="0">
                <a:solidFill>
                  <a:srgbClr val="FBFAF6"/>
                </a:solidFill>
                <a:latin typeface="Nunito Sans" pitchFamily="34" charset="0"/>
                <a:ea typeface="Nunito Sans" pitchFamily="34" charset="-122"/>
                <a:cs typeface="Nunito Sans" pitchFamily="34" charset="-120"/>
              </a:rPr>
              <a:t>A</a:t>
            </a:r>
            <a:endParaRPr lang="en-US" sz="2000" dirty="0"/>
          </a:p>
        </p:txBody>
      </p:sp>
      <p:sp>
        <p:nvSpPr>
          <p:cNvPr id="13" name="Text 11"/>
          <p:cNvSpPr/>
          <p:nvPr/>
        </p:nvSpPr>
        <p:spPr>
          <a:xfrm>
            <a:off x="1320800" y="3782020"/>
            <a:ext cx="10360152" cy="283170"/>
          </a:xfrm>
          <a:prstGeom prst="rect">
            <a:avLst/>
          </a:prstGeom>
          <a:noFill/>
          <a:ln/>
        </p:spPr>
        <p:txBody>
          <a:bodyPr wrap="square" lIns="0" tIns="0" rIns="0" bIns="0" rtlCol="0" anchor="t">
            <a:normAutofit/>
          </a:bodyPr>
          <a:lstStyle/>
          <a:p>
            <a:pPr marL="0" indent="0" algn="l">
              <a:lnSpc>
                <a:spcPts val="2030"/>
              </a:lnSpc>
              <a:buNone/>
            </a:pPr>
            <a:r>
              <a:rPr lang="en-US" sz="2000" dirty="0">
                <a:solidFill>
                  <a:srgbClr val="2A3646"/>
                </a:solidFill>
                <a:latin typeface="Nunito Sans" pitchFamily="34" charset="0"/>
                <a:ea typeface="Nunito Sans" pitchFamily="34" charset="-122"/>
                <a:cs typeface="Nunito Sans" pitchFamily="34" charset="-120"/>
              </a:rPr>
              <a:t>How will technology help these buildings?</a:t>
            </a:r>
            <a:endParaRPr lang="en-US" sz="2000" dirty="0"/>
          </a:p>
        </p:txBody>
      </p:sp>
      <p:sp>
        <p:nvSpPr>
          <p:cNvPr id="14" name="Text 12"/>
          <p:cNvSpPr/>
          <p:nvPr/>
        </p:nvSpPr>
        <p:spPr>
          <a:xfrm>
            <a:off x="812800" y="4226520"/>
            <a:ext cx="355600" cy="355600"/>
          </a:xfrm>
          <a:custGeom>
            <a:avLst/>
            <a:gdLst/>
            <a:ahLst/>
            <a:cxnLst/>
            <a:rect l="l" t="t" r="r" b="b"/>
            <a:pathLst>
              <a:path w="355600" h="355600">
                <a:moveTo>
                  <a:pt x="177800" y="0"/>
                </a:moveTo>
                <a:lnTo>
                  <a:pt x="177800" y="0"/>
                </a:lnTo>
                <a:arcTo wR="177800" hR="177800" stAng="16200000" swAng="5400000"/>
                <a:lnTo>
                  <a:pt x="355600" y="177800"/>
                </a:lnTo>
                <a:arcTo wR="177800" hR="177800" stAng="0" swAng="5400000"/>
                <a:lnTo>
                  <a:pt x="177800" y="355600"/>
                </a:lnTo>
                <a:arcTo wR="177800" hR="177800" stAng="5400000" swAng="5400000"/>
                <a:lnTo>
                  <a:pt x="0" y="177800"/>
                </a:lnTo>
                <a:arcTo wR="177800" hR="177800" stAng="10800000" swAng="5400000"/>
                <a:close/>
              </a:path>
            </a:pathLst>
          </a:custGeom>
          <a:solidFill>
            <a:srgbClr val="E8762A"/>
          </a:solidFill>
          <a:ln/>
        </p:spPr>
        <p:txBody>
          <a:bodyPr wrap="square" lIns="0" tIns="0" rIns="0" bIns="0" rtlCol="0" anchor="t">
            <a:normAutofit/>
          </a:bodyPr>
          <a:lstStyle/>
          <a:p>
            <a:pPr marL="0" indent="0" algn="ctr">
              <a:lnSpc>
                <a:spcPts val="2800"/>
              </a:lnSpc>
              <a:buNone/>
            </a:pPr>
            <a:r>
              <a:rPr lang="en-US" sz="2000" b="1" dirty="0">
                <a:solidFill>
                  <a:srgbClr val="14233A"/>
                </a:solidFill>
                <a:latin typeface="Nunito Sans" pitchFamily="34" charset="0"/>
                <a:ea typeface="Nunito Sans" pitchFamily="34" charset="-122"/>
                <a:cs typeface="Nunito Sans" pitchFamily="34" charset="-120"/>
              </a:rPr>
              <a:t>B</a:t>
            </a:r>
            <a:endParaRPr lang="en-US" sz="2000" dirty="0"/>
          </a:p>
        </p:txBody>
      </p:sp>
      <p:sp>
        <p:nvSpPr>
          <p:cNvPr id="15" name="Text 13"/>
          <p:cNvSpPr/>
          <p:nvPr/>
        </p:nvSpPr>
        <p:spPr>
          <a:xfrm>
            <a:off x="1320800" y="4277320"/>
            <a:ext cx="10360152" cy="283170"/>
          </a:xfrm>
          <a:prstGeom prst="rect">
            <a:avLst/>
          </a:prstGeom>
          <a:noFill/>
          <a:ln/>
        </p:spPr>
        <p:txBody>
          <a:bodyPr wrap="square" lIns="0" tIns="0" rIns="0" bIns="0" rtlCol="0" anchor="t">
            <a:normAutofit/>
          </a:bodyPr>
          <a:lstStyle/>
          <a:p>
            <a:pPr marL="0" indent="0" algn="l">
              <a:lnSpc>
                <a:spcPts val="2030"/>
              </a:lnSpc>
              <a:buNone/>
            </a:pPr>
            <a:r>
              <a:rPr lang="en-US" sz="2000" dirty="0">
                <a:solidFill>
                  <a:srgbClr val="2A3646"/>
                </a:solidFill>
                <a:latin typeface="Nunito Sans" pitchFamily="34" charset="0"/>
                <a:ea typeface="Nunito Sans" pitchFamily="34" charset="-122"/>
                <a:cs typeface="Nunito Sans" pitchFamily="34" charset="-120"/>
              </a:rPr>
              <a:t>They will use smart sensors to save energy and operate more efficiently.</a:t>
            </a:r>
            <a:endParaRPr lang="en-US" sz="2000" dirty="0"/>
          </a:p>
        </p:txBody>
      </p:sp>
      <p:sp>
        <p:nvSpPr>
          <p:cNvPr id="16" name="Text 14"/>
          <p:cNvSpPr/>
          <p:nvPr/>
        </p:nvSpPr>
        <p:spPr>
          <a:xfrm>
            <a:off x="812800" y="4721820"/>
            <a:ext cx="355600" cy="355600"/>
          </a:xfrm>
          <a:custGeom>
            <a:avLst/>
            <a:gdLst/>
            <a:ahLst/>
            <a:cxnLst/>
            <a:rect l="l" t="t" r="r" b="b"/>
            <a:pathLst>
              <a:path w="355600" h="355600">
                <a:moveTo>
                  <a:pt x="177800" y="0"/>
                </a:moveTo>
                <a:lnTo>
                  <a:pt x="177800" y="0"/>
                </a:lnTo>
                <a:arcTo wR="177800" hR="177800" stAng="16200000" swAng="5400000"/>
                <a:lnTo>
                  <a:pt x="355600" y="177800"/>
                </a:lnTo>
                <a:arcTo wR="177800" hR="177800" stAng="0" swAng="5400000"/>
                <a:lnTo>
                  <a:pt x="177800" y="355600"/>
                </a:lnTo>
                <a:arcTo wR="177800" hR="177800" stAng="5400000" swAng="5400000"/>
                <a:lnTo>
                  <a:pt x="0" y="177800"/>
                </a:lnTo>
                <a:arcTo wR="177800" hR="177800" stAng="10800000" swAng="5400000"/>
                <a:close/>
              </a:path>
            </a:pathLst>
          </a:custGeom>
          <a:solidFill>
            <a:srgbClr val="117279"/>
          </a:solidFill>
          <a:ln/>
        </p:spPr>
        <p:txBody>
          <a:bodyPr wrap="square" lIns="0" tIns="0" rIns="0" bIns="0" rtlCol="0" anchor="t">
            <a:normAutofit/>
          </a:bodyPr>
          <a:lstStyle/>
          <a:p>
            <a:pPr marL="0" indent="0" algn="ctr">
              <a:lnSpc>
                <a:spcPts val="2800"/>
              </a:lnSpc>
              <a:buNone/>
            </a:pPr>
            <a:r>
              <a:rPr lang="en-US" sz="2000" b="1" dirty="0">
                <a:solidFill>
                  <a:srgbClr val="FBFAF6"/>
                </a:solidFill>
                <a:latin typeface="Nunito Sans" pitchFamily="34" charset="0"/>
                <a:ea typeface="Nunito Sans" pitchFamily="34" charset="-122"/>
                <a:cs typeface="Nunito Sans" pitchFamily="34" charset="-120"/>
              </a:rPr>
              <a:t>A</a:t>
            </a:r>
            <a:endParaRPr lang="en-US" sz="2000" dirty="0"/>
          </a:p>
        </p:txBody>
      </p:sp>
      <p:sp>
        <p:nvSpPr>
          <p:cNvPr id="17" name="Text 15"/>
          <p:cNvSpPr/>
          <p:nvPr/>
        </p:nvSpPr>
        <p:spPr>
          <a:xfrm>
            <a:off x="1320800" y="4772620"/>
            <a:ext cx="10360152" cy="283170"/>
          </a:xfrm>
          <a:prstGeom prst="rect">
            <a:avLst/>
          </a:prstGeom>
          <a:noFill/>
          <a:ln/>
        </p:spPr>
        <p:txBody>
          <a:bodyPr wrap="square" lIns="0" tIns="0" rIns="0" bIns="0" rtlCol="0" anchor="t">
            <a:normAutofit/>
          </a:bodyPr>
          <a:lstStyle/>
          <a:p>
            <a:pPr marL="0" indent="0" algn="l">
              <a:lnSpc>
                <a:spcPts val="2030"/>
              </a:lnSpc>
              <a:buNone/>
            </a:pPr>
            <a:r>
              <a:rPr lang="en-US" sz="2000" dirty="0">
                <a:solidFill>
                  <a:srgbClr val="2A3646"/>
                </a:solidFill>
                <a:latin typeface="Nunito Sans" pitchFamily="34" charset="0"/>
                <a:ea typeface="Nunito Sans" pitchFamily="34" charset="-122"/>
                <a:cs typeface="Nunito Sans" pitchFamily="34" charset="-120"/>
              </a:rPr>
              <a:t>Great! I think that will make future cities more liveable.</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AF6"/>
        </a:solidFill>
        <a:effectLst/>
      </p:bgPr>
    </p:bg>
    <p:spTree>
      <p:nvGrpSpPr>
        <p:cNvPr id="1" name=""/>
        <p:cNvGrpSpPr/>
        <p:nvPr/>
      </p:nvGrpSpPr>
      <p:grpSpPr>
        <a:xfrm>
          <a:off x="0" y="0"/>
          <a:ext cx="0" cy="0"/>
          <a:chOff x="0" y="0"/>
          <a:chExt cx="0" cy="0"/>
        </a:xfrm>
      </p:grpSpPr>
      <p:sp>
        <p:nvSpPr>
          <p:cNvPr id="2" name="Text 0"/>
          <p:cNvSpPr/>
          <p:nvPr/>
        </p:nvSpPr>
        <p:spPr>
          <a:xfrm>
            <a:off x="812800" y="762000"/>
            <a:ext cx="10883392" cy="238720"/>
          </a:xfrm>
          <a:prstGeom prst="rect">
            <a:avLst/>
          </a:prstGeom>
          <a:noFill/>
          <a:ln/>
        </p:spPr>
        <p:txBody>
          <a:bodyPr wrap="square" lIns="0" tIns="0" rIns="0" bIns="0" rtlCol="0" anchor="t">
            <a:normAutofit/>
          </a:bodyPr>
          <a:lstStyle/>
          <a:p>
            <a:pPr marL="0" indent="0" algn="l">
              <a:lnSpc>
                <a:spcPts val="1680"/>
              </a:lnSpc>
              <a:buNone/>
            </a:pPr>
            <a:r>
              <a:rPr lang="en-US" sz="2000" b="1" kern="0" spc="150" dirty="0">
                <a:solidFill>
                  <a:srgbClr val="117279"/>
                </a:solidFill>
                <a:latin typeface="Nunito Sans" pitchFamily="34" charset="0"/>
                <a:ea typeface="Nunito Sans" pitchFamily="34" charset="-122"/>
                <a:cs typeface="Nunito Sans" pitchFamily="34" charset="-120"/>
              </a:rPr>
              <a:t>MODEL CONVERSATION 2</a:t>
            </a:r>
            <a:endParaRPr lang="en-US" sz="2000" dirty="0"/>
          </a:p>
        </p:txBody>
      </p:sp>
      <p:sp>
        <p:nvSpPr>
          <p:cNvPr id="3" name="Text 1"/>
          <p:cNvSpPr>
            <a:spLocks noGrp="1"/>
          </p:cNvSpPr>
          <p:nvPr>
            <p:ph type="title"/>
          </p:nvPr>
        </p:nvSpPr>
        <p:spPr>
          <a:xfrm>
            <a:off x="812800" y="1051520"/>
            <a:ext cx="10883392" cy="444500"/>
          </a:xfrm>
          <a:prstGeom prst="rect">
            <a:avLst/>
          </a:prstGeom>
          <a:noFill/>
          <a:ln/>
        </p:spPr>
        <p:txBody>
          <a:bodyPr wrap="square" lIns="0" tIns="0" rIns="0" bIns="0" rtlCol="0" anchor="t">
            <a:normAutofit/>
          </a:bodyPr>
          <a:lstStyle/>
          <a:p>
            <a:pPr marL="0" indent="0" algn="l">
              <a:lnSpc>
                <a:spcPts val="3300"/>
              </a:lnSpc>
              <a:buNone/>
            </a:pPr>
            <a:r>
              <a:rPr lang="en-US" sz="2000" b="1" i="0" dirty="0">
                <a:solidFill>
                  <a:srgbClr val="1D3557"/>
                </a:solidFill>
                <a:latin typeface="Be Vietnam Pro" pitchFamily="34" charset="0"/>
                <a:ea typeface="Be Vietnam Pro" pitchFamily="34" charset="-122"/>
                <a:cs typeface="Be Vietnam Pro" pitchFamily="34" charset="-120"/>
              </a:rPr>
              <a:t>Topic: Living conditions</a:t>
            </a:r>
            <a:endParaRPr lang="en-US" sz="2000" dirty="0"/>
          </a:p>
        </p:txBody>
      </p:sp>
      <p:sp>
        <p:nvSpPr>
          <p:cNvPr id="4" name="Text 2"/>
          <p:cNvSpPr/>
          <p:nvPr/>
        </p:nvSpPr>
        <p:spPr>
          <a:xfrm>
            <a:off x="812800" y="1724620"/>
            <a:ext cx="355600" cy="355600"/>
          </a:xfrm>
          <a:custGeom>
            <a:avLst/>
            <a:gdLst/>
            <a:ahLst/>
            <a:cxnLst/>
            <a:rect l="l" t="t" r="r" b="b"/>
            <a:pathLst>
              <a:path w="355600" h="355600">
                <a:moveTo>
                  <a:pt x="177800" y="0"/>
                </a:moveTo>
                <a:lnTo>
                  <a:pt x="177800" y="0"/>
                </a:lnTo>
                <a:arcTo wR="177800" hR="177800" stAng="16200000" swAng="5400000"/>
                <a:lnTo>
                  <a:pt x="355600" y="177800"/>
                </a:lnTo>
                <a:arcTo wR="177800" hR="177800" stAng="0" swAng="5400000"/>
                <a:lnTo>
                  <a:pt x="177800" y="355600"/>
                </a:lnTo>
                <a:arcTo wR="177800" hR="177800" stAng="5400000" swAng="5400000"/>
                <a:lnTo>
                  <a:pt x="0" y="177800"/>
                </a:lnTo>
                <a:arcTo wR="177800" hR="177800" stAng="10800000" swAng="5400000"/>
                <a:close/>
              </a:path>
            </a:pathLst>
          </a:custGeom>
          <a:solidFill>
            <a:srgbClr val="117279"/>
          </a:solidFill>
          <a:ln/>
        </p:spPr>
        <p:txBody>
          <a:bodyPr wrap="square" lIns="0" tIns="0" rIns="0" bIns="0" rtlCol="0" anchor="t">
            <a:normAutofit/>
          </a:bodyPr>
          <a:lstStyle/>
          <a:p>
            <a:pPr marL="0" indent="0" algn="ctr">
              <a:lnSpc>
                <a:spcPts val="2800"/>
              </a:lnSpc>
              <a:buNone/>
            </a:pPr>
            <a:r>
              <a:rPr lang="en-US" sz="2000" b="1" dirty="0">
                <a:solidFill>
                  <a:srgbClr val="FBFAF6"/>
                </a:solidFill>
                <a:latin typeface="Nunito Sans" pitchFamily="34" charset="0"/>
                <a:ea typeface="Nunito Sans" pitchFamily="34" charset="-122"/>
                <a:cs typeface="Nunito Sans" pitchFamily="34" charset="-120"/>
              </a:rPr>
              <a:t>A</a:t>
            </a:r>
            <a:endParaRPr lang="en-US" sz="2000" dirty="0"/>
          </a:p>
        </p:txBody>
      </p:sp>
      <p:sp>
        <p:nvSpPr>
          <p:cNvPr id="5" name="Text 3"/>
          <p:cNvSpPr/>
          <p:nvPr/>
        </p:nvSpPr>
        <p:spPr>
          <a:xfrm>
            <a:off x="1320800" y="1775420"/>
            <a:ext cx="10360152" cy="283170"/>
          </a:xfrm>
          <a:prstGeom prst="rect">
            <a:avLst/>
          </a:prstGeom>
          <a:noFill/>
          <a:ln/>
        </p:spPr>
        <p:txBody>
          <a:bodyPr wrap="square" lIns="0" tIns="0" rIns="0" bIns="0" rtlCol="0" anchor="t">
            <a:normAutofit/>
          </a:bodyPr>
          <a:lstStyle/>
          <a:p>
            <a:pPr marL="0" indent="0" algn="l">
              <a:lnSpc>
                <a:spcPts val="2030"/>
              </a:lnSpc>
              <a:buNone/>
            </a:pPr>
            <a:r>
              <a:rPr lang="en-US" sz="2000" dirty="0">
                <a:solidFill>
                  <a:srgbClr val="2A3646"/>
                </a:solidFill>
                <a:latin typeface="Nunito Sans" pitchFamily="34" charset="0"/>
                <a:ea typeface="Nunito Sans" pitchFamily="34" charset="-122"/>
                <a:cs typeface="Nunito Sans" pitchFamily="34" charset="-120"/>
              </a:rPr>
              <a:t>How will people’s lives change in future cities?</a:t>
            </a:r>
            <a:endParaRPr lang="en-US" sz="2000" dirty="0"/>
          </a:p>
        </p:txBody>
      </p:sp>
      <p:sp>
        <p:nvSpPr>
          <p:cNvPr id="6" name="Text 4"/>
          <p:cNvSpPr/>
          <p:nvPr/>
        </p:nvSpPr>
        <p:spPr>
          <a:xfrm>
            <a:off x="812800" y="2181820"/>
            <a:ext cx="355600" cy="355600"/>
          </a:xfrm>
          <a:custGeom>
            <a:avLst/>
            <a:gdLst/>
            <a:ahLst/>
            <a:cxnLst/>
            <a:rect l="l" t="t" r="r" b="b"/>
            <a:pathLst>
              <a:path w="355600" h="355600">
                <a:moveTo>
                  <a:pt x="177800" y="0"/>
                </a:moveTo>
                <a:lnTo>
                  <a:pt x="177800" y="0"/>
                </a:lnTo>
                <a:arcTo wR="177800" hR="177800" stAng="16200000" swAng="5400000"/>
                <a:lnTo>
                  <a:pt x="355600" y="177800"/>
                </a:lnTo>
                <a:arcTo wR="177800" hR="177800" stAng="0" swAng="5400000"/>
                <a:lnTo>
                  <a:pt x="177800" y="355600"/>
                </a:lnTo>
                <a:arcTo wR="177800" hR="177800" stAng="5400000" swAng="5400000"/>
                <a:lnTo>
                  <a:pt x="0" y="177800"/>
                </a:lnTo>
                <a:arcTo wR="177800" hR="177800" stAng="10800000" swAng="5400000"/>
                <a:close/>
              </a:path>
            </a:pathLst>
          </a:custGeom>
          <a:solidFill>
            <a:srgbClr val="E8762A"/>
          </a:solidFill>
          <a:ln/>
        </p:spPr>
        <p:txBody>
          <a:bodyPr wrap="square" lIns="0" tIns="0" rIns="0" bIns="0" rtlCol="0" anchor="t">
            <a:normAutofit/>
          </a:bodyPr>
          <a:lstStyle/>
          <a:p>
            <a:pPr marL="0" indent="0" algn="ctr">
              <a:lnSpc>
                <a:spcPts val="2800"/>
              </a:lnSpc>
              <a:buNone/>
            </a:pPr>
            <a:r>
              <a:rPr lang="en-US" sz="2000" b="1" dirty="0">
                <a:solidFill>
                  <a:srgbClr val="14233A"/>
                </a:solidFill>
                <a:latin typeface="Nunito Sans" pitchFamily="34" charset="0"/>
                <a:ea typeface="Nunito Sans" pitchFamily="34" charset="-122"/>
                <a:cs typeface="Nunito Sans" pitchFamily="34" charset="-120"/>
              </a:rPr>
              <a:t>B</a:t>
            </a:r>
            <a:endParaRPr lang="en-US" sz="2000" dirty="0"/>
          </a:p>
        </p:txBody>
      </p:sp>
      <p:sp>
        <p:nvSpPr>
          <p:cNvPr id="7" name="Text 5"/>
          <p:cNvSpPr/>
          <p:nvPr/>
        </p:nvSpPr>
        <p:spPr>
          <a:xfrm>
            <a:off x="1320800" y="2232620"/>
            <a:ext cx="10360152" cy="283170"/>
          </a:xfrm>
          <a:prstGeom prst="rect">
            <a:avLst/>
          </a:prstGeom>
          <a:noFill/>
          <a:ln/>
        </p:spPr>
        <p:txBody>
          <a:bodyPr wrap="square" lIns="0" tIns="0" rIns="0" bIns="0" rtlCol="0" anchor="t">
            <a:normAutofit/>
          </a:bodyPr>
          <a:lstStyle/>
          <a:p>
            <a:pPr marL="0" indent="0" algn="l">
              <a:lnSpc>
                <a:spcPts val="2030"/>
              </a:lnSpc>
              <a:buNone/>
            </a:pPr>
            <a:r>
              <a:rPr lang="en-US" sz="2000" dirty="0">
                <a:solidFill>
                  <a:srgbClr val="2A3646"/>
                </a:solidFill>
                <a:latin typeface="Nunito Sans" pitchFamily="34" charset="0"/>
                <a:ea typeface="Nunito Sans" pitchFamily="34" charset="-122"/>
                <a:cs typeface="Nunito Sans" pitchFamily="34" charset="-120"/>
              </a:rPr>
              <a:t>I believe the quality of life will be improved thanks to the cleaner environment.</a:t>
            </a:r>
            <a:endParaRPr lang="en-US" sz="2000" dirty="0"/>
          </a:p>
        </p:txBody>
      </p:sp>
      <p:sp>
        <p:nvSpPr>
          <p:cNvPr id="8" name="Text 6"/>
          <p:cNvSpPr/>
          <p:nvPr/>
        </p:nvSpPr>
        <p:spPr>
          <a:xfrm>
            <a:off x="812800" y="2639020"/>
            <a:ext cx="355600" cy="355600"/>
          </a:xfrm>
          <a:custGeom>
            <a:avLst/>
            <a:gdLst/>
            <a:ahLst/>
            <a:cxnLst/>
            <a:rect l="l" t="t" r="r" b="b"/>
            <a:pathLst>
              <a:path w="355600" h="355600">
                <a:moveTo>
                  <a:pt x="177800" y="0"/>
                </a:moveTo>
                <a:lnTo>
                  <a:pt x="177800" y="0"/>
                </a:lnTo>
                <a:arcTo wR="177800" hR="177800" stAng="16200000" swAng="5400000"/>
                <a:lnTo>
                  <a:pt x="355600" y="177800"/>
                </a:lnTo>
                <a:arcTo wR="177800" hR="177800" stAng="0" swAng="5400000"/>
                <a:lnTo>
                  <a:pt x="177800" y="355600"/>
                </a:lnTo>
                <a:arcTo wR="177800" hR="177800" stAng="5400000" swAng="5400000"/>
                <a:lnTo>
                  <a:pt x="0" y="177800"/>
                </a:lnTo>
                <a:arcTo wR="177800" hR="177800" stAng="10800000" swAng="5400000"/>
                <a:close/>
              </a:path>
            </a:pathLst>
          </a:custGeom>
          <a:solidFill>
            <a:srgbClr val="117279"/>
          </a:solidFill>
          <a:ln/>
        </p:spPr>
        <p:txBody>
          <a:bodyPr wrap="square" lIns="0" tIns="0" rIns="0" bIns="0" rtlCol="0" anchor="t">
            <a:normAutofit/>
          </a:bodyPr>
          <a:lstStyle/>
          <a:p>
            <a:pPr marL="0" indent="0" algn="ctr">
              <a:lnSpc>
                <a:spcPts val="2800"/>
              </a:lnSpc>
              <a:buNone/>
            </a:pPr>
            <a:r>
              <a:rPr lang="en-US" sz="2000" b="1" dirty="0">
                <a:solidFill>
                  <a:srgbClr val="FBFAF6"/>
                </a:solidFill>
                <a:latin typeface="Nunito Sans" pitchFamily="34" charset="0"/>
                <a:ea typeface="Nunito Sans" pitchFamily="34" charset="-122"/>
                <a:cs typeface="Nunito Sans" pitchFamily="34" charset="-120"/>
              </a:rPr>
              <a:t>A</a:t>
            </a:r>
            <a:endParaRPr lang="en-US" sz="2000" dirty="0"/>
          </a:p>
        </p:txBody>
      </p:sp>
      <p:sp>
        <p:nvSpPr>
          <p:cNvPr id="9" name="Text 7"/>
          <p:cNvSpPr/>
          <p:nvPr/>
        </p:nvSpPr>
        <p:spPr>
          <a:xfrm>
            <a:off x="1320800" y="2689820"/>
            <a:ext cx="10360152" cy="283170"/>
          </a:xfrm>
          <a:prstGeom prst="rect">
            <a:avLst/>
          </a:prstGeom>
          <a:noFill/>
          <a:ln/>
        </p:spPr>
        <p:txBody>
          <a:bodyPr wrap="square" lIns="0" tIns="0" rIns="0" bIns="0" rtlCol="0" anchor="t">
            <a:normAutofit/>
          </a:bodyPr>
          <a:lstStyle/>
          <a:p>
            <a:pPr marL="0" indent="0" algn="l">
              <a:lnSpc>
                <a:spcPts val="2030"/>
              </a:lnSpc>
              <a:buNone/>
            </a:pPr>
            <a:r>
              <a:rPr lang="en-US" sz="2000" dirty="0">
                <a:solidFill>
                  <a:srgbClr val="2A3646"/>
                </a:solidFill>
                <a:latin typeface="Nunito Sans" pitchFamily="34" charset="0"/>
                <a:ea typeface="Nunito Sans" pitchFamily="34" charset="-122"/>
                <a:cs typeface="Nunito Sans" pitchFamily="34" charset="-120"/>
              </a:rPr>
              <a:t>Why will the environment be cleaner?</a:t>
            </a:r>
            <a:endParaRPr lang="en-US" sz="2000" dirty="0"/>
          </a:p>
        </p:txBody>
      </p:sp>
      <p:sp>
        <p:nvSpPr>
          <p:cNvPr id="10" name="Text 8"/>
          <p:cNvSpPr/>
          <p:nvPr/>
        </p:nvSpPr>
        <p:spPr>
          <a:xfrm>
            <a:off x="812800" y="3096220"/>
            <a:ext cx="355600" cy="355600"/>
          </a:xfrm>
          <a:custGeom>
            <a:avLst/>
            <a:gdLst/>
            <a:ahLst/>
            <a:cxnLst/>
            <a:rect l="l" t="t" r="r" b="b"/>
            <a:pathLst>
              <a:path w="355600" h="355600">
                <a:moveTo>
                  <a:pt x="177800" y="0"/>
                </a:moveTo>
                <a:lnTo>
                  <a:pt x="177800" y="0"/>
                </a:lnTo>
                <a:arcTo wR="177800" hR="177800" stAng="16200000" swAng="5400000"/>
                <a:lnTo>
                  <a:pt x="355600" y="177800"/>
                </a:lnTo>
                <a:arcTo wR="177800" hR="177800" stAng="0" swAng="5400000"/>
                <a:lnTo>
                  <a:pt x="177800" y="355600"/>
                </a:lnTo>
                <a:arcTo wR="177800" hR="177800" stAng="5400000" swAng="5400000"/>
                <a:lnTo>
                  <a:pt x="0" y="177800"/>
                </a:lnTo>
                <a:arcTo wR="177800" hR="177800" stAng="10800000" swAng="5400000"/>
                <a:close/>
              </a:path>
            </a:pathLst>
          </a:custGeom>
          <a:solidFill>
            <a:srgbClr val="E8762A"/>
          </a:solidFill>
          <a:ln/>
        </p:spPr>
        <p:txBody>
          <a:bodyPr wrap="square" lIns="0" tIns="0" rIns="0" bIns="0" rtlCol="0" anchor="t">
            <a:normAutofit/>
          </a:bodyPr>
          <a:lstStyle/>
          <a:p>
            <a:pPr marL="0" indent="0" algn="ctr">
              <a:lnSpc>
                <a:spcPts val="2800"/>
              </a:lnSpc>
              <a:buNone/>
            </a:pPr>
            <a:r>
              <a:rPr lang="en-US" sz="2000" b="1" dirty="0">
                <a:solidFill>
                  <a:srgbClr val="14233A"/>
                </a:solidFill>
                <a:latin typeface="Nunito Sans" pitchFamily="34" charset="0"/>
                <a:ea typeface="Nunito Sans" pitchFamily="34" charset="-122"/>
                <a:cs typeface="Nunito Sans" pitchFamily="34" charset="-120"/>
              </a:rPr>
              <a:t>B</a:t>
            </a:r>
            <a:endParaRPr lang="en-US" sz="2000" dirty="0"/>
          </a:p>
        </p:txBody>
      </p:sp>
      <p:sp>
        <p:nvSpPr>
          <p:cNvPr id="11" name="Text 9"/>
          <p:cNvSpPr/>
          <p:nvPr/>
        </p:nvSpPr>
        <p:spPr>
          <a:xfrm>
            <a:off x="1320799" y="3147020"/>
            <a:ext cx="10651067" cy="355600"/>
          </a:xfrm>
          <a:prstGeom prst="rect">
            <a:avLst/>
          </a:prstGeom>
          <a:noFill/>
          <a:ln/>
        </p:spPr>
        <p:txBody>
          <a:bodyPr wrap="square" lIns="0" tIns="0" rIns="0" bIns="0" rtlCol="0" anchor="t">
            <a:noAutofit/>
          </a:bodyPr>
          <a:lstStyle/>
          <a:p>
            <a:pPr marL="0" indent="0" algn="l">
              <a:lnSpc>
                <a:spcPts val="2030"/>
              </a:lnSpc>
              <a:buNone/>
            </a:pPr>
            <a:r>
              <a:rPr lang="en-US" sz="2000" dirty="0">
                <a:solidFill>
                  <a:srgbClr val="2A3646"/>
                </a:solidFill>
                <a:latin typeface="Nunito Sans" pitchFamily="34" charset="0"/>
                <a:ea typeface="Nunito Sans" pitchFamily="34" charset="-122"/>
                <a:cs typeface="Nunito Sans" pitchFamily="34" charset="-120"/>
              </a:rPr>
              <a:t>Because more than half of the city will be green areas, and people will use renewable energy.</a:t>
            </a:r>
            <a:endParaRPr lang="en-US" sz="2000" dirty="0"/>
          </a:p>
        </p:txBody>
      </p:sp>
      <p:sp>
        <p:nvSpPr>
          <p:cNvPr id="12" name="Text 10"/>
          <p:cNvSpPr/>
          <p:nvPr/>
        </p:nvSpPr>
        <p:spPr>
          <a:xfrm>
            <a:off x="812800" y="3553420"/>
            <a:ext cx="355600" cy="355600"/>
          </a:xfrm>
          <a:custGeom>
            <a:avLst/>
            <a:gdLst/>
            <a:ahLst/>
            <a:cxnLst/>
            <a:rect l="l" t="t" r="r" b="b"/>
            <a:pathLst>
              <a:path w="355600" h="355600">
                <a:moveTo>
                  <a:pt x="177800" y="0"/>
                </a:moveTo>
                <a:lnTo>
                  <a:pt x="177800" y="0"/>
                </a:lnTo>
                <a:arcTo wR="177800" hR="177800" stAng="16200000" swAng="5400000"/>
                <a:lnTo>
                  <a:pt x="355600" y="177800"/>
                </a:lnTo>
                <a:arcTo wR="177800" hR="177800" stAng="0" swAng="5400000"/>
                <a:lnTo>
                  <a:pt x="177800" y="355600"/>
                </a:lnTo>
                <a:arcTo wR="177800" hR="177800" stAng="5400000" swAng="5400000"/>
                <a:lnTo>
                  <a:pt x="0" y="177800"/>
                </a:lnTo>
                <a:arcTo wR="177800" hR="177800" stAng="10800000" swAng="5400000"/>
                <a:close/>
              </a:path>
            </a:pathLst>
          </a:custGeom>
          <a:solidFill>
            <a:srgbClr val="117279"/>
          </a:solidFill>
          <a:ln/>
        </p:spPr>
        <p:txBody>
          <a:bodyPr wrap="square" lIns="0" tIns="0" rIns="0" bIns="0" rtlCol="0" anchor="t">
            <a:normAutofit/>
          </a:bodyPr>
          <a:lstStyle/>
          <a:p>
            <a:pPr marL="0" indent="0" algn="ctr">
              <a:lnSpc>
                <a:spcPts val="2800"/>
              </a:lnSpc>
              <a:buNone/>
            </a:pPr>
            <a:r>
              <a:rPr lang="en-US" sz="2000" b="1" dirty="0">
                <a:solidFill>
                  <a:srgbClr val="FBFAF6"/>
                </a:solidFill>
                <a:latin typeface="Nunito Sans" pitchFamily="34" charset="0"/>
                <a:ea typeface="Nunito Sans" pitchFamily="34" charset="-122"/>
                <a:cs typeface="Nunito Sans" pitchFamily="34" charset="-120"/>
              </a:rPr>
              <a:t>A</a:t>
            </a:r>
            <a:endParaRPr lang="en-US" sz="2000" dirty="0"/>
          </a:p>
        </p:txBody>
      </p:sp>
      <p:sp>
        <p:nvSpPr>
          <p:cNvPr id="13" name="Text 11"/>
          <p:cNvSpPr/>
          <p:nvPr/>
        </p:nvSpPr>
        <p:spPr>
          <a:xfrm>
            <a:off x="1320800" y="3604220"/>
            <a:ext cx="10360152" cy="283170"/>
          </a:xfrm>
          <a:prstGeom prst="rect">
            <a:avLst/>
          </a:prstGeom>
          <a:noFill/>
          <a:ln/>
        </p:spPr>
        <p:txBody>
          <a:bodyPr wrap="square" lIns="0" tIns="0" rIns="0" bIns="0" rtlCol="0" anchor="t">
            <a:normAutofit/>
          </a:bodyPr>
          <a:lstStyle/>
          <a:p>
            <a:pPr marL="0" indent="0" algn="l">
              <a:lnSpc>
                <a:spcPts val="2030"/>
              </a:lnSpc>
              <a:buNone/>
            </a:pPr>
            <a:r>
              <a:rPr lang="en-US" sz="2000" dirty="0">
                <a:solidFill>
                  <a:srgbClr val="2A3646"/>
                </a:solidFill>
                <a:latin typeface="Nunito Sans" pitchFamily="34" charset="0"/>
                <a:ea typeface="Nunito Sans" pitchFamily="34" charset="-122"/>
                <a:cs typeface="Nunito Sans" pitchFamily="34" charset="-120"/>
              </a:rPr>
              <a:t>That sounds great! How will AI help city dwellers?</a:t>
            </a:r>
            <a:endParaRPr lang="en-US" sz="2000" dirty="0"/>
          </a:p>
        </p:txBody>
      </p:sp>
      <p:sp>
        <p:nvSpPr>
          <p:cNvPr id="14" name="Text 12"/>
          <p:cNvSpPr/>
          <p:nvPr/>
        </p:nvSpPr>
        <p:spPr>
          <a:xfrm>
            <a:off x="812800" y="4010620"/>
            <a:ext cx="355600" cy="355600"/>
          </a:xfrm>
          <a:custGeom>
            <a:avLst/>
            <a:gdLst/>
            <a:ahLst/>
            <a:cxnLst/>
            <a:rect l="l" t="t" r="r" b="b"/>
            <a:pathLst>
              <a:path w="355600" h="355600">
                <a:moveTo>
                  <a:pt x="177800" y="0"/>
                </a:moveTo>
                <a:lnTo>
                  <a:pt x="177800" y="0"/>
                </a:lnTo>
                <a:arcTo wR="177800" hR="177800" stAng="16200000" swAng="5400000"/>
                <a:lnTo>
                  <a:pt x="355600" y="177800"/>
                </a:lnTo>
                <a:arcTo wR="177800" hR="177800" stAng="0" swAng="5400000"/>
                <a:lnTo>
                  <a:pt x="177800" y="355600"/>
                </a:lnTo>
                <a:arcTo wR="177800" hR="177800" stAng="5400000" swAng="5400000"/>
                <a:lnTo>
                  <a:pt x="0" y="177800"/>
                </a:lnTo>
                <a:arcTo wR="177800" hR="177800" stAng="10800000" swAng="5400000"/>
                <a:close/>
              </a:path>
            </a:pathLst>
          </a:custGeom>
          <a:solidFill>
            <a:srgbClr val="E8762A"/>
          </a:solidFill>
          <a:ln/>
        </p:spPr>
        <p:txBody>
          <a:bodyPr wrap="square" lIns="0" tIns="0" rIns="0" bIns="0" rtlCol="0" anchor="t">
            <a:normAutofit/>
          </a:bodyPr>
          <a:lstStyle/>
          <a:p>
            <a:pPr marL="0" indent="0" algn="ctr">
              <a:lnSpc>
                <a:spcPts val="2800"/>
              </a:lnSpc>
              <a:buNone/>
            </a:pPr>
            <a:r>
              <a:rPr lang="en-US" sz="2000" b="1" dirty="0">
                <a:solidFill>
                  <a:srgbClr val="14233A"/>
                </a:solidFill>
                <a:latin typeface="Nunito Sans" pitchFamily="34" charset="0"/>
                <a:ea typeface="Nunito Sans" pitchFamily="34" charset="-122"/>
                <a:cs typeface="Nunito Sans" pitchFamily="34" charset="-120"/>
              </a:rPr>
              <a:t>B</a:t>
            </a:r>
            <a:endParaRPr lang="en-US" sz="2000" dirty="0"/>
          </a:p>
        </p:txBody>
      </p:sp>
      <p:sp>
        <p:nvSpPr>
          <p:cNvPr id="15" name="Text 13"/>
          <p:cNvSpPr/>
          <p:nvPr/>
        </p:nvSpPr>
        <p:spPr>
          <a:xfrm>
            <a:off x="1320800" y="4061420"/>
            <a:ext cx="10360152" cy="283170"/>
          </a:xfrm>
          <a:prstGeom prst="rect">
            <a:avLst/>
          </a:prstGeom>
          <a:noFill/>
          <a:ln/>
        </p:spPr>
        <p:txBody>
          <a:bodyPr wrap="square" lIns="0" tIns="0" rIns="0" bIns="0" rtlCol="0" anchor="t">
            <a:noAutofit/>
          </a:bodyPr>
          <a:lstStyle/>
          <a:p>
            <a:pPr marL="0" indent="0" algn="l">
              <a:lnSpc>
                <a:spcPts val="2030"/>
              </a:lnSpc>
              <a:buNone/>
            </a:pPr>
            <a:r>
              <a:rPr lang="en-US" sz="2000" dirty="0">
                <a:solidFill>
                  <a:srgbClr val="2A3646"/>
                </a:solidFill>
                <a:latin typeface="Nunito Sans" pitchFamily="34" charset="0"/>
                <a:ea typeface="Nunito Sans" pitchFamily="34" charset="-122"/>
                <a:cs typeface="Nunito Sans" pitchFamily="34" charset="-120"/>
              </a:rPr>
              <a:t>Robots and AI assistants will help people with daily activities, so they will have more free time.</a:t>
            </a:r>
            <a:endParaRPr lang="en-US" sz="2000" dirty="0"/>
          </a:p>
        </p:txBody>
      </p:sp>
      <p:sp>
        <p:nvSpPr>
          <p:cNvPr id="16" name="Text 14"/>
          <p:cNvSpPr/>
          <p:nvPr/>
        </p:nvSpPr>
        <p:spPr>
          <a:xfrm>
            <a:off x="812800" y="4467820"/>
            <a:ext cx="355600" cy="355600"/>
          </a:xfrm>
          <a:custGeom>
            <a:avLst/>
            <a:gdLst/>
            <a:ahLst/>
            <a:cxnLst/>
            <a:rect l="l" t="t" r="r" b="b"/>
            <a:pathLst>
              <a:path w="355600" h="355600">
                <a:moveTo>
                  <a:pt x="177800" y="0"/>
                </a:moveTo>
                <a:lnTo>
                  <a:pt x="177800" y="0"/>
                </a:lnTo>
                <a:arcTo wR="177800" hR="177800" stAng="16200000" swAng="5400000"/>
                <a:lnTo>
                  <a:pt x="355600" y="177800"/>
                </a:lnTo>
                <a:arcTo wR="177800" hR="177800" stAng="0" swAng="5400000"/>
                <a:lnTo>
                  <a:pt x="177800" y="355600"/>
                </a:lnTo>
                <a:arcTo wR="177800" hR="177800" stAng="5400000" swAng="5400000"/>
                <a:lnTo>
                  <a:pt x="0" y="177800"/>
                </a:lnTo>
                <a:arcTo wR="177800" hR="177800" stAng="10800000" swAng="5400000"/>
                <a:close/>
              </a:path>
            </a:pathLst>
          </a:custGeom>
          <a:solidFill>
            <a:srgbClr val="117279"/>
          </a:solidFill>
          <a:ln/>
        </p:spPr>
        <p:txBody>
          <a:bodyPr wrap="square" lIns="0" tIns="0" rIns="0" bIns="0" rtlCol="0" anchor="t">
            <a:normAutofit/>
          </a:bodyPr>
          <a:lstStyle/>
          <a:p>
            <a:pPr marL="0" indent="0" algn="ctr">
              <a:lnSpc>
                <a:spcPts val="2800"/>
              </a:lnSpc>
              <a:buNone/>
            </a:pPr>
            <a:r>
              <a:rPr lang="en-US" sz="2000" b="1" dirty="0">
                <a:solidFill>
                  <a:srgbClr val="FBFAF6"/>
                </a:solidFill>
                <a:latin typeface="Nunito Sans" pitchFamily="34" charset="0"/>
                <a:ea typeface="Nunito Sans" pitchFamily="34" charset="-122"/>
                <a:cs typeface="Nunito Sans" pitchFamily="34" charset="-120"/>
              </a:rPr>
              <a:t>A</a:t>
            </a:r>
            <a:endParaRPr lang="en-US" sz="2000" dirty="0"/>
          </a:p>
        </p:txBody>
      </p:sp>
      <p:sp>
        <p:nvSpPr>
          <p:cNvPr id="17" name="Text 15"/>
          <p:cNvSpPr/>
          <p:nvPr/>
        </p:nvSpPr>
        <p:spPr>
          <a:xfrm>
            <a:off x="1320800" y="4518620"/>
            <a:ext cx="10360152" cy="283170"/>
          </a:xfrm>
          <a:prstGeom prst="rect">
            <a:avLst/>
          </a:prstGeom>
          <a:noFill/>
          <a:ln/>
        </p:spPr>
        <p:txBody>
          <a:bodyPr wrap="square" lIns="0" tIns="0" rIns="0" bIns="0" rtlCol="0" anchor="t">
            <a:normAutofit/>
          </a:bodyPr>
          <a:lstStyle/>
          <a:p>
            <a:pPr marL="0" indent="0" algn="l">
              <a:lnSpc>
                <a:spcPts val="2030"/>
              </a:lnSpc>
              <a:buNone/>
            </a:pPr>
            <a:r>
              <a:rPr lang="en-US" sz="2000" dirty="0">
                <a:solidFill>
                  <a:srgbClr val="2A3646"/>
                </a:solidFill>
                <a:latin typeface="Nunito Sans" pitchFamily="34" charset="0"/>
                <a:ea typeface="Nunito Sans" pitchFamily="34" charset="-122"/>
                <a:cs typeface="Nunito Sans" pitchFamily="34" charset="-120"/>
              </a:rPr>
              <a:t>But will people feel lonely if they interact face to face less?</a:t>
            </a:r>
            <a:endParaRPr lang="en-US" sz="2000" dirty="0"/>
          </a:p>
        </p:txBody>
      </p:sp>
      <p:sp>
        <p:nvSpPr>
          <p:cNvPr id="18" name="Text 16"/>
          <p:cNvSpPr/>
          <p:nvPr/>
        </p:nvSpPr>
        <p:spPr>
          <a:xfrm>
            <a:off x="812800" y="4925020"/>
            <a:ext cx="355600" cy="355600"/>
          </a:xfrm>
          <a:custGeom>
            <a:avLst/>
            <a:gdLst/>
            <a:ahLst/>
            <a:cxnLst/>
            <a:rect l="l" t="t" r="r" b="b"/>
            <a:pathLst>
              <a:path w="355600" h="355600">
                <a:moveTo>
                  <a:pt x="177800" y="0"/>
                </a:moveTo>
                <a:lnTo>
                  <a:pt x="177800" y="0"/>
                </a:lnTo>
                <a:arcTo wR="177800" hR="177800" stAng="16200000" swAng="5400000"/>
                <a:lnTo>
                  <a:pt x="355600" y="177800"/>
                </a:lnTo>
                <a:arcTo wR="177800" hR="177800" stAng="0" swAng="5400000"/>
                <a:lnTo>
                  <a:pt x="177800" y="355600"/>
                </a:lnTo>
                <a:arcTo wR="177800" hR="177800" stAng="5400000" swAng="5400000"/>
                <a:lnTo>
                  <a:pt x="0" y="177800"/>
                </a:lnTo>
                <a:arcTo wR="177800" hR="177800" stAng="10800000" swAng="5400000"/>
                <a:close/>
              </a:path>
            </a:pathLst>
          </a:custGeom>
          <a:solidFill>
            <a:srgbClr val="E8762A"/>
          </a:solidFill>
          <a:ln/>
        </p:spPr>
        <p:txBody>
          <a:bodyPr wrap="square" lIns="0" tIns="0" rIns="0" bIns="0" rtlCol="0" anchor="t">
            <a:normAutofit/>
          </a:bodyPr>
          <a:lstStyle/>
          <a:p>
            <a:pPr marL="0" indent="0" algn="ctr">
              <a:lnSpc>
                <a:spcPts val="2800"/>
              </a:lnSpc>
              <a:buNone/>
            </a:pPr>
            <a:r>
              <a:rPr lang="en-US" sz="2000" b="1" dirty="0">
                <a:solidFill>
                  <a:srgbClr val="14233A"/>
                </a:solidFill>
                <a:latin typeface="Nunito Sans" pitchFamily="34" charset="0"/>
                <a:ea typeface="Nunito Sans" pitchFamily="34" charset="-122"/>
                <a:cs typeface="Nunito Sans" pitchFamily="34" charset="-120"/>
              </a:rPr>
              <a:t>B</a:t>
            </a:r>
            <a:endParaRPr lang="en-US" sz="2000" dirty="0"/>
          </a:p>
        </p:txBody>
      </p:sp>
      <p:sp>
        <p:nvSpPr>
          <p:cNvPr id="19" name="Text 17"/>
          <p:cNvSpPr/>
          <p:nvPr/>
        </p:nvSpPr>
        <p:spPr>
          <a:xfrm>
            <a:off x="1320800" y="4975820"/>
            <a:ext cx="10360152" cy="283170"/>
          </a:xfrm>
          <a:prstGeom prst="rect">
            <a:avLst/>
          </a:prstGeom>
          <a:noFill/>
          <a:ln/>
        </p:spPr>
        <p:txBody>
          <a:bodyPr wrap="square" lIns="0" tIns="0" rIns="0" bIns="0" rtlCol="0" anchor="t">
            <a:normAutofit/>
          </a:bodyPr>
          <a:lstStyle/>
          <a:p>
            <a:pPr marL="0" indent="0" algn="l">
              <a:lnSpc>
                <a:spcPts val="2030"/>
              </a:lnSpc>
              <a:buNone/>
            </a:pPr>
            <a:r>
              <a:rPr lang="en-US" sz="2000" dirty="0">
                <a:solidFill>
                  <a:srgbClr val="2A3646"/>
                </a:solidFill>
                <a:latin typeface="Nunito Sans" pitchFamily="34" charset="0"/>
                <a:ea typeface="Nunito Sans" pitchFamily="34" charset="-122"/>
                <a:cs typeface="Nunito Sans" pitchFamily="34" charset="-120"/>
              </a:rPr>
              <a:t>Maybe. That’s why the city should organise more community events in parks.</a:t>
            </a:r>
            <a:endParaRPr lang="en-US" sz="2000" dirty="0"/>
          </a:p>
        </p:txBody>
      </p:sp>
      <p:sp>
        <p:nvSpPr>
          <p:cNvPr id="20" name="Text 18"/>
          <p:cNvSpPr/>
          <p:nvPr/>
        </p:nvSpPr>
        <p:spPr>
          <a:xfrm>
            <a:off x="812800" y="5382220"/>
            <a:ext cx="355600" cy="355600"/>
          </a:xfrm>
          <a:custGeom>
            <a:avLst/>
            <a:gdLst/>
            <a:ahLst/>
            <a:cxnLst/>
            <a:rect l="l" t="t" r="r" b="b"/>
            <a:pathLst>
              <a:path w="355600" h="355600">
                <a:moveTo>
                  <a:pt x="177800" y="0"/>
                </a:moveTo>
                <a:lnTo>
                  <a:pt x="177800" y="0"/>
                </a:lnTo>
                <a:arcTo wR="177800" hR="177800" stAng="16200000" swAng="5400000"/>
                <a:lnTo>
                  <a:pt x="355600" y="177800"/>
                </a:lnTo>
                <a:arcTo wR="177800" hR="177800" stAng="0" swAng="5400000"/>
                <a:lnTo>
                  <a:pt x="177800" y="355600"/>
                </a:lnTo>
                <a:arcTo wR="177800" hR="177800" stAng="5400000" swAng="5400000"/>
                <a:lnTo>
                  <a:pt x="0" y="177800"/>
                </a:lnTo>
                <a:arcTo wR="177800" hR="177800" stAng="10800000" swAng="5400000"/>
                <a:close/>
              </a:path>
            </a:pathLst>
          </a:custGeom>
          <a:solidFill>
            <a:srgbClr val="117279"/>
          </a:solidFill>
          <a:ln/>
        </p:spPr>
        <p:txBody>
          <a:bodyPr wrap="square" lIns="0" tIns="0" rIns="0" bIns="0" rtlCol="0" anchor="t">
            <a:normAutofit/>
          </a:bodyPr>
          <a:lstStyle/>
          <a:p>
            <a:pPr marL="0" indent="0" algn="ctr">
              <a:lnSpc>
                <a:spcPts val="2800"/>
              </a:lnSpc>
              <a:buNone/>
            </a:pPr>
            <a:r>
              <a:rPr lang="en-US" sz="2000" b="1" dirty="0">
                <a:solidFill>
                  <a:srgbClr val="FBFAF6"/>
                </a:solidFill>
                <a:latin typeface="Nunito Sans" pitchFamily="34" charset="0"/>
                <a:ea typeface="Nunito Sans" pitchFamily="34" charset="-122"/>
                <a:cs typeface="Nunito Sans" pitchFamily="34" charset="-120"/>
              </a:rPr>
              <a:t>A</a:t>
            </a:r>
            <a:endParaRPr lang="en-US" sz="2000" dirty="0"/>
          </a:p>
        </p:txBody>
      </p:sp>
      <p:sp>
        <p:nvSpPr>
          <p:cNvPr id="21" name="Text 19"/>
          <p:cNvSpPr/>
          <p:nvPr/>
        </p:nvSpPr>
        <p:spPr>
          <a:xfrm>
            <a:off x="1320800" y="5433020"/>
            <a:ext cx="10360152" cy="283170"/>
          </a:xfrm>
          <a:prstGeom prst="rect">
            <a:avLst/>
          </a:prstGeom>
          <a:noFill/>
          <a:ln/>
        </p:spPr>
        <p:txBody>
          <a:bodyPr wrap="square" lIns="0" tIns="0" rIns="0" bIns="0" rtlCol="0" anchor="t">
            <a:normAutofit/>
          </a:bodyPr>
          <a:lstStyle/>
          <a:p>
            <a:pPr marL="0" indent="0" algn="l">
              <a:lnSpc>
                <a:spcPts val="2030"/>
              </a:lnSpc>
              <a:buNone/>
            </a:pPr>
            <a:r>
              <a:rPr lang="en-US" sz="2000" dirty="0">
                <a:solidFill>
                  <a:srgbClr val="2A3646"/>
                </a:solidFill>
                <a:latin typeface="Nunito Sans" pitchFamily="34" charset="0"/>
                <a:ea typeface="Nunito Sans" pitchFamily="34" charset="-122"/>
                <a:cs typeface="Nunito Sans" pitchFamily="34" charset="-120"/>
              </a:rPr>
              <a:t>Good idea! That will create a strong sense of community.</a:t>
            </a:r>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D3557"/>
        </a:solidFill>
        <a:effectLst/>
      </p:bgPr>
    </p:bg>
    <p:spTree>
      <p:nvGrpSpPr>
        <p:cNvPr id="1" name=""/>
        <p:cNvGrpSpPr/>
        <p:nvPr/>
      </p:nvGrpSpPr>
      <p:grpSpPr>
        <a:xfrm>
          <a:off x="0" y="0"/>
          <a:ext cx="0" cy="0"/>
          <a:chOff x="0" y="0"/>
          <a:chExt cx="0" cy="0"/>
        </a:xfrm>
      </p:grpSpPr>
      <p:sp>
        <p:nvSpPr>
          <p:cNvPr id="2" name="Text 0"/>
          <p:cNvSpPr/>
          <p:nvPr/>
        </p:nvSpPr>
        <p:spPr>
          <a:xfrm>
            <a:off x="812800" y="7620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0A060"/>
                </a:solidFill>
                <a:latin typeface="Nunito Sans" pitchFamily="34" charset="0"/>
                <a:ea typeface="Nunito Sans" pitchFamily="34" charset="-122"/>
                <a:cs typeface="Nunito Sans" pitchFamily="34" charset="-120"/>
              </a:rPr>
              <a:t>TASK 3 • PAIR WORK</a:t>
            </a:r>
            <a:endParaRPr lang="en-US" sz="1200" dirty="0"/>
          </a:p>
        </p:txBody>
      </p:sp>
      <p:sp>
        <p:nvSpPr>
          <p:cNvPr id="3" name="Text 1"/>
          <p:cNvSpPr>
            <a:spLocks noGrp="1"/>
          </p:cNvSpPr>
          <p:nvPr>
            <p:ph type="title"/>
          </p:nvPr>
        </p:nvSpPr>
        <p:spPr>
          <a:xfrm>
            <a:off x="812800" y="10515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F3F1EA"/>
                </a:solidFill>
                <a:latin typeface="Be Vietnam Pro" pitchFamily="34" charset="0"/>
                <a:ea typeface="Be Vietnam Pro" pitchFamily="34" charset="-122"/>
                <a:cs typeface="Be Vietnam Pro" pitchFamily="34" charset="-120"/>
              </a:rPr>
              <a:t>Your turn: talk about one feature</a:t>
            </a:r>
            <a:endParaRPr lang="en-US" sz="3000" dirty="0"/>
          </a:p>
        </p:txBody>
      </p:sp>
      <p:sp>
        <p:nvSpPr>
          <p:cNvPr id="4" name="Shape 2"/>
          <p:cNvSpPr/>
          <p:nvPr/>
        </p:nvSpPr>
        <p:spPr>
          <a:xfrm>
            <a:off x="812800" y="1826220"/>
            <a:ext cx="3386634" cy="1996331"/>
          </a:xfrm>
          <a:prstGeom prst="roundRect">
            <a:avLst>
              <a:gd name="adj" fmla="val 7634"/>
            </a:avLst>
          </a:prstGeom>
          <a:solidFill>
            <a:srgbClr val="284A70"/>
          </a:solidFill>
          <a:ln/>
        </p:spPr>
      </p:sp>
      <p:sp>
        <p:nvSpPr>
          <p:cNvPr id="5" name="Text 3"/>
          <p:cNvSpPr/>
          <p:nvPr/>
        </p:nvSpPr>
        <p:spPr>
          <a:xfrm>
            <a:off x="1092200" y="2105620"/>
            <a:ext cx="2912669"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F0A060"/>
                </a:solidFill>
                <a:latin typeface="Be Vietnam Pro" pitchFamily="34" charset="0"/>
                <a:ea typeface="Be Vietnam Pro" pitchFamily="34" charset="-122"/>
                <a:cs typeface="Be Vietnam Pro" pitchFamily="34" charset="-120"/>
              </a:rPr>
              <a:t>1</a:t>
            </a:r>
            <a:endParaRPr lang="en-US" sz="3000" dirty="0"/>
          </a:p>
        </p:txBody>
      </p:sp>
      <p:sp>
        <p:nvSpPr>
          <p:cNvPr id="6" name="Text 4"/>
          <p:cNvSpPr/>
          <p:nvPr/>
        </p:nvSpPr>
        <p:spPr>
          <a:xfrm>
            <a:off x="1092200" y="2639020"/>
            <a:ext cx="2912669"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3F1EA"/>
                </a:solidFill>
                <a:latin typeface="Be Vietnam Pro" pitchFamily="34" charset="0"/>
                <a:ea typeface="Be Vietnam Pro" pitchFamily="34" charset="-122"/>
                <a:cs typeface="Be Vietnam Pro" pitchFamily="34" charset="-120"/>
              </a:rPr>
              <a:t>Choose</a:t>
            </a:r>
            <a:endParaRPr lang="en-US" sz="1800" dirty="0"/>
          </a:p>
        </p:txBody>
      </p:sp>
      <p:sp>
        <p:nvSpPr>
          <p:cNvPr id="7" name="Text 5"/>
          <p:cNvSpPr/>
          <p:nvPr/>
        </p:nvSpPr>
        <p:spPr>
          <a:xfrm>
            <a:off x="1092200" y="3027611"/>
            <a:ext cx="2912669" cy="540941"/>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D5E2E8"/>
                </a:solidFill>
                <a:latin typeface="Nunito Sans" pitchFamily="34" charset="0"/>
                <a:ea typeface="Nunito Sans" pitchFamily="34" charset="-122"/>
                <a:cs typeface="Nunito Sans" pitchFamily="34" charset="-120"/>
              </a:rPr>
              <a:t>Pick ONE feature: transport, infrastructure or living conditions.</a:t>
            </a:r>
            <a:endParaRPr lang="en-US" sz="1400" dirty="0"/>
          </a:p>
        </p:txBody>
      </p:sp>
      <p:sp>
        <p:nvSpPr>
          <p:cNvPr id="8" name="Shape 6"/>
          <p:cNvSpPr/>
          <p:nvPr/>
        </p:nvSpPr>
        <p:spPr>
          <a:xfrm>
            <a:off x="4402634" y="1826220"/>
            <a:ext cx="3386683" cy="1996331"/>
          </a:xfrm>
          <a:prstGeom prst="roundRect">
            <a:avLst>
              <a:gd name="adj" fmla="val 7634"/>
            </a:avLst>
          </a:prstGeom>
          <a:solidFill>
            <a:srgbClr val="284A70"/>
          </a:solidFill>
          <a:ln/>
        </p:spPr>
      </p:sp>
      <p:sp>
        <p:nvSpPr>
          <p:cNvPr id="9" name="Text 7"/>
          <p:cNvSpPr/>
          <p:nvPr/>
        </p:nvSpPr>
        <p:spPr>
          <a:xfrm>
            <a:off x="4682034" y="2105620"/>
            <a:ext cx="2912720"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F0A060"/>
                </a:solidFill>
                <a:latin typeface="Be Vietnam Pro" pitchFamily="34" charset="0"/>
                <a:ea typeface="Be Vietnam Pro" pitchFamily="34" charset="-122"/>
                <a:cs typeface="Be Vietnam Pro" pitchFamily="34" charset="-120"/>
              </a:rPr>
              <a:t>2</a:t>
            </a:r>
            <a:endParaRPr lang="en-US" sz="3000" dirty="0"/>
          </a:p>
        </p:txBody>
      </p:sp>
      <p:sp>
        <p:nvSpPr>
          <p:cNvPr id="10" name="Text 8"/>
          <p:cNvSpPr/>
          <p:nvPr/>
        </p:nvSpPr>
        <p:spPr>
          <a:xfrm>
            <a:off x="4682034" y="2639020"/>
            <a:ext cx="2912720"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3F1EA"/>
                </a:solidFill>
                <a:latin typeface="Be Vietnam Pro" pitchFamily="34" charset="0"/>
                <a:ea typeface="Be Vietnam Pro" pitchFamily="34" charset="-122"/>
                <a:cs typeface="Be Vietnam Pro" pitchFamily="34" charset="-120"/>
              </a:rPr>
              <a:t>Ask</a:t>
            </a:r>
            <a:endParaRPr lang="en-US" sz="1800" dirty="0"/>
          </a:p>
        </p:txBody>
      </p:sp>
      <p:sp>
        <p:nvSpPr>
          <p:cNvPr id="11" name="Text 9"/>
          <p:cNvSpPr/>
          <p:nvPr/>
        </p:nvSpPr>
        <p:spPr>
          <a:xfrm>
            <a:off x="4682034" y="3027611"/>
            <a:ext cx="2912720" cy="540941"/>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D5E2E8"/>
                </a:solidFill>
                <a:latin typeface="Nunito Sans" pitchFamily="34" charset="0"/>
                <a:ea typeface="Nunito Sans" pitchFamily="34" charset="-122"/>
                <a:cs typeface="Nunito Sans" pitchFamily="34" charset="-120"/>
              </a:rPr>
              <a:t>Ask at least 2 Wh-questions and 1 follow-up question.</a:t>
            </a:r>
            <a:endParaRPr lang="en-US" sz="1400" dirty="0"/>
          </a:p>
        </p:txBody>
      </p:sp>
      <p:sp>
        <p:nvSpPr>
          <p:cNvPr id="12" name="Shape 10"/>
          <p:cNvSpPr/>
          <p:nvPr/>
        </p:nvSpPr>
        <p:spPr>
          <a:xfrm>
            <a:off x="7992517" y="1826220"/>
            <a:ext cx="3386683" cy="1996331"/>
          </a:xfrm>
          <a:prstGeom prst="roundRect">
            <a:avLst>
              <a:gd name="adj" fmla="val 7634"/>
            </a:avLst>
          </a:prstGeom>
          <a:solidFill>
            <a:srgbClr val="284A70"/>
          </a:solidFill>
          <a:ln/>
        </p:spPr>
      </p:sp>
      <p:sp>
        <p:nvSpPr>
          <p:cNvPr id="13" name="Text 11"/>
          <p:cNvSpPr/>
          <p:nvPr/>
        </p:nvSpPr>
        <p:spPr>
          <a:xfrm>
            <a:off x="8271917" y="2105620"/>
            <a:ext cx="2912720"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F0A060"/>
                </a:solidFill>
                <a:latin typeface="Be Vietnam Pro" pitchFamily="34" charset="0"/>
                <a:ea typeface="Be Vietnam Pro" pitchFamily="34" charset="-122"/>
                <a:cs typeface="Be Vietnam Pro" pitchFamily="34" charset="-120"/>
              </a:rPr>
              <a:t>3</a:t>
            </a:r>
            <a:endParaRPr lang="en-US" sz="3000" dirty="0"/>
          </a:p>
        </p:txBody>
      </p:sp>
      <p:sp>
        <p:nvSpPr>
          <p:cNvPr id="14" name="Text 12"/>
          <p:cNvSpPr/>
          <p:nvPr/>
        </p:nvSpPr>
        <p:spPr>
          <a:xfrm>
            <a:off x="8271917" y="2639020"/>
            <a:ext cx="2912720"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3F1EA"/>
                </a:solidFill>
                <a:latin typeface="Be Vietnam Pro" pitchFamily="34" charset="0"/>
                <a:ea typeface="Be Vietnam Pro" pitchFamily="34" charset="-122"/>
                <a:cs typeface="Be Vietnam Pro" pitchFamily="34" charset="-120"/>
              </a:rPr>
              <a:t>Answer</a:t>
            </a:r>
            <a:endParaRPr lang="en-US" sz="1800" dirty="0"/>
          </a:p>
        </p:txBody>
      </p:sp>
      <p:sp>
        <p:nvSpPr>
          <p:cNvPr id="15" name="Text 13"/>
          <p:cNvSpPr/>
          <p:nvPr/>
        </p:nvSpPr>
        <p:spPr>
          <a:xfrm>
            <a:off x="8271917" y="3027611"/>
            <a:ext cx="2912720" cy="540941"/>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D5E2E8"/>
                </a:solidFill>
                <a:latin typeface="Nunito Sans" pitchFamily="34" charset="0"/>
                <a:ea typeface="Nunito Sans" pitchFamily="34" charset="-122"/>
                <a:cs typeface="Nunito Sans" pitchFamily="34" charset="-120"/>
              </a:rPr>
              <a:t>Use the formula: Feature → How it works → Benefit.</a:t>
            </a:r>
            <a:endParaRPr lang="en-US" sz="1400" dirty="0"/>
          </a:p>
        </p:txBody>
      </p:sp>
      <p:pic>
        <p:nvPicPr>
          <p:cNvPr id="16" name="Image 0" descr="Clock"/>
          <p:cNvPicPr>
            <a:picLocks noChangeAspect="1"/>
          </p:cNvPicPr>
          <p:nvPr/>
        </p:nvPicPr>
        <p:blipFill>
          <a:blip r:embed="rId3"/>
          <a:srcRect/>
          <a:stretch/>
        </p:blipFill>
        <p:spPr>
          <a:xfrm>
            <a:off x="812800" y="4178151"/>
            <a:ext cx="304800" cy="304800"/>
          </a:xfrm>
          <a:prstGeom prst="rect">
            <a:avLst/>
          </a:prstGeom>
        </p:spPr>
      </p:pic>
      <p:sp>
        <p:nvSpPr>
          <p:cNvPr id="17" name="Text 14"/>
          <p:cNvSpPr/>
          <p:nvPr/>
        </p:nvSpPr>
        <p:spPr>
          <a:xfrm>
            <a:off x="1244600" y="4206081"/>
            <a:ext cx="8017014"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3F1EA"/>
                </a:solidFill>
                <a:latin typeface="Nunito Sans" pitchFamily="34" charset="0"/>
                <a:ea typeface="Nunito Sans" pitchFamily="34" charset="-122"/>
                <a:cs typeface="Nunito Sans" pitchFamily="34" charset="-120"/>
              </a:rPr>
              <a:t>3 minutes, then swap roles. Write your conversation in the handout (“Your turn”).</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BFAF6"/>
        </a:solidFill>
        <a:effectLst/>
      </p:bgPr>
    </p:bg>
    <p:spTree>
      <p:nvGrpSpPr>
        <p:cNvPr id="1" name=""/>
        <p:cNvGrpSpPr/>
        <p:nvPr/>
      </p:nvGrpSpPr>
      <p:grpSpPr>
        <a:xfrm>
          <a:off x="0" y="0"/>
          <a:ext cx="0" cy="0"/>
          <a:chOff x="0" y="0"/>
          <a:chExt cx="0" cy="0"/>
        </a:xfrm>
      </p:grpSpPr>
      <p:sp>
        <p:nvSpPr>
          <p:cNvPr id="2" name="Text 0"/>
          <p:cNvSpPr/>
          <p:nvPr/>
        </p:nvSpPr>
        <p:spPr>
          <a:xfrm>
            <a:off x="812800" y="7620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17279"/>
                </a:solidFill>
                <a:latin typeface="Nunito Sans" pitchFamily="34" charset="0"/>
                <a:ea typeface="Nunito Sans" pitchFamily="34" charset="-122"/>
                <a:cs typeface="Nunito Sans" pitchFamily="34" charset="-120"/>
              </a:rPr>
              <a:t>PROBLEMS &amp; SOLUTIONS • IDEAS FROM THE READING</a:t>
            </a:r>
            <a:endParaRPr lang="en-US" sz="1200" dirty="0"/>
          </a:p>
        </p:txBody>
      </p:sp>
      <p:sp>
        <p:nvSpPr>
          <p:cNvPr id="3" name="Text 1"/>
          <p:cNvSpPr>
            <a:spLocks noGrp="1"/>
          </p:cNvSpPr>
          <p:nvPr>
            <p:ph type="title"/>
          </p:nvPr>
        </p:nvSpPr>
        <p:spPr>
          <a:xfrm>
            <a:off x="812800" y="10515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D3557"/>
                </a:solidFill>
                <a:latin typeface="Be Vietnam Pro" pitchFamily="34" charset="0"/>
                <a:ea typeface="Be Vietnam Pro" pitchFamily="34" charset="-122"/>
                <a:cs typeface="Be Vietnam Pro" pitchFamily="34" charset="-120"/>
              </a:rPr>
              <a:t>City problems today, solutions tomorrow</a:t>
            </a:r>
            <a:endParaRPr lang="en-US" sz="3000" dirty="0"/>
          </a:p>
        </p:txBody>
      </p:sp>
      <p:sp>
        <p:nvSpPr>
          <p:cNvPr id="4" name="Shape 2"/>
          <p:cNvSpPr/>
          <p:nvPr/>
        </p:nvSpPr>
        <p:spPr>
          <a:xfrm>
            <a:off x="812800" y="1724620"/>
            <a:ext cx="10566400" cy="3038971"/>
          </a:xfrm>
          <a:custGeom>
            <a:avLst/>
            <a:gdLst/>
            <a:ahLst/>
            <a:cxnLst/>
            <a:rect l="l" t="t" r="r" b="b"/>
            <a:pathLst>
              <a:path w="10566400" h="3038971">
                <a:moveTo>
                  <a:pt x="10464800" y="0"/>
                </a:moveTo>
                <a:lnTo>
                  <a:pt x="10464800" y="0"/>
                </a:lnTo>
                <a:arcTo wR="101600" hR="101600" stAng="16200000" swAng="5400000"/>
                <a:lnTo>
                  <a:pt x="10566400" y="2937371"/>
                </a:lnTo>
                <a:arcTo wR="101600" hR="101600" stAng="0" swAng="5400000"/>
                <a:lnTo>
                  <a:pt x="101600" y="3038971"/>
                </a:lnTo>
                <a:arcTo wR="101600" hR="101600" stAng="5400000" swAng="5400000"/>
                <a:lnTo>
                  <a:pt x="0" y="2937371"/>
                </a:lnTo>
                <a:arcTo wR="101600" hR="88900" stAng="10800000" swAng="-5400000"/>
                <a:lnTo>
                  <a:pt x="10464800" y="3026271"/>
                </a:lnTo>
                <a:arcTo wR="88900" hR="88900" stAng="5400000" swAng="-5400000"/>
                <a:lnTo>
                  <a:pt x="10553700" y="101600"/>
                </a:lnTo>
                <a:arcTo wR="88900" hR="101600" stAng="0" swAng="-5400000"/>
                <a:close/>
              </a:path>
            </a:pathLst>
          </a:custGeom>
          <a:solidFill>
            <a:srgbClr val="DCE5E8"/>
          </a:solidFill>
          <a:ln/>
        </p:spPr>
      </p:sp>
      <p:sp>
        <p:nvSpPr>
          <p:cNvPr id="5" name="Shape 3"/>
          <p:cNvSpPr/>
          <p:nvPr/>
        </p:nvSpPr>
        <p:spPr>
          <a:xfrm>
            <a:off x="812800" y="1724620"/>
            <a:ext cx="10566400" cy="3038971"/>
          </a:xfrm>
          <a:custGeom>
            <a:avLst/>
            <a:gdLst/>
            <a:ahLst/>
            <a:cxnLst/>
            <a:rect l="l" t="t" r="r" b="b"/>
            <a:pathLst>
              <a:path w="10566400" h="3038971">
                <a:moveTo>
                  <a:pt x="101600" y="3038971"/>
                </a:moveTo>
                <a:lnTo>
                  <a:pt x="101600" y="3038971"/>
                </a:lnTo>
                <a:arcTo wR="101600" hR="101600" stAng="5400000" swAng="5400000"/>
                <a:lnTo>
                  <a:pt x="0" y="101600"/>
                </a:lnTo>
                <a:arcTo wR="101600" hR="101600" stAng="10800000" swAng="5400000"/>
                <a:lnTo>
                  <a:pt x="10464800" y="0"/>
                </a:lnTo>
                <a:arcTo wR="101600" hR="101600" stAng="16200000" swAng="5400000"/>
                <a:lnTo>
                  <a:pt x="10566400" y="101600"/>
                </a:lnTo>
                <a:arcTo wR="101600" hR="88900" stAng="0" swAng="-5400000"/>
                <a:lnTo>
                  <a:pt x="101600" y="12700"/>
                </a:lnTo>
                <a:arcTo wR="88900" hR="88900" stAng="16200000" swAng="-5400000"/>
                <a:lnTo>
                  <a:pt x="12700" y="2937371"/>
                </a:lnTo>
                <a:arcTo wR="88900" hR="101600" stAng="10800000" swAng="-5400000"/>
                <a:close/>
              </a:path>
            </a:pathLst>
          </a:custGeom>
          <a:solidFill>
            <a:srgbClr val="141413">
              <a:alpha val="22000"/>
            </a:srgbClr>
          </a:solidFill>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1737320"/>
          <a:ext cx="10541000" cy="3013570"/>
        </p:xfrm>
        <a:graphic>
          <a:graphicData uri="http://schemas.openxmlformats.org/drawingml/2006/table">
            <a:tbl>
              <a:tblPr/>
              <a:tblGrid>
                <a:gridCol w="3583940">
                  <a:extLst>
                    <a:ext uri="{9D8B030D-6E8A-4147-A177-3AD203B41FA5}">
                      <a16:colId xmlns:a16="http://schemas.microsoft.com/office/drawing/2014/main" val="20000"/>
                    </a:ext>
                  </a:extLst>
                </a:gridCol>
                <a:gridCol w="6957060">
                  <a:extLst>
                    <a:ext uri="{9D8B030D-6E8A-4147-A177-3AD203B41FA5}">
                      <a16:colId xmlns:a16="http://schemas.microsoft.com/office/drawing/2014/main" val="20001"/>
                    </a:ext>
                  </a:extLst>
                </a:gridCol>
              </a:tblGrid>
              <a:tr h="430510">
                <a:tc>
                  <a:txBody>
                    <a:bodyPr/>
                    <a:lstStyle/>
                    <a:p>
                      <a:pPr marL="0" indent="0">
                        <a:lnSpc>
                          <a:spcPts val="1960"/>
                        </a:lnSpc>
                        <a:buNone/>
                      </a:pPr>
                      <a:r>
                        <a:rPr lang="en-US" sz="1400" b="1" dirty="0">
                          <a:solidFill>
                            <a:srgbClr val="F3F1EA"/>
                          </a:solidFill>
                          <a:latin typeface="Nunito Sans" pitchFamily="34" charset="0"/>
                          <a:ea typeface="Nunito Sans" pitchFamily="34" charset="-122"/>
                          <a:cs typeface="Nunito Sans" pitchFamily="34" charset="-120"/>
                        </a:rPr>
                        <a:t>PROBLEM TODAY</a:t>
                      </a:r>
                      <a:endParaRPr lang="en-US" sz="1400" dirty="0">
                        <a:latin typeface="Nunito Sans" charset="0"/>
                        <a:ea typeface="Nunito Sans" charset="0"/>
                        <a:cs typeface="Nunito Sans" charset="0"/>
                      </a:endParaRPr>
                    </a:p>
                  </a:txBody>
                  <a:tcPr marL="152400" marR="152400" marT="88900" marB="88900">
                    <a:lnL w="0" cap="flat" cmpd="sng" algn="ctr">
                      <a:noFill/>
                    </a:lnL>
                    <a:lnR w="12700" cap="flat" cmpd="sng" algn="ctr">
                      <a:solidFill>
                        <a:srgbClr val="1B2E48"/>
                      </a:solidFill>
                      <a:prstDash val="solid"/>
                      <a:round/>
                      <a:headEnd type="none" w="med" len="med"/>
                      <a:tailEnd type="none" w="med" len="med"/>
                    </a:lnR>
                    <a:lnT w="0" cap="flat" cmpd="sng" algn="ctr">
                      <a:noFill/>
                    </a:lnT>
                    <a:lnB w="12700" cap="flat" cmpd="sng" algn="ctr">
                      <a:solidFill>
                        <a:srgbClr val="1B2E48"/>
                      </a:solidFill>
                      <a:prstDash val="solid"/>
                      <a:round/>
                      <a:headEnd type="none" w="med" len="med"/>
                      <a:tailEnd type="none" w="med" len="med"/>
                    </a:lnB>
                    <a:solidFill>
                      <a:srgbClr val="1D3557"/>
                    </a:solidFill>
                  </a:tcPr>
                </a:tc>
                <a:tc>
                  <a:txBody>
                    <a:bodyPr/>
                    <a:lstStyle/>
                    <a:p>
                      <a:pPr marL="0" indent="0">
                        <a:lnSpc>
                          <a:spcPts val="1960"/>
                        </a:lnSpc>
                        <a:buNone/>
                      </a:pPr>
                      <a:r>
                        <a:rPr lang="en-US" sz="1400" b="1" dirty="0">
                          <a:solidFill>
                            <a:srgbClr val="F3F1EA"/>
                          </a:solidFill>
                          <a:latin typeface="Nunito Sans" pitchFamily="34" charset="0"/>
                          <a:ea typeface="Nunito Sans" pitchFamily="34" charset="-122"/>
                          <a:cs typeface="Nunito Sans" pitchFamily="34" charset="-120"/>
                        </a:rPr>
                        <a:t>SOLUTION IN FUTURE CITIES</a:t>
                      </a:r>
                      <a:endParaRPr lang="en-US" sz="1400" dirty="0">
                        <a:latin typeface="Nunito Sans" charset="0"/>
                        <a:ea typeface="Nunito Sans" charset="0"/>
                        <a:cs typeface="Nunito Sans" charset="0"/>
                      </a:endParaRPr>
                    </a:p>
                  </a:txBody>
                  <a:tcPr marL="152400" marR="152400" marT="88900" marB="88900">
                    <a:lnL w="12700" cap="flat" cmpd="sng" algn="ctr">
                      <a:solidFill>
                        <a:srgbClr val="1B2E48"/>
                      </a:solidFill>
                      <a:prstDash val="solid"/>
                      <a:round/>
                      <a:headEnd type="none" w="med" len="med"/>
                      <a:tailEnd type="none" w="med" len="med"/>
                    </a:lnL>
                    <a:lnR w="12700" cap="flat" cmpd="sng" algn="ctr">
                      <a:solidFill>
                        <a:srgbClr val="1B2E48"/>
                      </a:solidFill>
                      <a:prstDash val="solid"/>
                      <a:round/>
                      <a:headEnd type="none" w="med" len="med"/>
                      <a:tailEnd type="none" w="med" len="med"/>
                    </a:lnR>
                    <a:lnT w="0" cap="flat" cmpd="sng" algn="ctr">
                      <a:noFill/>
                    </a:lnT>
                    <a:lnB w="12700" cap="flat" cmpd="sng" algn="ctr">
                      <a:solidFill>
                        <a:srgbClr val="1B2E48"/>
                      </a:solidFill>
                      <a:prstDash val="solid"/>
                      <a:round/>
                      <a:headEnd type="none" w="med" len="med"/>
                      <a:tailEnd type="none" w="med" len="med"/>
                    </a:lnB>
                    <a:solidFill>
                      <a:srgbClr val="1D3557"/>
                    </a:solidFill>
                  </a:tcPr>
                </a:tc>
                <a:extLst>
                  <a:ext uri="{0D108BD9-81ED-4DB2-BD59-A6C34878D82A}">
                    <a16:rowId xmlns:a16="http://schemas.microsoft.com/office/drawing/2014/main" val="10000"/>
                  </a:ext>
                </a:extLst>
              </a:tr>
              <a:tr h="430510">
                <a:tc>
                  <a:txBody>
                    <a:bodyPr/>
                    <a:lstStyle/>
                    <a:p>
                      <a:pPr marL="0" indent="0">
                        <a:lnSpc>
                          <a:spcPts val="1960"/>
                        </a:lnSpc>
                        <a:buNone/>
                      </a:pPr>
                      <a:r>
                        <a:rPr lang="en-US" sz="1400" dirty="0">
                          <a:solidFill>
                            <a:srgbClr val="1D3557"/>
                          </a:solidFill>
                          <a:latin typeface="Nunito Sans" pitchFamily="34" charset="0"/>
                          <a:ea typeface="Nunito Sans" pitchFamily="34" charset="-122"/>
                          <a:cs typeface="Nunito Sans" pitchFamily="34" charset="-120"/>
                        </a:rPr>
                        <a:t>Traffic jams</a:t>
                      </a:r>
                      <a:endParaRPr lang="en-US" sz="1400" dirty="0">
                        <a:latin typeface="Nunito Sans" charset="0"/>
                        <a:ea typeface="Nunito Sans" charset="0"/>
                        <a:cs typeface="Nunito Sans" charset="0"/>
                      </a:endParaRPr>
                    </a:p>
                  </a:txBody>
                  <a:tcPr marL="152400" marR="152400" marT="88900" marB="88900">
                    <a:lnL w="0" cap="flat" cmpd="sng" algn="ctr">
                      <a:noFill/>
                    </a:lnL>
                    <a:lnR w="12700" cap="flat" cmpd="sng" algn="ctr">
                      <a:solidFill>
                        <a:srgbClr val="CBCBC8"/>
                      </a:solidFill>
                      <a:prstDash val="solid"/>
                      <a:round/>
                      <a:headEnd type="none" w="med" len="med"/>
                      <a:tailEnd type="none" w="med" len="med"/>
                    </a:lnR>
                    <a:lnT w="12700" cap="flat" cmpd="sng" algn="ctr">
                      <a:solidFill>
                        <a:srgbClr val="1B2E48"/>
                      </a:solidFill>
                      <a:prstDash val="solid"/>
                      <a:round/>
                      <a:headEnd type="none" w="med" len="med"/>
                      <a:tailEnd type="none" w="med" len="med"/>
                    </a:lnT>
                    <a:lnB w="12700" cap="flat" cmpd="sng" algn="ctr">
                      <a:solidFill>
                        <a:srgbClr val="CBCBC8"/>
                      </a:solidFill>
                      <a:prstDash val="solid"/>
                      <a:round/>
                      <a:headEnd type="none" w="med" len="med"/>
                      <a:tailEnd type="none" w="med" len="med"/>
                    </a:lnB>
                    <a:solidFill>
                      <a:srgbClr val="FFFEFB"/>
                    </a:solidFill>
                  </a:tcPr>
                </a:tc>
                <a:tc>
                  <a:txBody>
                    <a:bodyPr/>
                    <a:lstStyle/>
                    <a:p>
                      <a:pPr marL="0" indent="0">
                        <a:lnSpc>
                          <a:spcPts val="1960"/>
                        </a:lnSpc>
                        <a:buNone/>
                      </a:pPr>
                      <a:r>
                        <a:rPr lang="en-US" sz="1400" dirty="0">
                          <a:solidFill>
                            <a:srgbClr val="2A3646"/>
                          </a:solidFill>
                          <a:latin typeface="Nunito Sans" pitchFamily="34" charset="0"/>
                          <a:ea typeface="Nunito Sans" pitchFamily="34" charset="-122"/>
                          <a:cs typeface="Nunito Sans" pitchFamily="34" charset="-120"/>
                        </a:rPr>
                        <a:t>Smart systems will predict traffic and warn drivers.</a:t>
                      </a:r>
                      <a:endParaRPr lang="en-US" sz="1400" dirty="0">
                        <a:latin typeface="Nunito Sans" charset="0"/>
                        <a:ea typeface="Nunito Sans" charset="0"/>
                        <a:cs typeface="Nunito Sans" charset="0"/>
                      </a:endParaRPr>
                    </a:p>
                  </a:txBody>
                  <a:tcPr marL="152400" marR="152400" marT="88900" marB="88900">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1B2E48"/>
                      </a:solidFill>
                      <a:prstDash val="solid"/>
                      <a:round/>
                      <a:headEnd type="none" w="med" len="med"/>
                      <a:tailEnd type="none" w="med" len="med"/>
                    </a:lnT>
                    <a:lnB w="12700" cap="flat" cmpd="sng" algn="ctr">
                      <a:solidFill>
                        <a:srgbClr val="CBCBC8"/>
                      </a:solidFill>
                      <a:prstDash val="solid"/>
                      <a:round/>
                      <a:headEnd type="none" w="med" len="med"/>
                      <a:tailEnd type="none" w="med" len="med"/>
                    </a:lnB>
                    <a:solidFill>
                      <a:srgbClr val="FFFEFB"/>
                    </a:solidFill>
                  </a:tcPr>
                </a:tc>
                <a:extLst>
                  <a:ext uri="{0D108BD9-81ED-4DB2-BD59-A6C34878D82A}">
                    <a16:rowId xmlns:a16="http://schemas.microsoft.com/office/drawing/2014/main" val="10001"/>
                  </a:ext>
                </a:extLst>
              </a:tr>
              <a:tr h="430510">
                <a:tc>
                  <a:txBody>
                    <a:bodyPr/>
                    <a:lstStyle/>
                    <a:p>
                      <a:pPr marL="0" indent="0">
                        <a:lnSpc>
                          <a:spcPts val="1960"/>
                        </a:lnSpc>
                        <a:buNone/>
                      </a:pPr>
                      <a:r>
                        <a:rPr lang="en-US" sz="1400" dirty="0">
                          <a:solidFill>
                            <a:srgbClr val="1D3557"/>
                          </a:solidFill>
                          <a:latin typeface="Nunito Sans" pitchFamily="34" charset="0"/>
                          <a:ea typeface="Nunito Sans" pitchFamily="34" charset="-122"/>
                          <a:cs typeface="Nunito Sans" pitchFamily="34" charset="-120"/>
                        </a:rPr>
                        <a:t>Air pollution</a:t>
                      </a:r>
                      <a:endParaRPr lang="en-US" sz="1400" dirty="0">
                        <a:latin typeface="Nunito Sans" charset="0"/>
                        <a:ea typeface="Nunito Sans" charset="0"/>
                        <a:cs typeface="Nunito Sans" charset="0"/>
                      </a:endParaRPr>
                    </a:p>
                  </a:txBody>
                  <a:tcPr marL="152400" marR="152400" marT="88900" marB="88900">
                    <a:lnL w="0" cap="flat" cmpd="sng" algn="ctr">
                      <a:noFill/>
                    </a:lnL>
                    <a:lnR w="12700" cap="flat" cmpd="sng" algn="ctr">
                      <a:solidFill>
                        <a:srgbClr val="BEC3C2"/>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BEC3C2"/>
                      </a:solidFill>
                      <a:prstDash val="solid"/>
                      <a:round/>
                      <a:headEnd type="none" w="med" len="med"/>
                      <a:tailEnd type="none" w="med" len="med"/>
                    </a:lnB>
                    <a:solidFill>
                      <a:srgbClr val="EEF4F3"/>
                    </a:solidFill>
                  </a:tcPr>
                </a:tc>
                <a:tc>
                  <a:txBody>
                    <a:bodyPr/>
                    <a:lstStyle/>
                    <a:p>
                      <a:pPr marL="0" indent="0">
                        <a:lnSpc>
                          <a:spcPts val="1960"/>
                        </a:lnSpc>
                        <a:buNone/>
                      </a:pPr>
                      <a:r>
                        <a:rPr lang="en-US" sz="1400" dirty="0">
                          <a:solidFill>
                            <a:srgbClr val="2A3646"/>
                          </a:solidFill>
                          <a:latin typeface="Nunito Sans" pitchFamily="34" charset="0"/>
                          <a:ea typeface="Nunito Sans" pitchFamily="34" charset="-122"/>
                          <a:cs typeface="Nunito Sans" pitchFamily="34" charset="-120"/>
                        </a:rPr>
                        <a:t>Electric buses and trains; clean, renewable energy</a:t>
                      </a:r>
                      <a:endParaRPr lang="en-US" sz="1400" dirty="0">
                        <a:latin typeface="Nunito Sans" charset="0"/>
                        <a:ea typeface="Nunito Sans" charset="0"/>
                        <a:cs typeface="Nunito Sans" charset="0"/>
                      </a:endParaRPr>
                    </a:p>
                  </a:txBody>
                  <a:tcPr marL="152400" marR="152400" marT="88900" marB="88900">
                    <a:lnL w="12700" cap="flat" cmpd="sng" algn="ctr">
                      <a:solidFill>
                        <a:srgbClr val="BEC3C2"/>
                      </a:solidFill>
                      <a:prstDash val="solid"/>
                      <a:round/>
                      <a:headEnd type="none" w="med" len="med"/>
                      <a:tailEnd type="none" w="med" len="med"/>
                    </a:lnL>
                    <a:lnR w="12700" cap="flat" cmpd="sng" algn="ctr">
                      <a:solidFill>
                        <a:srgbClr val="BEC3C2"/>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BEC3C2"/>
                      </a:solidFill>
                      <a:prstDash val="solid"/>
                      <a:round/>
                      <a:headEnd type="none" w="med" len="med"/>
                      <a:tailEnd type="none" w="med" len="med"/>
                    </a:lnB>
                    <a:solidFill>
                      <a:srgbClr val="EEF4F3"/>
                    </a:solidFill>
                  </a:tcPr>
                </a:tc>
                <a:extLst>
                  <a:ext uri="{0D108BD9-81ED-4DB2-BD59-A6C34878D82A}">
                    <a16:rowId xmlns:a16="http://schemas.microsoft.com/office/drawing/2014/main" val="10002"/>
                  </a:ext>
                </a:extLst>
              </a:tr>
              <a:tr h="430510">
                <a:tc>
                  <a:txBody>
                    <a:bodyPr/>
                    <a:lstStyle/>
                    <a:p>
                      <a:pPr marL="0" indent="0">
                        <a:lnSpc>
                          <a:spcPts val="1960"/>
                        </a:lnSpc>
                        <a:buNone/>
                      </a:pPr>
                      <a:r>
                        <a:rPr lang="en-US" sz="1400" dirty="0">
                          <a:solidFill>
                            <a:srgbClr val="1D3557"/>
                          </a:solidFill>
                          <a:latin typeface="Nunito Sans" pitchFamily="34" charset="0"/>
                          <a:ea typeface="Nunito Sans" pitchFamily="34" charset="-122"/>
                          <a:cs typeface="Nunito Sans" pitchFamily="34" charset="-120"/>
                        </a:rPr>
                        <a:t>Wasting energy</a:t>
                      </a:r>
                      <a:endParaRPr lang="en-US" sz="1400" dirty="0">
                        <a:latin typeface="Nunito Sans" charset="0"/>
                        <a:ea typeface="Nunito Sans" charset="0"/>
                        <a:cs typeface="Nunito Sans" charset="0"/>
                      </a:endParaRPr>
                    </a:p>
                  </a:txBody>
                  <a:tcPr marL="152400" marR="152400" marT="88900" marB="88900">
                    <a:lnL w="0" cap="flat" cmpd="sng" algn="ctr">
                      <a:noFill/>
                    </a:lnL>
                    <a:lnR w="12700" cap="flat" cmpd="sng" algn="ctr">
                      <a:solidFill>
                        <a:srgbClr val="CBCBC8"/>
                      </a:solidFill>
                      <a:prstDash val="solid"/>
                      <a:round/>
                      <a:headEnd type="none" w="med" len="med"/>
                      <a:tailEnd type="none" w="med" len="med"/>
                    </a:lnR>
                    <a:lnT w="12700" cap="flat" cmpd="sng" algn="ctr">
                      <a:solidFill>
                        <a:srgbClr val="BEC3C2"/>
                      </a:solidFill>
                      <a:prstDash val="solid"/>
                      <a:round/>
                      <a:headEnd type="none" w="med" len="med"/>
                      <a:tailEnd type="none" w="med" len="med"/>
                    </a:lnT>
                    <a:lnB w="12700" cap="flat" cmpd="sng" algn="ctr">
                      <a:solidFill>
                        <a:srgbClr val="CBCBC8"/>
                      </a:solidFill>
                      <a:prstDash val="solid"/>
                      <a:round/>
                      <a:headEnd type="none" w="med" len="med"/>
                      <a:tailEnd type="none" w="med" len="med"/>
                    </a:lnB>
                    <a:solidFill>
                      <a:srgbClr val="FFFEFB"/>
                    </a:solidFill>
                  </a:tcPr>
                </a:tc>
                <a:tc>
                  <a:txBody>
                    <a:bodyPr/>
                    <a:lstStyle/>
                    <a:p>
                      <a:pPr marL="0" indent="0">
                        <a:lnSpc>
                          <a:spcPts val="1960"/>
                        </a:lnSpc>
                        <a:buNone/>
                      </a:pPr>
                      <a:r>
                        <a:rPr lang="en-US" sz="1400" dirty="0">
                          <a:solidFill>
                            <a:srgbClr val="2A3646"/>
                          </a:solidFill>
                          <a:latin typeface="Nunito Sans" pitchFamily="34" charset="0"/>
                          <a:ea typeface="Nunito Sans" pitchFamily="34" charset="-122"/>
                          <a:cs typeface="Nunito Sans" pitchFamily="34" charset="-120"/>
                        </a:rPr>
                        <a:t>Street lights will turn off when the streets are empty.</a:t>
                      </a:r>
                      <a:endParaRPr lang="en-US" sz="1400" dirty="0">
                        <a:latin typeface="Nunito Sans" charset="0"/>
                        <a:ea typeface="Nunito Sans" charset="0"/>
                        <a:cs typeface="Nunito Sans" charset="0"/>
                      </a:endParaRPr>
                    </a:p>
                  </a:txBody>
                  <a:tcPr marL="152400" marR="152400" marT="88900" marB="88900">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BEC3C2"/>
                      </a:solidFill>
                      <a:prstDash val="solid"/>
                      <a:round/>
                      <a:headEnd type="none" w="med" len="med"/>
                      <a:tailEnd type="none" w="med" len="med"/>
                    </a:lnT>
                    <a:lnB w="12700" cap="flat" cmpd="sng" algn="ctr">
                      <a:solidFill>
                        <a:srgbClr val="CBCBC8"/>
                      </a:solidFill>
                      <a:prstDash val="solid"/>
                      <a:round/>
                      <a:headEnd type="none" w="med" len="med"/>
                      <a:tailEnd type="none" w="med" len="med"/>
                    </a:lnB>
                    <a:solidFill>
                      <a:srgbClr val="FFFEFB"/>
                    </a:solidFill>
                  </a:tcPr>
                </a:tc>
                <a:extLst>
                  <a:ext uri="{0D108BD9-81ED-4DB2-BD59-A6C34878D82A}">
                    <a16:rowId xmlns:a16="http://schemas.microsoft.com/office/drawing/2014/main" val="10003"/>
                  </a:ext>
                </a:extLst>
              </a:tr>
              <a:tr h="430510">
                <a:tc>
                  <a:txBody>
                    <a:bodyPr/>
                    <a:lstStyle/>
                    <a:p>
                      <a:pPr marL="0" indent="0">
                        <a:lnSpc>
                          <a:spcPts val="1960"/>
                        </a:lnSpc>
                        <a:buNone/>
                      </a:pPr>
                      <a:r>
                        <a:rPr lang="en-US" sz="1400" dirty="0">
                          <a:solidFill>
                            <a:srgbClr val="1D3557"/>
                          </a:solidFill>
                          <a:latin typeface="Nunito Sans" pitchFamily="34" charset="0"/>
                          <a:ea typeface="Nunito Sans" pitchFamily="34" charset="-122"/>
                          <a:cs typeface="Nunito Sans" pitchFamily="34" charset="-120"/>
                        </a:rPr>
                        <a:t>Full bins</a:t>
                      </a:r>
                      <a:endParaRPr lang="en-US" sz="1400" dirty="0">
                        <a:latin typeface="Nunito Sans" charset="0"/>
                        <a:ea typeface="Nunito Sans" charset="0"/>
                        <a:cs typeface="Nunito Sans" charset="0"/>
                      </a:endParaRPr>
                    </a:p>
                  </a:txBody>
                  <a:tcPr marL="152400" marR="152400" marT="88900" marB="88900">
                    <a:lnL w="0" cap="flat" cmpd="sng" algn="ctr">
                      <a:noFill/>
                    </a:lnL>
                    <a:lnR w="12700" cap="flat" cmpd="sng" algn="ctr">
                      <a:solidFill>
                        <a:srgbClr val="BEC3C2"/>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BEC3C2"/>
                      </a:solidFill>
                      <a:prstDash val="solid"/>
                      <a:round/>
                      <a:headEnd type="none" w="med" len="med"/>
                      <a:tailEnd type="none" w="med" len="med"/>
                    </a:lnB>
                    <a:solidFill>
                      <a:srgbClr val="EEF4F3"/>
                    </a:solidFill>
                  </a:tcPr>
                </a:tc>
                <a:tc>
                  <a:txBody>
                    <a:bodyPr/>
                    <a:lstStyle/>
                    <a:p>
                      <a:pPr marL="0" indent="0">
                        <a:lnSpc>
                          <a:spcPts val="1960"/>
                        </a:lnSpc>
                        <a:buNone/>
                      </a:pPr>
                      <a:r>
                        <a:rPr lang="en-US" sz="1400" dirty="0">
                          <a:solidFill>
                            <a:srgbClr val="2A3646"/>
                          </a:solidFill>
                          <a:latin typeface="Nunito Sans" pitchFamily="34" charset="0"/>
                          <a:ea typeface="Nunito Sans" pitchFamily="34" charset="-122"/>
                          <a:cs typeface="Nunito Sans" pitchFamily="34" charset="-120"/>
                        </a:rPr>
                        <a:t>Sensors will tell waste collection teams when bins are full.</a:t>
                      </a:r>
                      <a:endParaRPr lang="en-US" sz="1400" dirty="0">
                        <a:latin typeface="Nunito Sans" charset="0"/>
                        <a:ea typeface="Nunito Sans" charset="0"/>
                        <a:cs typeface="Nunito Sans" charset="0"/>
                      </a:endParaRPr>
                    </a:p>
                  </a:txBody>
                  <a:tcPr marL="152400" marR="152400" marT="88900" marB="88900">
                    <a:lnL w="12700" cap="flat" cmpd="sng" algn="ctr">
                      <a:solidFill>
                        <a:srgbClr val="BEC3C2"/>
                      </a:solidFill>
                      <a:prstDash val="solid"/>
                      <a:round/>
                      <a:headEnd type="none" w="med" len="med"/>
                      <a:tailEnd type="none" w="med" len="med"/>
                    </a:lnL>
                    <a:lnR w="12700" cap="flat" cmpd="sng" algn="ctr">
                      <a:solidFill>
                        <a:srgbClr val="BEC3C2"/>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BEC3C2"/>
                      </a:solidFill>
                      <a:prstDash val="solid"/>
                      <a:round/>
                      <a:headEnd type="none" w="med" len="med"/>
                      <a:tailEnd type="none" w="med" len="med"/>
                    </a:lnB>
                    <a:solidFill>
                      <a:srgbClr val="EEF4F3"/>
                    </a:solidFill>
                  </a:tcPr>
                </a:tc>
                <a:extLst>
                  <a:ext uri="{0D108BD9-81ED-4DB2-BD59-A6C34878D82A}">
                    <a16:rowId xmlns:a16="http://schemas.microsoft.com/office/drawing/2014/main" val="10004"/>
                  </a:ext>
                </a:extLst>
              </a:tr>
              <a:tr h="430510">
                <a:tc>
                  <a:txBody>
                    <a:bodyPr/>
                    <a:lstStyle/>
                    <a:p>
                      <a:pPr marL="0" indent="0">
                        <a:lnSpc>
                          <a:spcPts val="1960"/>
                        </a:lnSpc>
                        <a:buNone/>
                      </a:pPr>
                      <a:r>
                        <a:rPr lang="en-US" sz="1400" dirty="0">
                          <a:solidFill>
                            <a:srgbClr val="1D3557"/>
                          </a:solidFill>
                          <a:latin typeface="Nunito Sans" pitchFamily="34" charset="0"/>
                          <a:ea typeface="Nunito Sans" pitchFamily="34" charset="-122"/>
                          <a:cs typeface="Nunito Sans" pitchFamily="34" charset="-120"/>
                        </a:rPr>
                        <a:t>Lack of green space</a:t>
                      </a:r>
                      <a:endParaRPr lang="en-US" sz="1400" dirty="0">
                        <a:latin typeface="Nunito Sans" charset="0"/>
                        <a:ea typeface="Nunito Sans" charset="0"/>
                        <a:cs typeface="Nunito Sans" charset="0"/>
                      </a:endParaRPr>
                    </a:p>
                  </a:txBody>
                  <a:tcPr marL="152400" marR="152400" marT="88900" marB="88900">
                    <a:lnL w="0" cap="flat" cmpd="sng" algn="ctr">
                      <a:noFill/>
                    </a:lnL>
                    <a:lnR w="12700" cap="flat" cmpd="sng" algn="ctr">
                      <a:solidFill>
                        <a:srgbClr val="CBCBC8"/>
                      </a:solidFill>
                      <a:prstDash val="solid"/>
                      <a:round/>
                      <a:headEnd type="none" w="med" len="med"/>
                      <a:tailEnd type="none" w="med" len="med"/>
                    </a:lnR>
                    <a:lnT w="12700" cap="flat" cmpd="sng" algn="ctr">
                      <a:solidFill>
                        <a:srgbClr val="BEC3C2"/>
                      </a:solidFill>
                      <a:prstDash val="solid"/>
                      <a:round/>
                      <a:headEnd type="none" w="med" len="med"/>
                      <a:tailEnd type="none" w="med" len="med"/>
                    </a:lnT>
                    <a:lnB w="12700" cap="flat" cmpd="sng" algn="ctr">
                      <a:solidFill>
                        <a:srgbClr val="CBCBC8"/>
                      </a:solidFill>
                      <a:prstDash val="solid"/>
                      <a:round/>
                      <a:headEnd type="none" w="med" len="med"/>
                      <a:tailEnd type="none" w="med" len="med"/>
                    </a:lnB>
                    <a:solidFill>
                      <a:srgbClr val="FFFEFB"/>
                    </a:solidFill>
                  </a:tcPr>
                </a:tc>
                <a:tc>
                  <a:txBody>
                    <a:bodyPr/>
                    <a:lstStyle/>
                    <a:p>
                      <a:pPr marL="0" indent="0">
                        <a:lnSpc>
                          <a:spcPts val="1960"/>
                        </a:lnSpc>
                        <a:buNone/>
                      </a:pPr>
                      <a:r>
                        <a:rPr lang="en-US" sz="1400" dirty="0">
                          <a:solidFill>
                            <a:srgbClr val="2A3646"/>
                          </a:solidFill>
                          <a:latin typeface="Nunito Sans" pitchFamily="34" charset="0"/>
                          <a:ea typeface="Nunito Sans" pitchFamily="34" charset="-122"/>
                          <a:cs typeface="Nunito Sans" pitchFamily="34" charset="-120"/>
                        </a:rPr>
                        <a:t>Green roofs, roof gardens and more parks</a:t>
                      </a:r>
                      <a:endParaRPr lang="en-US" sz="1400" dirty="0">
                        <a:latin typeface="Nunito Sans" charset="0"/>
                        <a:ea typeface="Nunito Sans" charset="0"/>
                        <a:cs typeface="Nunito Sans" charset="0"/>
                      </a:endParaRPr>
                    </a:p>
                  </a:txBody>
                  <a:tcPr marL="152400" marR="152400" marT="88900" marB="88900">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BEC3C2"/>
                      </a:solidFill>
                      <a:prstDash val="solid"/>
                      <a:round/>
                      <a:headEnd type="none" w="med" len="med"/>
                      <a:tailEnd type="none" w="med" len="med"/>
                    </a:lnT>
                    <a:lnB w="12700" cap="flat" cmpd="sng" algn="ctr">
                      <a:solidFill>
                        <a:srgbClr val="CBCBC8"/>
                      </a:solidFill>
                      <a:prstDash val="solid"/>
                      <a:round/>
                      <a:headEnd type="none" w="med" len="med"/>
                      <a:tailEnd type="none" w="med" len="med"/>
                    </a:lnB>
                    <a:solidFill>
                      <a:srgbClr val="FFFEFB"/>
                    </a:solidFill>
                  </a:tcPr>
                </a:tc>
                <a:extLst>
                  <a:ext uri="{0D108BD9-81ED-4DB2-BD59-A6C34878D82A}">
                    <a16:rowId xmlns:a16="http://schemas.microsoft.com/office/drawing/2014/main" val="10005"/>
                  </a:ext>
                </a:extLst>
              </a:tr>
              <a:tr h="430510">
                <a:tc>
                  <a:txBody>
                    <a:bodyPr/>
                    <a:lstStyle/>
                    <a:p>
                      <a:pPr marL="0" indent="0">
                        <a:lnSpc>
                          <a:spcPts val="1960"/>
                        </a:lnSpc>
                        <a:buNone/>
                      </a:pPr>
                      <a:r>
                        <a:rPr lang="en-US" sz="1400" dirty="0">
                          <a:solidFill>
                            <a:srgbClr val="1D3557"/>
                          </a:solidFill>
                          <a:latin typeface="Nunito Sans" pitchFamily="34" charset="0"/>
                          <a:ea typeface="Nunito Sans" pitchFamily="34" charset="-122"/>
                          <a:cs typeface="Nunito Sans" pitchFamily="34" charset="-120"/>
                        </a:rPr>
                        <a:t>Old, crowded blocks of flats</a:t>
                      </a:r>
                      <a:endParaRPr lang="en-US" sz="1400" dirty="0">
                        <a:latin typeface="Nunito Sans" charset="0"/>
                        <a:ea typeface="Nunito Sans" charset="0"/>
                        <a:cs typeface="Nunito Sans" charset="0"/>
                      </a:endParaRPr>
                    </a:p>
                  </a:txBody>
                  <a:tcPr marL="152400" marR="152400" marT="88900" marB="88900">
                    <a:lnL w="0" cap="flat" cmpd="sng" algn="ctr">
                      <a:noFill/>
                    </a:lnL>
                    <a:lnR w="12700" cap="flat" cmpd="sng" algn="ctr">
                      <a:solidFill>
                        <a:srgbClr val="BEC3C2"/>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BEC3C2"/>
                      </a:solidFill>
                      <a:prstDash val="solid"/>
                      <a:round/>
                      <a:headEnd type="none" w="med" len="med"/>
                      <a:tailEnd type="none" w="med" len="med"/>
                    </a:lnB>
                    <a:solidFill>
                      <a:srgbClr val="EEF4F3"/>
                    </a:solidFill>
                  </a:tcPr>
                </a:tc>
                <a:tc>
                  <a:txBody>
                    <a:bodyPr/>
                    <a:lstStyle/>
                    <a:p>
                      <a:pPr marL="0" indent="0">
                        <a:lnSpc>
                          <a:spcPts val="1960"/>
                        </a:lnSpc>
                        <a:buNone/>
                      </a:pPr>
                      <a:r>
                        <a:rPr lang="en-US" sz="1400" dirty="0">
                          <a:solidFill>
                            <a:srgbClr val="2A3646"/>
                          </a:solidFill>
                          <a:latin typeface="Nunito Sans" pitchFamily="34" charset="0"/>
                          <a:ea typeface="Nunito Sans" pitchFamily="34" charset="-122"/>
                          <a:cs typeface="Nunito Sans" pitchFamily="34" charset="-120"/>
                        </a:rPr>
                        <a:t>Green skyscrapers will replace them.</a:t>
                      </a:r>
                      <a:endParaRPr lang="en-US" sz="1400" dirty="0">
                        <a:latin typeface="Nunito Sans" charset="0"/>
                        <a:ea typeface="Nunito Sans" charset="0"/>
                        <a:cs typeface="Nunito Sans" charset="0"/>
                      </a:endParaRPr>
                    </a:p>
                  </a:txBody>
                  <a:tcPr marL="152400" marR="152400" marT="88900" marB="88900">
                    <a:lnL w="12700" cap="flat" cmpd="sng" algn="ctr">
                      <a:solidFill>
                        <a:srgbClr val="BEC3C2"/>
                      </a:solidFill>
                      <a:prstDash val="solid"/>
                      <a:round/>
                      <a:headEnd type="none" w="med" len="med"/>
                      <a:tailEnd type="none" w="med" len="med"/>
                    </a:lnL>
                    <a:lnR w="12700" cap="flat" cmpd="sng" algn="ctr">
                      <a:solidFill>
                        <a:srgbClr val="BEC3C2"/>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BEC3C2"/>
                      </a:solidFill>
                      <a:prstDash val="solid"/>
                      <a:round/>
                      <a:headEnd type="none" w="med" len="med"/>
                      <a:tailEnd type="none" w="med" len="med"/>
                    </a:lnB>
                    <a:solidFill>
                      <a:srgbClr val="EEF4F3"/>
                    </a:solidFill>
                  </a:tcPr>
                </a:tc>
                <a:extLst>
                  <a:ext uri="{0D108BD9-81ED-4DB2-BD59-A6C34878D82A}">
                    <a16:rowId xmlns:a16="http://schemas.microsoft.com/office/drawing/2014/main" val="10006"/>
                  </a:ext>
                </a:extLst>
              </a:tr>
            </a:tbl>
          </a:graphicData>
        </a:graphic>
      </p:graphicFrame>
      <p:sp>
        <p:nvSpPr>
          <p:cNvPr id="7" name="Shape 4"/>
          <p:cNvSpPr/>
          <p:nvPr/>
        </p:nvSpPr>
        <p:spPr>
          <a:xfrm>
            <a:off x="812800" y="5017591"/>
            <a:ext cx="10566400" cy="553690"/>
          </a:xfrm>
          <a:prstGeom prst="roundRect">
            <a:avLst>
              <a:gd name="adj" fmla="val 22937"/>
            </a:avLst>
          </a:prstGeom>
          <a:solidFill>
            <a:srgbClr val="FCEBDD"/>
          </a:solidFill>
          <a:ln/>
        </p:spPr>
      </p:sp>
      <p:sp>
        <p:nvSpPr>
          <p:cNvPr id="8" name="Text 5"/>
          <p:cNvSpPr/>
          <p:nvPr/>
        </p:nvSpPr>
        <p:spPr>
          <a:xfrm>
            <a:off x="1041400" y="5187752"/>
            <a:ext cx="1695648" cy="238720"/>
          </a:xfrm>
          <a:prstGeom prst="rect">
            <a:avLst/>
          </a:prstGeom>
          <a:noFill/>
          <a:ln/>
        </p:spPr>
        <p:txBody>
          <a:bodyPr wrap="none" lIns="0" tIns="0" rIns="0" bIns="0" rtlCol="0" anchor="t">
            <a:normAutofit/>
          </a:bodyPr>
          <a:lstStyle/>
          <a:p>
            <a:pPr marL="0" indent="0" algn="l">
              <a:lnSpc>
                <a:spcPts val="1680"/>
              </a:lnSpc>
              <a:buNone/>
            </a:pPr>
            <a:r>
              <a:rPr lang="en-US" sz="1200" b="1" kern="0" spc="150" dirty="0">
                <a:solidFill>
                  <a:srgbClr val="B4500F"/>
                </a:solidFill>
                <a:latin typeface="Nunito Sans" pitchFamily="34" charset="0"/>
                <a:ea typeface="Nunito Sans" pitchFamily="34" charset="-122"/>
                <a:cs typeface="Nunito Sans" pitchFamily="34" charset="-120"/>
              </a:rPr>
              <a:t>SENTENCE FRAME</a:t>
            </a:r>
            <a:endParaRPr lang="en-US" sz="1200" dirty="0"/>
          </a:p>
        </p:txBody>
      </p:sp>
      <p:sp>
        <p:nvSpPr>
          <p:cNvPr id="9" name="Text 6"/>
          <p:cNvSpPr/>
          <p:nvPr/>
        </p:nvSpPr>
        <p:spPr>
          <a:xfrm>
            <a:off x="2813248" y="5169991"/>
            <a:ext cx="8536781"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2A3646"/>
                </a:solidFill>
                <a:latin typeface="Nunito Sans" pitchFamily="34" charset="0"/>
                <a:ea typeface="Nunito Sans" pitchFamily="34" charset="-122"/>
                <a:cs typeface="Nunito Sans" pitchFamily="34" charset="-120"/>
              </a:rPr>
              <a:t>Nowadays, ______ is a serious problem in big cities. In the future, ______ will help solve it.</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BFAF6"/>
        </a:solidFill>
        <a:effectLst/>
      </p:bgPr>
    </p:bg>
    <p:spTree>
      <p:nvGrpSpPr>
        <p:cNvPr id="1" name=""/>
        <p:cNvGrpSpPr/>
        <p:nvPr/>
      </p:nvGrpSpPr>
      <p:grpSpPr>
        <a:xfrm>
          <a:off x="0" y="0"/>
          <a:ext cx="0" cy="0"/>
          <a:chOff x="0" y="0"/>
          <a:chExt cx="0" cy="0"/>
        </a:xfrm>
      </p:grpSpPr>
      <p:sp>
        <p:nvSpPr>
          <p:cNvPr id="2" name="Text 0"/>
          <p:cNvSpPr/>
          <p:nvPr/>
        </p:nvSpPr>
        <p:spPr>
          <a:xfrm>
            <a:off x="812800" y="762000"/>
            <a:ext cx="10883392" cy="238720"/>
          </a:xfrm>
          <a:prstGeom prst="rect">
            <a:avLst/>
          </a:prstGeom>
          <a:noFill/>
          <a:ln/>
        </p:spPr>
        <p:txBody>
          <a:bodyPr wrap="square" lIns="0" tIns="0" rIns="0" bIns="0" rtlCol="0" anchor="t">
            <a:normAutofit/>
          </a:bodyPr>
          <a:lstStyle/>
          <a:p>
            <a:pPr marL="0" indent="0" algn="l">
              <a:lnSpc>
                <a:spcPts val="1680"/>
              </a:lnSpc>
              <a:buNone/>
            </a:pPr>
            <a:r>
              <a:rPr lang="en-US" sz="2000" b="1" kern="0" spc="150" dirty="0">
                <a:solidFill>
                  <a:srgbClr val="117279"/>
                </a:solidFill>
                <a:latin typeface="Nunito Sans" pitchFamily="34" charset="0"/>
                <a:ea typeface="Nunito Sans" pitchFamily="34" charset="-122"/>
                <a:cs typeface="Nunito Sans" pitchFamily="34" charset="-120"/>
              </a:rPr>
              <a:t>PROBLEMS &amp; SOLUTIONS • IDEAS FROM THE LISTENING</a:t>
            </a:r>
            <a:endParaRPr lang="en-US" sz="2000" dirty="0"/>
          </a:p>
        </p:txBody>
      </p:sp>
      <p:sp>
        <p:nvSpPr>
          <p:cNvPr id="3" name="Text 1"/>
          <p:cNvSpPr>
            <a:spLocks noGrp="1"/>
          </p:cNvSpPr>
          <p:nvPr>
            <p:ph type="title"/>
          </p:nvPr>
        </p:nvSpPr>
        <p:spPr>
          <a:xfrm>
            <a:off x="812800" y="1051520"/>
            <a:ext cx="10883392" cy="444500"/>
          </a:xfrm>
          <a:prstGeom prst="rect">
            <a:avLst/>
          </a:prstGeom>
          <a:noFill/>
          <a:ln/>
        </p:spPr>
        <p:txBody>
          <a:bodyPr wrap="square" lIns="0" tIns="0" rIns="0" bIns="0" rtlCol="0" anchor="t">
            <a:normAutofit/>
          </a:bodyPr>
          <a:lstStyle/>
          <a:p>
            <a:pPr marL="0" indent="0" algn="l">
              <a:lnSpc>
                <a:spcPts val="3300"/>
              </a:lnSpc>
              <a:buNone/>
            </a:pPr>
            <a:r>
              <a:rPr lang="en-US" sz="2000" b="1" i="0" dirty="0">
                <a:solidFill>
                  <a:srgbClr val="1D3557"/>
                </a:solidFill>
                <a:latin typeface="Be Vietnam Pro" pitchFamily="34" charset="0"/>
                <a:ea typeface="Be Vietnam Pro" pitchFamily="34" charset="-122"/>
                <a:cs typeface="Be Vietnam Pro" pitchFamily="34" charset="-120"/>
              </a:rPr>
              <a:t>Smart cities have challenges too</a:t>
            </a:r>
            <a:endParaRPr lang="en-US" sz="2000" dirty="0"/>
          </a:p>
        </p:txBody>
      </p:sp>
      <p:sp>
        <p:nvSpPr>
          <p:cNvPr id="4" name="Shape 2"/>
          <p:cNvSpPr/>
          <p:nvPr/>
        </p:nvSpPr>
        <p:spPr>
          <a:xfrm>
            <a:off x="819150" y="1680170"/>
            <a:ext cx="4927600" cy="1015901"/>
          </a:xfrm>
          <a:prstGeom prst="roundRect">
            <a:avLst>
              <a:gd name="adj" fmla="val 11876"/>
            </a:avLst>
          </a:prstGeom>
          <a:solidFill>
            <a:srgbClr val="FFFEFB"/>
          </a:solidFill>
          <a:ln w="12700">
            <a:solidFill>
              <a:srgbClr val="DCE5E8"/>
            </a:solidFill>
            <a:prstDash val="solid"/>
          </a:ln>
        </p:spPr>
      </p:sp>
      <p:sp>
        <p:nvSpPr>
          <p:cNvPr id="5" name="Text 3"/>
          <p:cNvSpPr/>
          <p:nvPr/>
        </p:nvSpPr>
        <p:spPr>
          <a:xfrm>
            <a:off x="1003300" y="1813520"/>
            <a:ext cx="4696079" cy="238720"/>
          </a:xfrm>
          <a:prstGeom prst="rect">
            <a:avLst/>
          </a:prstGeom>
          <a:noFill/>
          <a:ln/>
        </p:spPr>
        <p:txBody>
          <a:bodyPr wrap="square" lIns="0" tIns="0" rIns="0" bIns="0" rtlCol="0" anchor="t">
            <a:normAutofit/>
          </a:bodyPr>
          <a:lstStyle/>
          <a:p>
            <a:pPr marL="0" indent="0" algn="l">
              <a:lnSpc>
                <a:spcPts val="1680"/>
              </a:lnSpc>
              <a:buNone/>
            </a:pPr>
            <a:r>
              <a:rPr lang="en-US" sz="2000" b="1" kern="0" spc="150" dirty="0">
                <a:solidFill>
                  <a:srgbClr val="B4500F"/>
                </a:solidFill>
                <a:latin typeface="Nunito Sans" pitchFamily="34" charset="0"/>
                <a:ea typeface="Nunito Sans" pitchFamily="34" charset="-122"/>
                <a:cs typeface="Nunito Sans" pitchFamily="34" charset="-120"/>
              </a:rPr>
              <a:t>PRIVACY</a:t>
            </a:r>
            <a:endParaRPr lang="en-US" sz="2000" dirty="0"/>
          </a:p>
        </p:txBody>
      </p:sp>
      <p:sp>
        <p:nvSpPr>
          <p:cNvPr id="6" name="Text 4"/>
          <p:cNvSpPr/>
          <p:nvPr/>
        </p:nvSpPr>
        <p:spPr>
          <a:xfrm>
            <a:off x="1003300" y="2064941"/>
            <a:ext cx="4696079" cy="523180"/>
          </a:xfrm>
          <a:prstGeom prst="rect">
            <a:avLst/>
          </a:prstGeom>
          <a:noFill/>
          <a:ln/>
        </p:spPr>
        <p:txBody>
          <a:bodyPr wrap="square" lIns="0" tIns="0" rIns="0" bIns="0" rtlCol="0" anchor="t">
            <a:normAutofit/>
          </a:bodyPr>
          <a:lstStyle/>
          <a:p>
            <a:pPr marL="0" indent="0" algn="l">
              <a:lnSpc>
                <a:spcPts val="1960"/>
              </a:lnSpc>
              <a:buNone/>
            </a:pPr>
            <a:r>
              <a:rPr lang="en-US" sz="2000" dirty="0">
                <a:solidFill>
                  <a:srgbClr val="2A3646"/>
                </a:solidFill>
                <a:latin typeface="Nunito Sans" pitchFamily="34" charset="0"/>
                <a:ea typeface="Nunito Sans" pitchFamily="34" charset="-122"/>
                <a:cs typeface="Nunito Sans" pitchFamily="34" charset="-120"/>
              </a:rPr>
              <a:t>Cameras and sensors are everywhere, so people may lose their privacy.</a:t>
            </a:r>
            <a:endParaRPr lang="en-US" sz="2000" dirty="0"/>
          </a:p>
        </p:txBody>
      </p:sp>
      <p:pic>
        <p:nvPicPr>
          <p:cNvPr id="7" name="Image 0" descr="arrow-right"/>
          <p:cNvPicPr>
            <a:picLocks noChangeAspect="1"/>
          </p:cNvPicPr>
          <p:nvPr/>
        </p:nvPicPr>
        <p:blipFill>
          <a:blip r:embed="rId3"/>
          <a:srcRect/>
          <a:stretch/>
        </p:blipFill>
        <p:spPr>
          <a:xfrm>
            <a:off x="5905500" y="2086521"/>
            <a:ext cx="406400" cy="203200"/>
          </a:xfrm>
          <a:prstGeom prst="rect">
            <a:avLst/>
          </a:prstGeom>
        </p:spPr>
      </p:pic>
      <p:sp>
        <p:nvSpPr>
          <p:cNvPr id="8" name="Shape 5"/>
          <p:cNvSpPr/>
          <p:nvPr/>
        </p:nvSpPr>
        <p:spPr>
          <a:xfrm>
            <a:off x="6464300" y="1686520"/>
            <a:ext cx="4914900" cy="1003201"/>
          </a:xfrm>
          <a:prstGeom prst="roundRect">
            <a:avLst>
              <a:gd name="adj" fmla="val 12659"/>
            </a:avLst>
          </a:prstGeom>
          <a:solidFill>
            <a:srgbClr val="EEF4F3"/>
          </a:solidFill>
          <a:ln/>
        </p:spPr>
      </p:sp>
      <p:sp>
        <p:nvSpPr>
          <p:cNvPr id="9" name="Text 6"/>
          <p:cNvSpPr/>
          <p:nvPr/>
        </p:nvSpPr>
        <p:spPr>
          <a:xfrm>
            <a:off x="6642100" y="1813520"/>
            <a:ext cx="4696079" cy="238720"/>
          </a:xfrm>
          <a:prstGeom prst="rect">
            <a:avLst/>
          </a:prstGeom>
          <a:noFill/>
          <a:ln/>
        </p:spPr>
        <p:txBody>
          <a:bodyPr wrap="square" lIns="0" tIns="0" rIns="0" bIns="0" rtlCol="0" anchor="t">
            <a:normAutofit/>
          </a:bodyPr>
          <a:lstStyle/>
          <a:p>
            <a:pPr marL="0" indent="0" algn="l">
              <a:lnSpc>
                <a:spcPts val="1680"/>
              </a:lnSpc>
              <a:buNone/>
            </a:pPr>
            <a:r>
              <a:rPr lang="en-US" sz="2000" b="1" kern="0" spc="150" dirty="0">
                <a:solidFill>
                  <a:srgbClr val="117279"/>
                </a:solidFill>
                <a:latin typeface="Nunito Sans" pitchFamily="34" charset="0"/>
                <a:ea typeface="Nunito Sans" pitchFamily="34" charset="-122"/>
                <a:cs typeface="Nunito Sans" pitchFamily="34" charset="-120"/>
              </a:rPr>
              <a:t>SOLUTION</a:t>
            </a:r>
            <a:endParaRPr lang="en-US" sz="2000" dirty="0"/>
          </a:p>
        </p:txBody>
      </p:sp>
      <p:sp>
        <p:nvSpPr>
          <p:cNvPr id="10" name="Text 7"/>
          <p:cNvSpPr/>
          <p:nvPr/>
        </p:nvSpPr>
        <p:spPr>
          <a:xfrm>
            <a:off x="6642100" y="2064941"/>
            <a:ext cx="4696079" cy="523180"/>
          </a:xfrm>
          <a:prstGeom prst="rect">
            <a:avLst/>
          </a:prstGeom>
          <a:noFill/>
          <a:ln/>
        </p:spPr>
        <p:txBody>
          <a:bodyPr wrap="square" lIns="0" tIns="0" rIns="0" bIns="0" rtlCol="0" anchor="t">
            <a:normAutofit/>
          </a:bodyPr>
          <a:lstStyle/>
          <a:p>
            <a:pPr marL="0" indent="0" algn="l">
              <a:lnSpc>
                <a:spcPts val="1960"/>
              </a:lnSpc>
              <a:buNone/>
            </a:pPr>
            <a:r>
              <a:rPr lang="en-US" sz="2000" dirty="0">
                <a:solidFill>
                  <a:srgbClr val="2A3646"/>
                </a:solidFill>
                <a:latin typeface="Nunito Sans" pitchFamily="34" charset="0"/>
                <a:ea typeface="Nunito Sans" pitchFamily="34" charset="-122"/>
                <a:cs typeface="Nunito Sans" pitchFamily="34" charset="-120"/>
              </a:rPr>
              <a:t>Make clear rules for collecting and protecting personal information.</a:t>
            </a:r>
            <a:endParaRPr lang="en-US" sz="2000" dirty="0"/>
          </a:p>
        </p:txBody>
      </p:sp>
      <p:sp>
        <p:nvSpPr>
          <p:cNvPr id="11" name="Shape 8"/>
          <p:cNvSpPr/>
          <p:nvPr/>
        </p:nvSpPr>
        <p:spPr>
          <a:xfrm>
            <a:off x="819150" y="2810371"/>
            <a:ext cx="4927600" cy="1015901"/>
          </a:xfrm>
          <a:prstGeom prst="roundRect">
            <a:avLst>
              <a:gd name="adj" fmla="val 11876"/>
            </a:avLst>
          </a:prstGeom>
          <a:solidFill>
            <a:srgbClr val="FFFEFB"/>
          </a:solidFill>
          <a:ln w="12700">
            <a:solidFill>
              <a:srgbClr val="DCE5E8"/>
            </a:solidFill>
            <a:prstDash val="solid"/>
          </a:ln>
        </p:spPr>
      </p:sp>
      <p:sp>
        <p:nvSpPr>
          <p:cNvPr id="12" name="Text 9"/>
          <p:cNvSpPr/>
          <p:nvPr/>
        </p:nvSpPr>
        <p:spPr>
          <a:xfrm>
            <a:off x="1003300" y="2943721"/>
            <a:ext cx="4696079" cy="238720"/>
          </a:xfrm>
          <a:prstGeom prst="rect">
            <a:avLst/>
          </a:prstGeom>
          <a:noFill/>
          <a:ln/>
        </p:spPr>
        <p:txBody>
          <a:bodyPr wrap="square" lIns="0" tIns="0" rIns="0" bIns="0" rtlCol="0" anchor="t">
            <a:normAutofit/>
          </a:bodyPr>
          <a:lstStyle/>
          <a:p>
            <a:pPr marL="0" indent="0" algn="l">
              <a:lnSpc>
                <a:spcPts val="1680"/>
              </a:lnSpc>
              <a:buNone/>
            </a:pPr>
            <a:r>
              <a:rPr lang="en-US" sz="2000" b="1" kern="0" spc="150" dirty="0">
                <a:solidFill>
                  <a:srgbClr val="B4500F"/>
                </a:solidFill>
                <a:latin typeface="Nunito Sans" pitchFamily="34" charset="0"/>
                <a:ea typeface="Nunito Sans" pitchFamily="34" charset="-122"/>
                <a:cs typeface="Nunito Sans" pitchFamily="34" charset="-120"/>
              </a:rPr>
              <a:t>NEW TECHNOLOGY</a:t>
            </a:r>
            <a:endParaRPr lang="en-US" sz="2000" dirty="0"/>
          </a:p>
        </p:txBody>
      </p:sp>
      <p:sp>
        <p:nvSpPr>
          <p:cNvPr id="13" name="Text 10"/>
          <p:cNvSpPr/>
          <p:nvPr/>
        </p:nvSpPr>
        <p:spPr>
          <a:xfrm>
            <a:off x="1003300" y="3195141"/>
            <a:ext cx="4696079" cy="523180"/>
          </a:xfrm>
          <a:prstGeom prst="rect">
            <a:avLst/>
          </a:prstGeom>
          <a:noFill/>
          <a:ln/>
        </p:spPr>
        <p:txBody>
          <a:bodyPr wrap="square" lIns="0" tIns="0" rIns="0" bIns="0" rtlCol="0" anchor="t">
            <a:normAutofit/>
          </a:bodyPr>
          <a:lstStyle/>
          <a:p>
            <a:pPr marL="0" indent="0" algn="l">
              <a:lnSpc>
                <a:spcPts val="1960"/>
              </a:lnSpc>
              <a:buNone/>
            </a:pPr>
            <a:r>
              <a:rPr lang="en-US" sz="2000" dirty="0">
                <a:solidFill>
                  <a:srgbClr val="2A3646"/>
                </a:solidFill>
                <a:latin typeface="Nunito Sans" pitchFamily="34" charset="0"/>
                <a:ea typeface="Nunito Sans" pitchFamily="34" charset="-122"/>
                <a:cs typeface="Nunito Sans" pitchFamily="34" charset="-120"/>
              </a:rPr>
              <a:t>Some people find it hard to get familiar with smart devices.</a:t>
            </a:r>
            <a:endParaRPr lang="en-US" sz="2000" dirty="0"/>
          </a:p>
        </p:txBody>
      </p:sp>
      <p:pic>
        <p:nvPicPr>
          <p:cNvPr id="14" name="Image 1" descr="arrow-right"/>
          <p:cNvPicPr>
            <a:picLocks noChangeAspect="1"/>
          </p:cNvPicPr>
          <p:nvPr/>
        </p:nvPicPr>
        <p:blipFill>
          <a:blip r:embed="rId3"/>
          <a:srcRect/>
          <a:stretch/>
        </p:blipFill>
        <p:spPr>
          <a:xfrm>
            <a:off x="5905500" y="3216721"/>
            <a:ext cx="406400" cy="203200"/>
          </a:xfrm>
          <a:prstGeom prst="rect">
            <a:avLst/>
          </a:prstGeom>
        </p:spPr>
      </p:pic>
      <p:sp>
        <p:nvSpPr>
          <p:cNvPr id="15" name="Shape 11"/>
          <p:cNvSpPr/>
          <p:nvPr/>
        </p:nvSpPr>
        <p:spPr>
          <a:xfrm>
            <a:off x="6464300" y="2816721"/>
            <a:ext cx="4914900" cy="1003201"/>
          </a:xfrm>
          <a:prstGeom prst="roundRect">
            <a:avLst>
              <a:gd name="adj" fmla="val 12659"/>
            </a:avLst>
          </a:prstGeom>
          <a:solidFill>
            <a:srgbClr val="EEF4F3"/>
          </a:solidFill>
          <a:ln/>
        </p:spPr>
      </p:sp>
      <p:sp>
        <p:nvSpPr>
          <p:cNvPr id="16" name="Text 12"/>
          <p:cNvSpPr/>
          <p:nvPr/>
        </p:nvSpPr>
        <p:spPr>
          <a:xfrm>
            <a:off x="6642100" y="2943721"/>
            <a:ext cx="4696079" cy="238720"/>
          </a:xfrm>
          <a:prstGeom prst="rect">
            <a:avLst/>
          </a:prstGeom>
          <a:noFill/>
          <a:ln/>
        </p:spPr>
        <p:txBody>
          <a:bodyPr wrap="square" lIns="0" tIns="0" rIns="0" bIns="0" rtlCol="0" anchor="t">
            <a:normAutofit/>
          </a:bodyPr>
          <a:lstStyle/>
          <a:p>
            <a:pPr marL="0" indent="0" algn="l">
              <a:lnSpc>
                <a:spcPts val="1680"/>
              </a:lnSpc>
              <a:buNone/>
            </a:pPr>
            <a:r>
              <a:rPr lang="en-US" sz="2000" b="1" kern="0" spc="150" dirty="0">
                <a:solidFill>
                  <a:srgbClr val="117279"/>
                </a:solidFill>
                <a:latin typeface="Nunito Sans" pitchFamily="34" charset="0"/>
                <a:ea typeface="Nunito Sans" pitchFamily="34" charset="-122"/>
                <a:cs typeface="Nunito Sans" pitchFamily="34" charset="-120"/>
              </a:rPr>
              <a:t>SOLUTION</a:t>
            </a:r>
            <a:endParaRPr lang="en-US" sz="2000" dirty="0"/>
          </a:p>
        </p:txBody>
      </p:sp>
      <p:sp>
        <p:nvSpPr>
          <p:cNvPr id="17" name="Text 13"/>
          <p:cNvSpPr/>
          <p:nvPr/>
        </p:nvSpPr>
        <p:spPr>
          <a:xfrm>
            <a:off x="6642100" y="3195141"/>
            <a:ext cx="4696079" cy="523180"/>
          </a:xfrm>
          <a:prstGeom prst="rect">
            <a:avLst/>
          </a:prstGeom>
          <a:noFill/>
          <a:ln/>
        </p:spPr>
        <p:txBody>
          <a:bodyPr wrap="square" lIns="0" tIns="0" rIns="0" bIns="0" rtlCol="0" anchor="t">
            <a:normAutofit/>
          </a:bodyPr>
          <a:lstStyle/>
          <a:p>
            <a:pPr marL="0" indent="0" algn="l">
              <a:lnSpc>
                <a:spcPts val="1960"/>
              </a:lnSpc>
              <a:buNone/>
            </a:pPr>
            <a:r>
              <a:rPr lang="en-US" sz="2000" dirty="0">
                <a:solidFill>
                  <a:srgbClr val="2A3646"/>
                </a:solidFill>
                <a:latin typeface="Nunito Sans" pitchFamily="34" charset="0"/>
                <a:ea typeface="Nunito Sans" pitchFamily="34" charset="-122"/>
                <a:cs typeface="Nunito Sans" pitchFamily="34" charset="-120"/>
              </a:rPr>
              <a:t>Offer weekly training for residents, especially older people.</a:t>
            </a:r>
            <a:endParaRPr lang="en-US" sz="2000" dirty="0"/>
          </a:p>
        </p:txBody>
      </p:sp>
      <p:sp>
        <p:nvSpPr>
          <p:cNvPr id="18" name="Shape 14"/>
          <p:cNvSpPr/>
          <p:nvPr/>
        </p:nvSpPr>
        <p:spPr>
          <a:xfrm>
            <a:off x="819150" y="3940572"/>
            <a:ext cx="4927600" cy="1015901"/>
          </a:xfrm>
          <a:prstGeom prst="roundRect">
            <a:avLst>
              <a:gd name="adj" fmla="val 11876"/>
            </a:avLst>
          </a:prstGeom>
          <a:solidFill>
            <a:srgbClr val="FFFEFB"/>
          </a:solidFill>
          <a:ln w="12700">
            <a:solidFill>
              <a:srgbClr val="DCE5E8"/>
            </a:solidFill>
            <a:prstDash val="solid"/>
          </a:ln>
        </p:spPr>
      </p:sp>
      <p:sp>
        <p:nvSpPr>
          <p:cNvPr id="19" name="Text 15"/>
          <p:cNvSpPr/>
          <p:nvPr/>
        </p:nvSpPr>
        <p:spPr>
          <a:xfrm>
            <a:off x="1003300" y="4073922"/>
            <a:ext cx="4696079" cy="238720"/>
          </a:xfrm>
          <a:prstGeom prst="rect">
            <a:avLst/>
          </a:prstGeom>
          <a:noFill/>
          <a:ln/>
        </p:spPr>
        <p:txBody>
          <a:bodyPr wrap="square" lIns="0" tIns="0" rIns="0" bIns="0" rtlCol="0" anchor="t">
            <a:normAutofit/>
          </a:bodyPr>
          <a:lstStyle/>
          <a:p>
            <a:pPr marL="0" indent="0" algn="l">
              <a:lnSpc>
                <a:spcPts val="1680"/>
              </a:lnSpc>
              <a:buNone/>
            </a:pPr>
            <a:r>
              <a:rPr lang="en-US" sz="2000" b="1" kern="0" spc="150" dirty="0">
                <a:solidFill>
                  <a:srgbClr val="B4500F"/>
                </a:solidFill>
                <a:latin typeface="Nunito Sans" pitchFamily="34" charset="0"/>
                <a:ea typeface="Nunito Sans" pitchFamily="34" charset="-122"/>
                <a:cs typeface="Nunito Sans" pitchFamily="34" charset="-120"/>
              </a:rPr>
              <a:t>LONELINESS</a:t>
            </a:r>
            <a:endParaRPr lang="en-US" sz="2000" dirty="0"/>
          </a:p>
        </p:txBody>
      </p:sp>
      <p:sp>
        <p:nvSpPr>
          <p:cNvPr id="20" name="Text 16"/>
          <p:cNvSpPr/>
          <p:nvPr/>
        </p:nvSpPr>
        <p:spPr>
          <a:xfrm>
            <a:off x="1003300" y="4325342"/>
            <a:ext cx="4696079" cy="523180"/>
          </a:xfrm>
          <a:prstGeom prst="rect">
            <a:avLst/>
          </a:prstGeom>
          <a:noFill/>
          <a:ln/>
        </p:spPr>
        <p:txBody>
          <a:bodyPr wrap="square" lIns="0" tIns="0" rIns="0" bIns="0" rtlCol="0" anchor="t">
            <a:normAutofit/>
          </a:bodyPr>
          <a:lstStyle/>
          <a:p>
            <a:pPr marL="0" indent="0" algn="l">
              <a:lnSpc>
                <a:spcPts val="1960"/>
              </a:lnSpc>
              <a:buNone/>
            </a:pPr>
            <a:r>
              <a:rPr lang="en-US" sz="2000" dirty="0">
                <a:solidFill>
                  <a:srgbClr val="2A3646"/>
                </a:solidFill>
                <a:latin typeface="Nunito Sans" pitchFamily="34" charset="0"/>
                <a:ea typeface="Nunito Sans" pitchFamily="34" charset="-122"/>
                <a:cs typeface="Nunito Sans" pitchFamily="34" charset="-120"/>
              </a:rPr>
              <a:t>Robots do the chores and people interact face to face less, so some feel lonely.</a:t>
            </a:r>
            <a:endParaRPr lang="en-US" sz="2000" dirty="0"/>
          </a:p>
        </p:txBody>
      </p:sp>
      <p:pic>
        <p:nvPicPr>
          <p:cNvPr id="21" name="Image 2" descr="arrow-right"/>
          <p:cNvPicPr>
            <a:picLocks noChangeAspect="1"/>
          </p:cNvPicPr>
          <p:nvPr/>
        </p:nvPicPr>
        <p:blipFill>
          <a:blip r:embed="rId3"/>
          <a:srcRect/>
          <a:stretch/>
        </p:blipFill>
        <p:spPr>
          <a:xfrm>
            <a:off x="5905500" y="4346922"/>
            <a:ext cx="406400" cy="203200"/>
          </a:xfrm>
          <a:prstGeom prst="rect">
            <a:avLst/>
          </a:prstGeom>
        </p:spPr>
      </p:pic>
      <p:sp>
        <p:nvSpPr>
          <p:cNvPr id="22" name="Shape 17"/>
          <p:cNvSpPr/>
          <p:nvPr/>
        </p:nvSpPr>
        <p:spPr>
          <a:xfrm>
            <a:off x="6464300" y="3946922"/>
            <a:ext cx="4914900" cy="1003201"/>
          </a:xfrm>
          <a:prstGeom prst="roundRect">
            <a:avLst>
              <a:gd name="adj" fmla="val 12659"/>
            </a:avLst>
          </a:prstGeom>
          <a:solidFill>
            <a:srgbClr val="EEF4F3"/>
          </a:solidFill>
          <a:ln/>
        </p:spPr>
      </p:sp>
      <p:sp>
        <p:nvSpPr>
          <p:cNvPr id="23" name="Text 18"/>
          <p:cNvSpPr/>
          <p:nvPr/>
        </p:nvSpPr>
        <p:spPr>
          <a:xfrm>
            <a:off x="6642100" y="4073922"/>
            <a:ext cx="4696079" cy="238720"/>
          </a:xfrm>
          <a:prstGeom prst="rect">
            <a:avLst/>
          </a:prstGeom>
          <a:noFill/>
          <a:ln/>
        </p:spPr>
        <p:txBody>
          <a:bodyPr wrap="square" lIns="0" tIns="0" rIns="0" bIns="0" rtlCol="0" anchor="t">
            <a:normAutofit/>
          </a:bodyPr>
          <a:lstStyle/>
          <a:p>
            <a:pPr marL="0" indent="0" algn="l">
              <a:lnSpc>
                <a:spcPts val="1680"/>
              </a:lnSpc>
              <a:buNone/>
            </a:pPr>
            <a:r>
              <a:rPr lang="en-US" sz="2000" b="1" kern="0" spc="150" dirty="0">
                <a:solidFill>
                  <a:srgbClr val="117279"/>
                </a:solidFill>
                <a:latin typeface="Nunito Sans" pitchFamily="34" charset="0"/>
                <a:ea typeface="Nunito Sans" pitchFamily="34" charset="-122"/>
                <a:cs typeface="Nunito Sans" pitchFamily="34" charset="-120"/>
              </a:rPr>
              <a:t>SOLUTION</a:t>
            </a:r>
            <a:endParaRPr lang="en-US" sz="2000" dirty="0"/>
          </a:p>
        </p:txBody>
      </p:sp>
      <p:sp>
        <p:nvSpPr>
          <p:cNvPr id="24" name="Text 19"/>
          <p:cNvSpPr/>
          <p:nvPr/>
        </p:nvSpPr>
        <p:spPr>
          <a:xfrm>
            <a:off x="6642100" y="4325342"/>
            <a:ext cx="4696079" cy="523180"/>
          </a:xfrm>
          <a:prstGeom prst="rect">
            <a:avLst/>
          </a:prstGeom>
          <a:noFill/>
          <a:ln/>
        </p:spPr>
        <p:txBody>
          <a:bodyPr wrap="square" lIns="0" tIns="0" rIns="0" bIns="0" rtlCol="0" anchor="t">
            <a:noAutofit/>
          </a:bodyPr>
          <a:lstStyle/>
          <a:p>
            <a:pPr marL="0" indent="0" algn="l">
              <a:lnSpc>
                <a:spcPts val="1960"/>
              </a:lnSpc>
              <a:buNone/>
            </a:pPr>
            <a:r>
              <a:rPr lang="en-US" sz="2000" dirty="0">
                <a:solidFill>
                  <a:srgbClr val="2A3646"/>
                </a:solidFill>
                <a:latin typeface="Nunito Sans" pitchFamily="34" charset="0"/>
                <a:ea typeface="Nunito Sans" pitchFamily="34" charset="-122"/>
                <a:cs typeface="Nunito Sans" pitchFamily="34" charset="-120"/>
              </a:rPr>
              <a:t>Create community events and shared spaces, such as parks and community centres.</a:t>
            </a:r>
            <a:endParaRPr lang="en-US" sz="2000" dirty="0"/>
          </a:p>
        </p:txBody>
      </p:sp>
      <p:sp>
        <p:nvSpPr>
          <p:cNvPr id="25" name="Shape 20"/>
          <p:cNvSpPr/>
          <p:nvPr/>
        </p:nvSpPr>
        <p:spPr>
          <a:xfrm>
            <a:off x="812800" y="5166023"/>
            <a:ext cx="10566400" cy="553690"/>
          </a:xfrm>
          <a:prstGeom prst="roundRect">
            <a:avLst>
              <a:gd name="adj" fmla="val 22937"/>
            </a:avLst>
          </a:prstGeom>
          <a:solidFill>
            <a:srgbClr val="FCEBDD"/>
          </a:solidFill>
          <a:ln/>
        </p:spPr>
      </p:sp>
      <p:sp>
        <p:nvSpPr>
          <p:cNvPr id="26" name="Text 21"/>
          <p:cNvSpPr/>
          <p:nvPr/>
        </p:nvSpPr>
        <p:spPr>
          <a:xfrm>
            <a:off x="1041400" y="5336183"/>
            <a:ext cx="1695648" cy="238720"/>
          </a:xfrm>
          <a:prstGeom prst="rect">
            <a:avLst/>
          </a:prstGeom>
          <a:noFill/>
          <a:ln/>
        </p:spPr>
        <p:txBody>
          <a:bodyPr wrap="none" lIns="0" tIns="0" rIns="0" bIns="0" rtlCol="0" anchor="t">
            <a:normAutofit/>
          </a:bodyPr>
          <a:lstStyle/>
          <a:p>
            <a:pPr marL="0" indent="0" algn="l">
              <a:lnSpc>
                <a:spcPts val="1680"/>
              </a:lnSpc>
              <a:buNone/>
            </a:pPr>
            <a:r>
              <a:rPr lang="en-US" sz="2000" b="1" kern="0" spc="150" dirty="0">
                <a:solidFill>
                  <a:srgbClr val="B4500F"/>
                </a:solidFill>
                <a:latin typeface="Nunito Sans" pitchFamily="34" charset="0"/>
                <a:ea typeface="Nunito Sans" pitchFamily="34" charset="-122"/>
                <a:cs typeface="Nunito Sans" pitchFamily="34" charset="-120"/>
              </a:rPr>
              <a:t>SENTENCE FRAME</a:t>
            </a:r>
            <a:endParaRPr lang="en-US" sz="2000" dirty="0"/>
          </a:p>
        </p:txBody>
      </p:sp>
      <p:sp>
        <p:nvSpPr>
          <p:cNvPr id="27" name="Text 22"/>
          <p:cNvSpPr/>
          <p:nvPr/>
        </p:nvSpPr>
        <p:spPr>
          <a:xfrm>
            <a:off x="2813248" y="5318423"/>
            <a:ext cx="6619815" cy="274290"/>
          </a:xfrm>
          <a:prstGeom prst="rect">
            <a:avLst/>
          </a:prstGeom>
          <a:noFill/>
          <a:ln/>
        </p:spPr>
        <p:txBody>
          <a:bodyPr wrap="square" lIns="0" tIns="0" rIns="0" bIns="0" rtlCol="0" anchor="t">
            <a:noAutofit/>
          </a:bodyPr>
          <a:lstStyle/>
          <a:p>
            <a:pPr marL="0" indent="0" algn="l">
              <a:lnSpc>
                <a:spcPts val="1960"/>
              </a:lnSpc>
              <a:buNone/>
            </a:pPr>
            <a:r>
              <a:rPr lang="en-US" sz="2000" dirty="0">
                <a:solidFill>
                  <a:srgbClr val="2A3646"/>
                </a:solidFill>
                <a:latin typeface="Nunito Sans" pitchFamily="34" charset="0"/>
                <a:ea typeface="Nunito Sans" pitchFamily="34" charset="-122"/>
                <a:cs typeface="Nunito Sans" pitchFamily="34" charset="-120"/>
              </a:rPr>
              <a:t>One disadvantage is that ______. To solve this, the city should ______.</a:t>
            </a:r>
            <a:endParaRPr lang="en-US"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EF4F3"/>
        </a:solidFill>
        <a:effectLst/>
      </p:bgPr>
    </p:bg>
    <p:spTree>
      <p:nvGrpSpPr>
        <p:cNvPr id="1" name=""/>
        <p:cNvGrpSpPr/>
        <p:nvPr/>
      </p:nvGrpSpPr>
      <p:grpSpPr>
        <a:xfrm>
          <a:off x="0" y="0"/>
          <a:ext cx="0" cy="0"/>
          <a:chOff x="0" y="0"/>
          <a:chExt cx="0" cy="0"/>
        </a:xfrm>
      </p:grpSpPr>
      <p:sp>
        <p:nvSpPr>
          <p:cNvPr id="2" name="Text 0"/>
          <p:cNvSpPr/>
          <p:nvPr/>
        </p:nvSpPr>
        <p:spPr>
          <a:xfrm>
            <a:off x="812800" y="7620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17279"/>
                </a:solidFill>
                <a:latin typeface="Nunito Sans" pitchFamily="34" charset="0"/>
                <a:ea typeface="Nunito Sans" pitchFamily="34" charset="-122"/>
                <a:cs typeface="Nunito Sans" pitchFamily="34" charset="-120"/>
              </a:rPr>
              <a:t>LOCAL CONNECTION</a:t>
            </a:r>
            <a:endParaRPr lang="en-US" sz="1200" dirty="0"/>
          </a:p>
        </p:txBody>
      </p:sp>
      <p:sp>
        <p:nvSpPr>
          <p:cNvPr id="3" name="Text 1"/>
          <p:cNvSpPr>
            <a:spLocks noGrp="1"/>
          </p:cNvSpPr>
          <p:nvPr>
            <p:ph type="title"/>
          </p:nvPr>
        </p:nvSpPr>
        <p:spPr>
          <a:xfrm>
            <a:off x="812800" y="10515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D3557"/>
                </a:solidFill>
                <a:latin typeface="Be Vietnam Pro" pitchFamily="34" charset="0"/>
                <a:ea typeface="Be Vietnam Pro" pitchFamily="34" charset="-122"/>
                <a:cs typeface="Be Vietnam Pro" pitchFamily="34" charset="-120"/>
              </a:rPr>
              <a:t>Our city: now and in 2050</a:t>
            </a:r>
            <a:endParaRPr lang="en-US" sz="3000" dirty="0"/>
          </a:p>
        </p:txBody>
      </p:sp>
      <p:sp>
        <p:nvSpPr>
          <p:cNvPr id="4" name="Text 2"/>
          <p:cNvSpPr/>
          <p:nvPr/>
        </p:nvSpPr>
        <p:spPr>
          <a:xfrm>
            <a:off x="812800" y="154682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D6877"/>
                </a:solidFill>
                <a:latin typeface="Nunito Sans" pitchFamily="34" charset="0"/>
                <a:ea typeface="Nunito Sans" pitchFamily="34" charset="-122"/>
                <a:cs typeface="Nunito Sans" pitchFamily="34" charset="-120"/>
              </a:rPr>
              <a:t>Think about Hanoi, Ho Chi Minh City or your own city.</a:t>
            </a:r>
            <a:endParaRPr lang="en-US" sz="1400" dirty="0"/>
          </a:p>
        </p:txBody>
      </p:sp>
      <p:sp>
        <p:nvSpPr>
          <p:cNvPr id="5" name="Shape 3"/>
          <p:cNvSpPr/>
          <p:nvPr/>
        </p:nvSpPr>
        <p:spPr>
          <a:xfrm>
            <a:off x="812800" y="2049711"/>
            <a:ext cx="10566400" cy="2670671"/>
          </a:xfrm>
          <a:custGeom>
            <a:avLst/>
            <a:gdLst/>
            <a:ahLst/>
            <a:cxnLst/>
            <a:rect l="l" t="t" r="r" b="b"/>
            <a:pathLst>
              <a:path w="10566400" h="2670671">
                <a:moveTo>
                  <a:pt x="10464800" y="0"/>
                </a:moveTo>
                <a:lnTo>
                  <a:pt x="10464800" y="0"/>
                </a:lnTo>
                <a:arcTo wR="101600" hR="101600" stAng="16200000" swAng="5400000"/>
                <a:lnTo>
                  <a:pt x="10566400" y="2569071"/>
                </a:lnTo>
                <a:arcTo wR="101600" hR="101600" stAng="0" swAng="5400000"/>
                <a:lnTo>
                  <a:pt x="101600" y="2670671"/>
                </a:lnTo>
                <a:arcTo wR="101600" hR="101600" stAng="5400000" swAng="5400000"/>
                <a:lnTo>
                  <a:pt x="0" y="2569071"/>
                </a:lnTo>
                <a:arcTo wR="101600" hR="88900" stAng="10800000" swAng="-5400000"/>
                <a:lnTo>
                  <a:pt x="10464800" y="2657971"/>
                </a:lnTo>
                <a:arcTo wR="88900" hR="88900" stAng="5400000" swAng="-5400000"/>
                <a:lnTo>
                  <a:pt x="10553700" y="101600"/>
                </a:lnTo>
                <a:arcTo wR="88900" hR="101600" stAng="0" swAng="-5400000"/>
                <a:close/>
              </a:path>
            </a:pathLst>
          </a:custGeom>
          <a:solidFill>
            <a:srgbClr val="DCE5E8"/>
          </a:solidFill>
          <a:ln/>
        </p:spPr>
      </p:sp>
      <p:sp>
        <p:nvSpPr>
          <p:cNvPr id="6" name="Shape 4"/>
          <p:cNvSpPr/>
          <p:nvPr/>
        </p:nvSpPr>
        <p:spPr>
          <a:xfrm>
            <a:off x="812800" y="2049711"/>
            <a:ext cx="10566400" cy="2670671"/>
          </a:xfrm>
          <a:custGeom>
            <a:avLst/>
            <a:gdLst/>
            <a:ahLst/>
            <a:cxnLst/>
            <a:rect l="l" t="t" r="r" b="b"/>
            <a:pathLst>
              <a:path w="10566400" h="2670671">
                <a:moveTo>
                  <a:pt x="101600" y="2670671"/>
                </a:moveTo>
                <a:lnTo>
                  <a:pt x="101600" y="2670671"/>
                </a:lnTo>
                <a:arcTo wR="101600" hR="101600" stAng="5400000" swAng="5400000"/>
                <a:lnTo>
                  <a:pt x="0" y="101600"/>
                </a:lnTo>
                <a:arcTo wR="101600" hR="101600" stAng="10800000" swAng="5400000"/>
                <a:lnTo>
                  <a:pt x="10464800" y="0"/>
                </a:lnTo>
                <a:arcTo wR="101600" hR="101600" stAng="16200000" swAng="5400000"/>
                <a:lnTo>
                  <a:pt x="10566400" y="101600"/>
                </a:lnTo>
                <a:arcTo wR="101600" hR="88900" stAng="0" swAng="-5400000"/>
                <a:lnTo>
                  <a:pt x="101600" y="12700"/>
                </a:lnTo>
                <a:arcTo wR="88900" hR="88900" stAng="16200000" swAng="-5400000"/>
                <a:lnTo>
                  <a:pt x="12700" y="2569071"/>
                </a:lnTo>
                <a:arcTo wR="88900" hR="101600" stAng="10800000" swAng="-5400000"/>
                <a:close/>
              </a:path>
            </a:pathLst>
          </a:custGeom>
          <a:solidFill>
            <a:srgbClr val="141413">
              <a:alpha val="22000"/>
            </a:srgbClr>
          </a:solidFill>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5500" y="2062411"/>
          <a:ext cx="10541000" cy="2660630"/>
        </p:xfrm>
        <a:graphic>
          <a:graphicData uri="http://schemas.openxmlformats.org/drawingml/2006/table">
            <a:tbl>
              <a:tblPr/>
              <a:tblGrid>
                <a:gridCol w="2529840">
                  <a:extLst>
                    <a:ext uri="{9D8B030D-6E8A-4147-A177-3AD203B41FA5}">
                      <a16:colId xmlns:a16="http://schemas.microsoft.com/office/drawing/2014/main" val="20000"/>
                    </a:ext>
                  </a:extLst>
                </a:gridCol>
                <a:gridCol w="3583940">
                  <a:extLst>
                    <a:ext uri="{9D8B030D-6E8A-4147-A177-3AD203B41FA5}">
                      <a16:colId xmlns:a16="http://schemas.microsoft.com/office/drawing/2014/main" val="20001"/>
                    </a:ext>
                  </a:extLst>
                </a:gridCol>
                <a:gridCol w="4427220">
                  <a:extLst>
                    <a:ext uri="{9D8B030D-6E8A-4147-A177-3AD203B41FA5}">
                      <a16:colId xmlns:a16="http://schemas.microsoft.com/office/drawing/2014/main" val="20002"/>
                    </a:ext>
                  </a:extLst>
                </a:gridCol>
              </a:tblGrid>
              <a:tr h="481310">
                <a:tc>
                  <a:txBody>
                    <a:bodyPr/>
                    <a:lstStyle/>
                    <a:p>
                      <a:pPr marL="0" indent="0">
                        <a:lnSpc>
                          <a:spcPts val="1960"/>
                        </a:lnSpc>
                        <a:buNone/>
                      </a:pPr>
                      <a:r>
                        <a:rPr lang="en-US" sz="1400" b="1" dirty="0">
                          <a:solidFill>
                            <a:srgbClr val="F3F1EA"/>
                          </a:solidFill>
                          <a:latin typeface="Nunito Sans" pitchFamily="34" charset="0"/>
                          <a:ea typeface="Nunito Sans" pitchFamily="34" charset="-122"/>
                          <a:cs typeface="Nunito Sans" pitchFamily="34" charset="-120"/>
                        </a:rPr>
                        <a:t>FEATURE</a:t>
                      </a:r>
                      <a:endParaRPr lang="en-US" sz="1400" dirty="0">
                        <a:latin typeface="Nunito Sans" charset="0"/>
                        <a:ea typeface="Nunito Sans" charset="0"/>
                        <a:cs typeface="Nunito Sans" charset="0"/>
                      </a:endParaRPr>
                    </a:p>
                  </a:txBody>
                  <a:tcPr marL="152400" marR="152400" marT="114300" marB="114300">
                    <a:lnL w="0" cap="flat" cmpd="sng" algn="ctr">
                      <a:noFill/>
                    </a:lnL>
                    <a:lnR w="12700" cap="flat" cmpd="sng" algn="ctr">
                      <a:solidFill>
                        <a:srgbClr val="1B2E48"/>
                      </a:solidFill>
                      <a:prstDash val="solid"/>
                      <a:round/>
                      <a:headEnd type="none" w="med" len="med"/>
                      <a:tailEnd type="none" w="med" len="med"/>
                    </a:lnR>
                    <a:lnT w="0" cap="flat" cmpd="sng" algn="ctr">
                      <a:noFill/>
                    </a:lnT>
                    <a:lnB w="12700" cap="flat" cmpd="sng" algn="ctr">
                      <a:solidFill>
                        <a:srgbClr val="1B2E48"/>
                      </a:solidFill>
                      <a:prstDash val="solid"/>
                      <a:round/>
                      <a:headEnd type="none" w="med" len="med"/>
                      <a:tailEnd type="none" w="med" len="med"/>
                    </a:lnB>
                    <a:solidFill>
                      <a:srgbClr val="1D3557"/>
                    </a:solidFill>
                  </a:tcPr>
                </a:tc>
                <a:tc>
                  <a:txBody>
                    <a:bodyPr/>
                    <a:lstStyle/>
                    <a:p>
                      <a:pPr marL="0" indent="0">
                        <a:lnSpc>
                          <a:spcPts val="1960"/>
                        </a:lnSpc>
                        <a:buNone/>
                      </a:pPr>
                      <a:r>
                        <a:rPr lang="en-US" sz="1400" b="1" dirty="0">
                          <a:solidFill>
                            <a:srgbClr val="F3F1EA"/>
                          </a:solidFill>
                          <a:latin typeface="Nunito Sans" pitchFamily="34" charset="0"/>
                          <a:ea typeface="Nunito Sans" pitchFamily="34" charset="-122"/>
                          <a:cs typeface="Nunito Sans" pitchFamily="34" charset="-120"/>
                        </a:rPr>
                        <a:t>NOW</a:t>
                      </a:r>
                      <a:endParaRPr lang="en-US" sz="1400" dirty="0">
                        <a:latin typeface="Nunito Sans" charset="0"/>
                        <a:ea typeface="Nunito Sans" charset="0"/>
                        <a:cs typeface="Nunito Sans" charset="0"/>
                      </a:endParaRPr>
                    </a:p>
                  </a:txBody>
                  <a:tcPr marL="152400" marR="152400" marT="114300" marB="114300">
                    <a:lnL w="12700" cap="flat" cmpd="sng" algn="ctr">
                      <a:solidFill>
                        <a:srgbClr val="1B2E48"/>
                      </a:solidFill>
                      <a:prstDash val="solid"/>
                      <a:round/>
                      <a:headEnd type="none" w="med" len="med"/>
                      <a:tailEnd type="none" w="med" len="med"/>
                    </a:lnL>
                    <a:lnR w="12700" cap="flat" cmpd="sng" algn="ctr">
                      <a:solidFill>
                        <a:srgbClr val="1B2E48"/>
                      </a:solidFill>
                      <a:prstDash val="solid"/>
                      <a:round/>
                      <a:headEnd type="none" w="med" len="med"/>
                      <a:tailEnd type="none" w="med" len="med"/>
                    </a:lnR>
                    <a:lnT w="0" cap="flat" cmpd="sng" algn="ctr">
                      <a:noFill/>
                    </a:lnT>
                    <a:lnB w="12700" cap="flat" cmpd="sng" algn="ctr">
                      <a:solidFill>
                        <a:srgbClr val="1B2E48"/>
                      </a:solidFill>
                      <a:prstDash val="solid"/>
                      <a:round/>
                      <a:headEnd type="none" w="med" len="med"/>
                      <a:tailEnd type="none" w="med" len="med"/>
                    </a:lnB>
                    <a:solidFill>
                      <a:srgbClr val="1D3557"/>
                    </a:solidFill>
                  </a:tcPr>
                </a:tc>
                <a:tc>
                  <a:txBody>
                    <a:bodyPr/>
                    <a:lstStyle/>
                    <a:p>
                      <a:pPr marL="0" indent="0">
                        <a:lnSpc>
                          <a:spcPts val="1960"/>
                        </a:lnSpc>
                        <a:buNone/>
                      </a:pPr>
                      <a:r>
                        <a:rPr lang="en-US" sz="1400" b="1" dirty="0">
                          <a:solidFill>
                            <a:srgbClr val="F3F1EA"/>
                          </a:solidFill>
                          <a:latin typeface="Nunito Sans" pitchFamily="34" charset="0"/>
                          <a:ea typeface="Nunito Sans" pitchFamily="34" charset="-122"/>
                          <a:cs typeface="Nunito Sans" pitchFamily="34" charset="-120"/>
                        </a:rPr>
                        <a:t>IN 2050 (MY PREDICTION)</a:t>
                      </a:r>
                      <a:endParaRPr lang="en-US" sz="1400" dirty="0">
                        <a:latin typeface="Nunito Sans" charset="0"/>
                        <a:ea typeface="Nunito Sans" charset="0"/>
                        <a:cs typeface="Nunito Sans" charset="0"/>
                      </a:endParaRPr>
                    </a:p>
                  </a:txBody>
                  <a:tcPr marL="152400" marR="152400" marT="114300" marB="114300">
                    <a:lnL w="12700" cap="flat" cmpd="sng" algn="ctr">
                      <a:solidFill>
                        <a:srgbClr val="1B2E48"/>
                      </a:solidFill>
                      <a:prstDash val="solid"/>
                      <a:round/>
                      <a:headEnd type="none" w="med" len="med"/>
                      <a:tailEnd type="none" w="med" len="med"/>
                    </a:lnL>
                    <a:lnR w="12700" cap="flat" cmpd="sng" algn="ctr">
                      <a:solidFill>
                        <a:srgbClr val="1B2E48"/>
                      </a:solidFill>
                      <a:prstDash val="solid"/>
                      <a:round/>
                      <a:headEnd type="none" w="med" len="med"/>
                      <a:tailEnd type="none" w="med" len="med"/>
                    </a:lnR>
                    <a:lnT w="0" cap="flat" cmpd="sng" algn="ctr">
                      <a:noFill/>
                    </a:lnT>
                    <a:lnB w="12700" cap="flat" cmpd="sng" algn="ctr">
                      <a:solidFill>
                        <a:srgbClr val="1B2E48"/>
                      </a:solidFill>
                      <a:prstDash val="solid"/>
                      <a:round/>
                      <a:headEnd type="none" w="med" len="med"/>
                      <a:tailEnd type="none" w="med" len="med"/>
                    </a:lnB>
                    <a:solidFill>
                      <a:srgbClr val="1D3557"/>
                    </a:solidFill>
                  </a:tcPr>
                </a:tc>
                <a:extLst>
                  <a:ext uri="{0D108BD9-81ED-4DB2-BD59-A6C34878D82A}">
                    <a16:rowId xmlns:a16="http://schemas.microsoft.com/office/drawing/2014/main" val="10000"/>
                  </a:ext>
                </a:extLst>
              </a:tr>
              <a:tr h="721320">
                <a:tc>
                  <a:txBody>
                    <a:bodyPr/>
                    <a:lstStyle/>
                    <a:p>
                      <a:pPr marL="0" indent="0">
                        <a:lnSpc>
                          <a:spcPts val="1960"/>
                        </a:lnSpc>
                        <a:buNone/>
                      </a:pPr>
                      <a:r>
                        <a:rPr lang="en-US" sz="1400" dirty="0">
                          <a:solidFill>
                            <a:srgbClr val="1D3557"/>
                          </a:solidFill>
                          <a:latin typeface="Nunito Sans" pitchFamily="34" charset="0"/>
                          <a:ea typeface="Nunito Sans" pitchFamily="34" charset="-122"/>
                          <a:cs typeface="Nunito Sans" pitchFamily="34" charset="-120"/>
                        </a:rPr>
                        <a:t>Transport</a:t>
                      </a:r>
                      <a:endParaRPr lang="en-US" sz="1400" dirty="0">
                        <a:latin typeface="Nunito Sans" charset="0"/>
                        <a:ea typeface="Nunito Sans" charset="0"/>
                        <a:cs typeface="Nunito Sans" charset="0"/>
                      </a:endParaRPr>
                    </a:p>
                  </a:txBody>
                  <a:tcPr marL="152400" marR="152400" marT="114300" marB="114300">
                    <a:lnL w="0" cap="flat" cmpd="sng" algn="ctr">
                      <a:noFill/>
                    </a:lnL>
                    <a:lnR w="12700" cap="flat" cmpd="sng" algn="ctr">
                      <a:solidFill>
                        <a:srgbClr val="CBCBC8"/>
                      </a:solidFill>
                      <a:prstDash val="solid"/>
                      <a:round/>
                      <a:headEnd type="none" w="med" len="med"/>
                      <a:tailEnd type="none" w="med" len="med"/>
                    </a:lnR>
                    <a:lnT w="12700" cap="flat" cmpd="sng" algn="ctr">
                      <a:solidFill>
                        <a:srgbClr val="1B2E48"/>
                      </a:solidFill>
                      <a:prstDash val="solid"/>
                      <a:round/>
                      <a:headEnd type="none" w="med" len="med"/>
                      <a:tailEnd type="none" w="med" len="med"/>
                    </a:lnT>
                    <a:lnB w="12700" cap="flat" cmpd="sng" algn="ctr">
                      <a:solidFill>
                        <a:srgbClr val="CBCBC8"/>
                      </a:solidFill>
                      <a:prstDash val="solid"/>
                      <a:round/>
                      <a:headEnd type="none" w="med" len="med"/>
                      <a:tailEnd type="none" w="med" len="med"/>
                    </a:lnB>
                    <a:solidFill>
                      <a:srgbClr val="FFFEFB"/>
                    </a:solidFill>
                  </a:tcPr>
                </a:tc>
                <a:tc>
                  <a:txBody>
                    <a:bodyPr/>
                    <a:lstStyle/>
                    <a:p>
                      <a:pPr marL="0" indent="0">
                        <a:lnSpc>
                          <a:spcPts val="1960"/>
                        </a:lnSpc>
                        <a:buNone/>
                      </a:pPr>
                      <a:r>
                        <a:rPr lang="en-US" sz="1400" dirty="0">
                          <a:solidFill>
                            <a:srgbClr val="2A3646"/>
                          </a:solidFill>
                          <a:latin typeface="Nunito Sans" pitchFamily="34" charset="0"/>
                          <a:ea typeface="Nunito Sans" pitchFamily="34" charset="-122"/>
                          <a:cs typeface="Nunito Sans" pitchFamily="34" charset="-120"/>
                        </a:rPr>
                        <a:t>Lots of motorbikes; traffic jams at rush hour</a:t>
                      </a:r>
                      <a:endParaRPr lang="en-US" sz="1400" dirty="0">
                        <a:latin typeface="Nunito Sans" charset="0"/>
                        <a:ea typeface="Nunito Sans" charset="0"/>
                        <a:cs typeface="Nunito Sans" charset="0"/>
                      </a:endParaRPr>
                    </a:p>
                  </a:txBody>
                  <a:tcPr marL="152400" marR="152400" marT="114300" marB="114300">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1B2E48"/>
                      </a:solidFill>
                      <a:prstDash val="solid"/>
                      <a:round/>
                      <a:headEnd type="none" w="med" len="med"/>
                      <a:tailEnd type="none" w="med" len="med"/>
                    </a:lnT>
                    <a:lnB w="12700" cap="flat" cmpd="sng" algn="ctr">
                      <a:solidFill>
                        <a:srgbClr val="CBCBC8"/>
                      </a:solidFill>
                      <a:prstDash val="solid"/>
                      <a:round/>
                      <a:headEnd type="none" w="med" len="med"/>
                      <a:tailEnd type="none" w="med" len="med"/>
                    </a:lnB>
                    <a:solidFill>
                      <a:srgbClr val="FFFEFB"/>
                    </a:solidFill>
                  </a:tcPr>
                </a:tc>
                <a:tc>
                  <a:txBody>
                    <a:bodyPr/>
                    <a:lstStyle/>
                    <a:p>
                      <a:pPr marL="0" indent="0">
                        <a:lnSpc>
                          <a:spcPts val="1960"/>
                        </a:lnSpc>
                        <a:buNone/>
                      </a:pPr>
                      <a:r>
                        <a:rPr lang="en-US" sz="1400" dirty="0">
                          <a:solidFill>
                            <a:srgbClr val="2A3646"/>
                          </a:solidFill>
                          <a:latin typeface="Nunito Sans" pitchFamily="34" charset="0"/>
                          <a:ea typeface="Nunito Sans" pitchFamily="34" charset="-122"/>
                          <a:cs typeface="Nunito Sans" pitchFamily="34" charset="-120"/>
                        </a:rPr>
                        <a:t>More metro lines, electric buses and electric motorbikes</a:t>
                      </a:r>
                      <a:endParaRPr lang="en-US" sz="1400" dirty="0">
                        <a:latin typeface="Nunito Sans" charset="0"/>
                        <a:ea typeface="Nunito Sans" charset="0"/>
                        <a:cs typeface="Nunito Sans" charset="0"/>
                      </a:endParaRPr>
                    </a:p>
                  </a:txBody>
                  <a:tcPr marL="152400" marR="152400" marT="114300" marB="114300">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1B2E48"/>
                      </a:solidFill>
                      <a:prstDash val="solid"/>
                      <a:round/>
                      <a:headEnd type="none" w="med" len="med"/>
                      <a:tailEnd type="none" w="med" len="med"/>
                    </a:lnT>
                    <a:lnB w="12700" cap="flat" cmpd="sng" algn="ctr">
                      <a:solidFill>
                        <a:srgbClr val="CBCBC8"/>
                      </a:solidFill>
                      <a:prstDash val="solid"/>
                      <a:round/>
                      <a:headEnd type="none" w="med" len="med"/>
                      <a:tailEnd type="none" w="med" len="med"/>
                    </a:lnB>
                    <a:solidFill>
                      <a:srgbClr val="FFFEFB"/>
                    </a:solidFill>
                  </a:tcPr>
                </a:tc>
                <a:extLst>
                  <a:ext uri="{0D108BD9-81ED-4DB2-BD59-A6C34878D82A}">
                    <a16:rowId xmlns:a16="http://schemas.microsoft.com/office/drawing/2014/main" val="10001"/>
                  </a:ext>
                </a:extLst>
              </a:tr>
              <a:tr h="721320">
                <a:tc>
                  <a:txBody>
                    <a:bodyPr/>
                    <a:lstStyle/>
                    <a:p>
                      <a:pPr marL="0" indent="0">
                        <a:lnSpc>
                          <a:spcPts val="1960"/>
                        </a:lnSpc>
                        <a:buNone/>
                      </a:pPr>
                      <a:r>
                        <a:rPr lang="en-US" sz="1400" dirty="0">
                          <a:solidFill>
                            <a:srgbClr val="1D3557"/>
                          </a:solidFill>
                          <a:latin typeface="Nunito Sans" pitchFamily="34" charset="0"/>
                          <a:ea typeface="Nunito Sans" pitchFamily="34" charset="-122"/>
                          <a:cs typeface="Nunito Sans" pitchFamily="34" charset="-120"/>
                        </a:rPr>
                        <a:t>Infrastructure</a:t>
                      </a:r>
                      <a:endParaRPr lang="en-US" sz="1400" dirty="0">
                        <a:latin typeface="Nunito Sans" charset="0"/>
                        <a:ea typeface="Nunito Sans" charset="0"/>
                        <a:cs typeface="Nunito Sans" charset="0"/>
                      </a:endParaRPr>
                    </a:p>
                  </a:txBody>
                  <a:tcPr marL="152400" marR="152400" marT="114300" marB="114300">
                    <a:lnL w="0" cap="flat" cmpd="sng" algn="ctr">
                      <a:noFill/>
                    </a:lnL>
                    <a:lnR w="12700" cap="flat" cmpd="sng" algn="ctr">
                      <a:solidFill>
                        <a:srgbClr val="C4C6C6"/>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C4C6C6"/>
                      </a:solidFill>
                      <a:prstDash val="solid"/>
                      <a:round/>
                      <a:headEnd type="none" w="med" len="med"/>
                      <a:tailEnd type="none" w="med" len="med"/>
                    </a:lnB>
                    <a:solidFill>
                      <a:srgbClr val="F5F8F8"/>
                    </a:solidFill>
                  </a:tcPr>
                </a:tc>
                <a:tc>
                  <a:txBody>
                    <a:bodyPr/>
                    <a:lstStyle/>
                    <a:p>
                      <a:pPr marL="0" indent="0">
                        <a:lnSpc>
                          <a:spcPts val="1960"/>
                        </a:lnSpc>
                        <a:buNone/>
                      </a:pPr>
                      <a:r>
                        <a:rPr lang="en-US" sz="1400" dirty="0">
                          <a:solidFill>
                            <a:srgbClr val="2A3646"/>
                          </a:solidFill>
                          <a:latin typeface="Nunito Sans" pitchFamily="34" charset="0"/>
                          <a:ea typeface="Nunito Sans" pitchFamily="34" charset="-122"/>
                          <a:cs typeface="Nunito Sans" pitchFamily="34" charset="-120"/>
                        </a:rPr>
                        <a:t>Some traffic cameras; many old blocks of flats</a:t>
                      </a:r>
                      <a:endParaRPr lang="en-US" sz="1400" dirty="0">
                        <a:latin typeface="Nunito Sans" charset="0"/>
                        <a:ea typeface="Nunito Sans" charset="0"/>
                        <a:cs typeface="Nunito Sans" charset="0"/>
                      </a:endParaRPr>
                    </a:p>
                  </a:txBody>
                  <a:tcPr marL="152400" marR="152400" marT="114300" marB="114300">
                    <a:lnL w="12700" cap="flat" cmpd="sng" algn="ctr">
                      <a:solidFill>
                        <a:srgbClr val="C4C6C6"/>
                      </a:solidFill>
                      <a:prstDash val="solid"/>
                      <a:round/>
                      <a:headEnd type="none" w="med" len="med"/>
                      <a:tailEnd type="none" w="med" len="med"/>
                    </a:lnL>
                    <a:lnR w="12700" cap="flat" cmpd="sng" algn="ctr">
                      <a:solidFill>
                        <a:srgbClr val="C4C6C6"/>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C4C6C6"/>
                      </a:solidFill>
                      <a:prstDash val="solid"/>
                      <a:round/>
                      <a:headEnd type="none" w="med" len="med"/>
                      <a:tailEnd type="none" w="med" len="med"/>
                    </a:lnB>
                    <a:solidFill>
                      <a:srgbClr val="F5F8F8"/>
                    </a:solidFill>
                  </a:tcPr>
                </a:tc>
                <a:tc>
                  <a:txBody>
                    <a:bodyPr/>
                    <a:lstStyle/>
                    <a:p>
                      <a:pPr marL="0" indent="0">
                        <a:lnSpc>
                          <a:spcPts val="1960"/>
                        </a:lnSpc>
                        <a:buNone/>
                      </a:pPr>
                      <a:r>
                        <a:rPr lang="en-US" sz="1400" dirty="0">
                          <a:solidFill>
                            <a:srgbClr val="2A3646"/>
                          </a:solidFill>
                          <a:latin typeface="Nunito Sans" pitchFamily="34" charset="0"/>
                          <a:ea typeface="Nunito Sans" pitchFamily="34" charset="-122"/>
                          <a:cs typeface="Nunito Sans" pitchFamily="34" charset="-120"/>
                        </a:rPr>
                        <a:t>Smart traffic lights and sensors; green high-rise buildings</a:t>
                      </a:r>
                      <a:endParaRPr lang="en-US" sz="1400" dirty="0">
                        <a:latin typeface="Nunito Sans" charset="0"/>
                        <a:ea typeface="Nunito Sans" charset="0"/>
                        <a:cs typeface="Nunito Sans" charset="0"/>
                      </a:endParaRPr>
                    </a:p>
                  </a:txBody>
                  <a:tcPr marL="152400" marR="152400" marT="114300" marB="114300">
                    <a:lnL w="12700" cap="flat" cmpd="sng" algn="ctr">
                      <a:solidFill>
                        <a:srgbClr val="C4C6C6"/>
                      </a:solidFill>
                      <a:prstDash val="solid"/>
                      <a:round/>
                      <a:headEnd type="none" w="med" len="med"/>
                      <a:tailEnd type="none" w="med" len="med"/>
                    </a:lnL>
                    <a:lnR w="12700" cap="flat" cmpd="sng" algn="ctr">
                      <a:solidFill>
                        <a:srgbClr val="C4C6C6"/>
                      </a:solidFill>
                      <a:prstDash val="solid"/>
                      <a:round/>
                      <a:headEnd type="none" w="med" len="med"/>
                      <a:tailEnd type="none" w="med" len="med"/>
                    </a:lnR>
                    <a:lnT w="12700" cap="flat" cmpd="sng" algn="ctr">
                      <a:solidFill>
                        <a:srgbClr val="CBCBC8"/>
                      </a:solidFill>
                      <a:prstDash val="solid"/>
                      <a:round/>
                      <a:headEnd type="none" w="med" len="med"/>
                      <a:tailEnd type="none" w="med" len="med"/>
                    </a:lnT>
                    <a:lnB w="12700" cap="flat" cmpd="sng" algn="ctr">
                      <a:solidFill>
                        <a:srgbClr val="C4C6C6"/>
                      </a:solidFill>
                      <a:prstDash val="solid"/>
                      <a:round/>
                      <a:headEnd type="none" w="med" len="med"/>
                      <a:tailEnd type="none" w="med" len="med"/>
                    </a:lnB>
                    <a:solidFill>
                      <a:srgbClr val="F5F8F8"/>
                    </a:solidFill>
                  </a:tcPr>
                </a:tc>
                <a:extLst>
                  <a:ext uri="{0D108BD9-81ED-4DB2-BD59-A6C34878D82A}">
                    <a16:rowId xmlns:a16="http://schemas.microsoft.com/office/drawing/2014/main" val="10002"/>
                  </a:ext>
                </a:extLst>
              </a:tr>
              <a:tr h="721320">
                <a:tc>
                  <a:txBody>
                    <a:bodyPr/>
                    <a:lstStyle/>
                    <a:p>
                      <a:pPr marL="0" indent="0">
                        <a:lnSpc>
                          <a:spcPts val="1960"/>
                        </a:lnSpc>
                        <a:buNone/>
                      </a:pPr>
                      <a:r>
                        <a:rPr lang="en-US" sz="1400" dirty="0">
                          <a:solidFill>
                            <a:srgbClr val="1D3557"/>
                          </a:solidFill>
                          <a:latin typeface="Nunito Sans" pitchFamily="34" charset="0"/>
                          <a:ea typeface="Nunito Sans" pitchFamily="34" charset="-122"/>
                          <a:cs typeface="Nunito Sans" pitchFamily="34" charset="-120"/>
                        </a:rPr>
                        <a:t>Living conditions</a:t>
                      </a:r>
                      <a:endParaRPr lang="en-US" sz="1400" dirty="0">
                        <a:latin typeface="Nunito Sans" charset="0"/>
                        <a:ea typeface="Nunito Sans" charset="0"/>
                        <a:cs typeface="Nunito Sans" charset="0"/>
                      </a:endParaRPr>
                    </a:p>
                  </a:txBody>
                  <a:tcPr marL="152400" marR="152400" marT="114300" marB="114300">
                    <a:lnL w="0" cap="flat" cmpd="sng" algn="ctr">
                      <a:noFill/>
                    </a:lnL>
                    <a:lnR w="12700" cap="flat" cmpd="sng" algn="ctr">
                      <a:solidFill>
                        <a:srgbClr val="CBCBC8"/>
                      </a:solidFill>
                      <a:prstDash val="solid"/>
                      <a:round/>
                      <a:headEnd type="none" w="med" len="med"/>
                      <a:tailEnd type="none" w="med" len="med"/>
                    </a:lnR>
                    <a:lnT w="12700" cap="flat" cmpd="sng" algn="ctr">
                      <a:solidFill>
                        <a:srgbClr val="C4C6C6"/>
                      </a:solidFill>
                      <a:prstDash val="solid"/>
                      <a:round/>
                      <a:headEnd type="none" w="med" len="med"/>
                      <a:tailEnd type="none" w="med" len="med"/>
                    </a:lnT>
                    <a:lnB w="12700" cap="flat" cmpd="sng" algn="ctr">
                      <a:solidFill>
                        <a:srgbClr val="CBCBC8"/>
                      </a:solidFill>
                      <a:prstDash val="solid"/>
                      <a:round/>
                      <a:headEnd type="none" w="med" len="med"/>
                      <a:tailEnd type="none" w="med" len="med"/>
                    </a:lnB>
                    <a:solidFill>
                      <a:srgbClr val="FFFEFB"/>
                    </a:solidFill>
                  </a:tcPr>
                </a:tc>
                <a:tc>
                  <a:txBody>
                    <a:bodyPr/>
                    <a:lstStyle/>
                    <a:p>
                      <a:pPr marL="0" indent="0">
                        <a:lnSpc>
                          <a:spcPts val="1960"/>
                        </a:lnSpc>
                        <a:buNone/>
                      </a:pPr>
                      <a:r>
                        <a:rPr lang="en-US" sz="1400" dirty="0">
                          <a:solidFill>
                            <a:srgbClr val="2A3646"/>
                          </a:solidFill>
                          <a:latin typeface="Nunito Sans" pitchFamily="34" charset="0"/>
                          <a:ea typeface="Nunito Sans" pitchFamily="34" charset="-122"/>
                          <a:cs typeface="Nunito Sans" pitchFamily="34" charset="-120"/>
                        </a:rPr>
                        <a:t>Air pollution; not many parks</a:t>
                      </a:r>
                      <a:endParaRPr lang="en-US" sz="1400" dirty="0">
                        <a:latin typeface="Nunito Sans" charset="0"/>
                        <a:ea typeface="Nunito Sans" charset="0"/>
                        <a:cs typeface="Nunito Sans" charset="0"/>
                      </a:endParaRPr>
                    </a:p>
                  </a:txBody>
                  <a:tcPr marL="152400" marR="152400" marT="114300" marB="114300">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4C6C6"/>
                      </a:solidFill>
                      <a:prstDash val="solid"/>
                      <a:round/>
                      <a:headEnd type="none" w="med" len="med"/>
                      <a:tailEnd type="none" w="med" len="med"/>
                    </a:lnT>
                    <a:lnB w="12700" cap="flat" cmpd="sng" algn="ctr">
                      <a:solidFill>
                        <a:srgbClr val="CBCBC8"/>
                      </a:solidFill>
                      <a:prstDash val="solid"/>
                      <a:round/>
                      <a:headEnd type="none" w="med" len="med"/>
                      <a:tailEnd type="none" w="med" len="med"/>
                    </a:lnB>
                    <a:solidFill>
                      <a:srgbClr val="FFFEFB"/>
                    </a:solidFill>
                  </a:tcPr>
                </a:tc>
                <a:tc>
                  <a:txBody>
                    <a:bodyPr/>
                    <a:lstStyle/>
                    <a:p>
                      <a:pPr marL="0" indent="0">
                        <a:lnSpc>
                          <a:spcPts val="1960"/>
                        </a:lnSpc>
                        <a:buNone/>
                      </a:pPr>
                      <a:r>
                        <a:rPr lang="en-US" sz="1400" dirty="0">
                          <a:solidFill>
                            <a:srgbClr val="2A3646"/>
                          </a:solidFill>
                          <a:latin typeface="Nunito Sans" pitchFamily="34" charset="0"/>
                          <a:ea typeface="Nunito Sans" pitchFamily="34" charset="-122"/>
                          <a:cs typeface="Nunito Sans" pitchFamily="34" charset="-120"/>
                        </a:rPr>
                        <a:t>More parks, trees and pedestrian zones, like Hoàn Kiếm or Nguyễn Huệ walking streets</a:t>
                      </a:r>
                      <a:endParaRPr lang="en-US" sz="1400" dirty="0">
                        <a:latin typeface="Nunito Sans" charset="0"/>
                        <a:ea typeface="Nunito Sans" charset="0"/>
                        <a:cs typeface="Nunito Sans" charset="0"/>
                      </a:endParaRPr>
                    </a:p>
                  </a:txBody>
                  <a:tcPr marL="152400" marR="152400" marT="114300" marB="114300">
                    <a:lnL w="12700" cap="flat" cmpd="sng" algn="ctr">
                      <a:solidFill>
                        <a:srgbClr val="CBCBC8"/>
                      </a:solidFill>
                      <a:prstDash val="solid"/>
                      <a:round/>
                      <a:headEnd type="none" w="med" len="med"/>
                      <a:tailEnd type="none" w="med" len="med"/>
                    </a:lnL>
                    <a:lnR w="12700" cap="flat" cmpd="sng" algn="ctr">
                      <a:solidFill>
                        <a:srgbClr val="CBCBC8"/>
                      </a:solidFill>
                      <a:prstDash val="solid"/>
                      <a:round/>
                      <a:headEnd type="none" w="med" len="med"/>
                      <a:tailEnd type="none" w="med" len="med"/>
                    </a:lnR>
                    <a:lnT w="12700" cap="flat" cmpd="sng" algn="ctr">
                      <a:solidFill>
                        <a:srgbClr val="C4C6C6"/>
                      </a:solidFill>
                      <a:prstDash val="solid"/>
                      <a:round/>
                      <a:headEnd type="none" w="med" len="med"/>
                      <a:tailEnd type="none" w="med" len="med"/>
                    </a:lnT>
                    <a:lnB w="12700" cap="flat" cmpd="sng" algn="ctr">
                      <a:solidFill>
                        <a:srgbClr val="CBCBC8"/>
                      </a:solidFill>
                      <a:prstDash val="solid"/>
                      <a:round/>
                      <a:headEnd type="none" w="med" len="med"/>
                      <a:tailEnd type="none" w="med" len="med"/>
                    </a:lnB>
                    <a:solidFill>
                      <a:srgbClr val="FFFEFB"/>
                    </a:solidFill>
                  </a:tcPr>
                </a:tc>
                <a:extLst>
                  <a:ext uri="{0D108BD9-81ED-4DB2-BD59-A6C34878D82A}">
                    <a16:rowId xmlns:a16="http://schemas.microsoft.com/office/drawing/2014/main" val="10003"/>
                  </a:ext>
                </a:extLst>
              </a:tr>
            </a:tbl>
          </a:graphicData>
        </a:graphic>
      </p:graphicFrame>
      <p:sp>
        <p:nvSpPr>
          <p:cNvPr id="8" name="Shape 5"/>
          <p:cNvSpPr/>
          <p:nvPr/>
        </p:nvSpPr>
        <p:spPr>
          <a:xfrm>
            <a:off x="812800" y="4974382"/>
            <a:ext cx="10566400" cy="553690"/>
          </a:xfrm>
          <a:prstGeom prst="roundRect">
            <a:avLst>
              <a:gd name="adj" fmla="val 22937"/>
            </a:avLst>
          </a:prstGeom>
          <a:solidFill>
            <a:srgbClr val="FCEBDD"/>
          </a:solidFill>
          <a:ln/>
        </p:spPr>
      </p:sp>
      <p:sp>
        <p:nvSpPr>
          <p:cNvPr id="9" name="Text 6"/>
          <p:cNvSpPr/>
          <p:nvPr/>
        </p:nvSpPr>
        <p:spPr>
          <a:xfrm>
            <a:off x="1041400" y="5144542"/>
            <a:ext cx="1695648" cy="238720"/>
          </a:xfrm>
          <a:prstGeom prst="rect">
            <a:avLst/>
          </a:prstGeom>
          <a:noFill/>
          <a:ln/>
        </p:spPr>
        <p:txBody>
          <a:bodyPr wrap="none" lIns="0" tIns="0" rIns="0" bIns="0" rtlCol="0" anchor="t">
            <a:normAutofit/>
          </a:bodyPr>
          <a:lstStyle/>
          <a:p>
            <a:pPr marL="0" indent="0" algn="l">
              <a:lnSpc>
                <a:spcPts val="1680"/>
              </a:lnSpc>
              <a:buNone/>
            </a:pPr>
            <a:r>
              <a:rPr lang="en-US" sz="1200" b="1" kern="0" spc="150" dirty="0">
                <a:solidFill>
                  <a:srgbClr val="B4500F"/>
                </a:solidFill>
                <a:latin typeface="Nunito Sans" pitchFamily="34" charset="0"/>
                <a:ea typeface="Nunito Sans" pitchFamily="34" charset="-122"/>
                <a:cs typeface="Nunito Sans" pitchFamily="34" charset="-120"/>
              </a:rPr>
              <a:t>SENTENCE FRAME</a:t>
            </a:r>
            <a:endParaRPr lang="en-US" sz="1200" dirty="0"/>
          </a:p>
        </p:txBody>
      </p:sp>
      <p:sp>
        <p:nvSpPr>
          <p:cNvPr id="10" name="Text 7"/>
          <p:cNvSpPr/>
          <p:nvPr/>
        </p:nvSpPr>
        <p:spPr>
          <a:xfrm>
            <a:off x="2813248" y="5126782"/>
            <a:ext cx="5608201"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2A3646"/>
                </a:solidFill>
                <a:latin typeface="Nunito Sans" pitchFamily="34" charset="0"/>
                <a:ea typeface="Nunito Sans" pitchFamily="34" charset="-122"/>
                <a:cs typeface="Nunito Sans" pitchFamily="34" charset="-120"/>
              </a:rPr>
              <a:t>Right now, ______. By 2050, I think ______ because ______.</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BFAF6"/>
        </a:solidFill>
        <a:effectLst/>
      </p:bgPr>
    </p:bg>
    <p:spTree>
      <p:nvGrpSpPr>
        <p:cNvPr id="1" name=""/>
        <p:cNvGrpSpPr/>
        <p:nvPr/>
      </p:nvGrpSpPr>
      <p:grpSpPr>
        <a:xfrm>
          <a:off x="0" y="0"/>
          <a:ext cx="0" cy="0"/>
          <a:chOff x="0" y="0"/>
          <a:chExt cx="0" cy="0"/>
        </a:xfrm>
      </p:grpSpPr>
      <p:sp>
        <p:nvSpPr>
          <p:cNvPr id="2" name="Text 0"/>
          <p:cNvSpPr/>
          <p:nvPr/>
        </p:nvSpPr>
        <p:spPr>
          <a:xfrm>
            <a:off x="812800" y="7620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17279"/>
                </a:solidFill>
                <a:latin typeface="Nunito Sans" pitchFamily="34" charset="0"/>
                <a:ea typeface="Nunito Sans" pitchFamily="34" charset="-122"/>
                <a:cs typeface="Nunito Sans" pitchFamily="34" charset="-120"/>
              </a:rPr>
              <a:t>TASK 4 • GROUP WORK</a:t>
            </a:r>
            <a:endParaRPr lang="en-US" sz="1200" dirty="0"/>
          </a:p>
        </p:txBody>
      </p:sp>
      <p:sp>
        <p:nvSpPr>
          <p:cNvPr id="3" name="Text 1"/>
          <p:cNvSpPr>
            <a:spLocks noGrp="1"/>
          </p:cNvSpPr>
          <p:nvPr>
            <p:ph type="title"/>
          </p:nvPr>
        </p:nvSpPr>
        <p:spPr>
          <a:xfrm>
            <a:off x="812800" y="10515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D3557"/>
                </a:solidFill>
                <a:latin typeface="Be Vietnam Pro" pitchFamily="34" charset="0"/>
                <a:ea typeface="Be Vietnam Pro" pitchFamily="34" charset="-122"/>
                <a:cs typeface="Be Vietnam Pro" pitchFamily="34" charset="-120"/>
              </a:rPr>
              <a:t>Design your future city</a:t>
            </a:r>
            <a:endParaRPr lang="en-US" sz="3000" dirty="0"/>
          </a:p>
        </p:txBody>
      </p:sp>
      <p:sp>
        <p:nvSpPr>
          <p:cNvPr id="4" name="Text 2"/>
          <p:cNvSpPr/>
          <p:nvPr/>
        </p:nvSpPr>
        <p:spPr>
          <a:xfrm>
            <a:off x="812800" y="1724620"/>
            <a:ext cx="5610318"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5D6877"/>
                </a:solidFill>
                <a:latin typeface="Nunito Sans" pitchFamily="34" charset="0"/>
                <a:ea typeface="Nunito Sans" pitchFamily="34" charset="-122"/>
                <a:cs typeface="Nunito Sans" pitchFamily="34" charset="-120"/>
              </a:rPr>
              <a:t>CHOOSE ONE IDEA FROM EACH CATEGORY</a:t>
            </a:r>
            <a:endParaRPr lang="en-US" sz="1200" dirty="0"/>
          </a:p>
        </p:txBody>
      </p:sp>
      <p:sp>
        <p:nvSpPr>
          <p:cNvPr id="5" name="Shape 3"/>
          <p:cNvSpPr/>
          <p:nvPr/>
        </p:nvSpPr>
        <p:spPr>
          <a:xfrm>
            <a:off x="812800" y="2064941"/>
            <a:ext cx="5446911" cy="1127671"/>
          </a:xfrm>
          <a:prstGeom prst="roundRect">
            <a:avLst>
              <a:gd name="adj" fmla="val 9010"/>
            </a:avLst>
          </a:prstGeom>
          <a:solidFill>
            <a:srgbClr val="FFFEFB"/>
          </a:solidFill>
          <a:ln/>
        </p:spPr>
      </p:sp>
      <p:sp>
        <p:nvSpPr>
          <p:cNvPr id="6" name="Shape 4"/>
          <p:cNvSpPr/>
          <p:nvPr/>
        </p:nvSpPr>
        <p:spPr>
          <a:xfrm>
            <a:off x="812800" y="2064941"/>
            <a:ext cx="5446911" cy="1127671"/>
          </a:xfrm>
          <a:custGeom>
            <a:avLst/>
            <a:gdLst/>
            <a:ahLst/>
            <a:cxnLst/>
            <a:rect l="l" t="t" r="r" b="b"/>
            <a:pathLst>
              <a:path w="5446911" h="1127671">
                <a:moveTo>
                  <a:pt x="101600" y="1127671"/>
                </a:moveTo>
                <a:lnTo>
                  <a:pt x="101600" y="1127671"/>
                </a:lnTo>
                <a:arcTo wR="101600" hR="101600" stAng="5400000" swAng="5400000"/>
                <a:lnTo>
                  <a:pt x="0" y="101600"/>
                </a:lnTo>
                <a:arcTo wR="101600" hR="101600" stAng="10800000" swAng="5400000"/>
                <a:lnTo>
                  <a:pt x="101600" y="0"/>
                </a:lnTo>
                <a:arcTo wR="50800" hR="101600" stAng="16200000" swAng="-5400000"/>
                <a:lnTo>
                  <a:pt x="50800" y="1026071"/>
                </a:lnTo>
                <a:arcTo wR="50800" hR="101600" stAng="10800000" swAng="-5400000"/>
                <a:close/>
              </a:path>
            </a:pathLst>
          </a:custGeom>
          <a:solidFill>
            <a:srgbClr val="117279"/>
          </a:solidFill>
          <a:ln/>
        </p:spPr>
      </p:sp>
      <p:sp>
        <p:nvSpPr>
          <p:cNvPr id="7" name="Text 5"/>
          <p:cNvSpPr/>
          <p:nvPr/>
        </p:nvSpPr>
        <p:spPr>
          <a:xfrm>
            <a:off x="1066800" y="2217341"/>
            <a:ext cx="5139402"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D3557"/>
                </a:solidFill>
                <a:latin typeface="Be Vietnam Pro" pitchFamily="34" charset="0"/>
                <a:ea typeface="Be Vietnam Pro" pitchFamily="34" charset="-122"/>
                <a:cs typeface="Be Vietnam Pro" pitchFamily="34" charset="-120"/>
              </a:rPr>
              <a:t>Transport</a:t>
            </a:r>
            <a:endParaRPr lang="en-US" sz="1800" dirty="0"/>
          </a:p>
        </p:txBody>
      </p:sp>
      <p:sp>
        <p:nvSpPr>
          <p:cNvPr id="8" name="Text 6"/>
          <p:cNvSpPr/>
          <p:nvPr/>
        </p:nvSpPr>
        <p:spPr>
          <a:xfrm>
            <a:off x="1066800" y="2542431"/>
            <a:ext cx="5139402"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2A3646"/>
                </a:solidFill>
                <a:latin typeface="Nunito Sans" pitchFamily="34" charset="0"/>
                <a:ea typeface="Nunito Sans" pitchFamily="34" charset="-122"/>
                <a:cs typeface="Nunito Sans" pitchFamily="34" charset="-120"/>
              </a:rPr>
              <a:t>Electric buses and trams • Self-driving public transport • Cycling and pedestrian zones</a:t>
            </a:r>
            <a:endParaRPr lang="en-US" sz="1400" dirty="0"/>
          </a:p>
        </p:txBody>
      </p:sp>
      <p:sp>
        <p:nvSpPr>
          <p:cNvPr id="9" name="Shape 7"/>
          <p:cNvSpPr/>
          <p:nvPr/>
        </p:nvSpPr>
        <p:spPr>
          <a:xfrm>
            <a:off x="812800" y="3319611"/>
            <a:ext cx="5446911" cy="878780"/>
          </a:xfrm>
          <a:prstGeom prst="roundRect">
            <a:avLst>
              <a:gd name="adj" fmla="val 11561"/>
            </a:avLst>
          </a:prstGeom>
          <a:solidFill>
            <a:srgbClr val="FFFEFB"/>
          </a:solidFill>
          <a:ln/>
        </p:spPr>
      </p:sp>
      <p:sp>
        <p:nvSpPr>
          <p:cNvPr id="10" name="Shape 8"/>
          <p:cNvSpPr/>
          <p:nvPr/>
        </p:nvSpPr>
        <p:spPr>
          <a:xfrm>
            <a:off x="812800" y="3319611"/>
            <a:ext cx="5446911" cy="878780"/>
          </a:xfrm>
          <a:custGeom>
            <a:avLst/>
            <a:gdLst/>
            <a:ahLst/>
            <a:cxnLst/>
            <a:rect l="l" t="t" r="r" b="b"/>
            <a:pathLst>
              <a:path w="5446911" h="878780">
                <a:moveTo>
                  <a:pt x="101600" y="878780"/>
                </a:moveTo>
                <a:lnTo>
                  <a:pt x="101600" y="878780"/>
                </a:lnTo>
                <a:arcTo wR="101600" hR="101600" stAng="5400000" swAng="5400000"/>
                <a:lnTo>
                  <a:pt x="0" y="101600"/>
                </a:lnTo>
                <a:arcTo wR="101600" hR="101600" stAng="10800000" swAng="5400000"/>
                <a:lnTo>
                  <a:pt x="101600" y="0"/>
                </a:lnTo>
                <a:arcTo wR="50800" hR="101600" stAng="16200000" swAng="-5400000"/>
                <a:lnTo>
                  <a:pt x="50800" y="777180"/>
                </a:lnTo>
                <a:arcTo wR="50800" hR="101600" stAng="10800000" swAng="-5400000"/>
                <a:close/>
              </a:path>
            </a:pathLst>
          </a:custGeom>
          <a:solidFill>
            <a:srgbClr val="E8762A"/>
          </a:solidFill>
          <a:ln/>
        </p:spPr>
      </p:sp>
      <p:sp>
        <p:nvSpPr>
          <p:cNvPr id="11" name="Text 9"/>
          <p:cNvSpPr/>
          <p:nvPr/>
        </p:nvSpPr>
        <p:spPr>
          <a:xfrm>
            <a:off x="1066800" y="3472011"/>
            <a:ext cx="5139402"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D3557"/>
                </a:solidFill>
                <a:latin typeface="Be Vietnam Pro" pitchFamily="34" charset="0"/>
                <a:ea typeface="Be Vietnam Pro" pitchFamily="34" charset="-122"/>
                <a:cs typeface="Be Vietnam Pro" pitchFamily="34" charset="-120"/>
              </a:rPr>
              <a:t>Infrastructure</a:t>
            </a:r>
            <a:endParaRPr lang="en-US" sz="1800" dirty="0"/>
          </a:p>
        </p:txBody>
      </p:sp>
      <p:sp>
        <p:nvSpPr>
          <p:cNvPr id="12" name="Text 10"/>
          <p:cNvSpPr/>
          <p:nvPr/>
        </p:nvSpPr>
        <p:spPr>
          <a:xfrm>
            <a:off x="1066800" y="3797102"/>
            <a:ext cx="5139402"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2A3646"/>
                </a:solidFill>
                <a:latin typeface="Nunito Sans" pitchFamily="34" charset="0"/>
                <a:ea typeface="Nunito Sans" pitchFamily="34" charset="-122"/>
                <a:cs typeface="Nunito Sans" pitchFamily="34" charset="-120"/>
              </a:rPr>
              <a:t>Smart sensors • Green skyscrapers • Smart street lights</a:t>
            </a:r>
            <a:endParaRPr lang="en-US" sz="1400" dirty="0"/>
          </a:p>
        </p:txBody>
      </p:sp>
      <p:sp>
        <p:nvSpPr>
          <p:cNvPr id="13" name="Shape 11"/>
          <p:cNvSpPr/>
          <p:nvPr/>
        </p:nvSpPr>
        <p:spPr>
          <a:xfrm>
            <a:off x="812800" y="4325392"/>
            <a:ext cx="5446911" cy="1127671"/>
          </a:xfrm>
          <a:prstGeom prst="roundRect">
            <a:avLst>
              <a:gd name="adj" fmla="val 9010"/>
            </a:avLst>
          </a:prstGeom>
          <a:solidFill>
            <a:srgbClr val="FFFEFB"/>
          </a:solidFill>
          <a:ln/>
        </p:spPr>
      </p:sp>
      <p:sp>
        <p:nvSpPr>
          <p:cNvPr id="14" name="Shape 12"/>
          <p:cNvSpPr/>
          <p:nvPr/>
        </p:nvSpPr>
        <p:spPr>
          <a:xfrm>
            <a:off x="812800" y="4325392"/>
            <a:ext cx="5446911" cy="1127671"/>
          </a:xfrm>
          <a:custGeom>
            <a:avLst/>
            <a:gdLst/>
            <a:ahLst/>
            <a:cxnLst/>
            <a:rect l="l" t="t" r="r" b="b"/>
            <a:pathLst>
              <a:path w="5446911" h="1127671">
                <a:moveTo>
                  <a:pt x="101600" y="1127671"/>
                </a:moveTo>
                <a:lnTo>
                  <a:pt x="101600" y="1127671"/>
                </a:lnTo>
                <a:arcTo wR="101600" hR="101600" stAng="5400000" swAng="5400000"/>
                <a:lnTo>
                  <a:pt x="0" y="101600"/>
                </a:lnTo>
                <a:arcTo wR="101600" hR="101600" stAng="10800000" swAng="5400000"/>
                <a:lnTo>
                  <a:pt x="101600" y="0"/>
                </a:lnTo>
                <a:arcTo wR="50800" hR="101600" stAng="16200000" swAng="-5400000"/>
                <a:lnTo>
                  <a:pt x="50800" y="1026071"/>
                </a:lnTo>
                <a:arcTo wR="50800" hR="101600" stAng="10800000" swAng="-5400000"/>
                <a:close/>
              </a:path>
            </a:pathLst>
          </a:custGeom>
          <a:solidFill>
            <a:srgbClr val="1D3557"/>
          </a:solidFill>
          <a:ln/>
        </p:spPr>
      </p:sp>
      <p:sp>
        <p:nvSpPr>
          <p:cNvPr id="15" name="Text 13"/>
          <p:cNvSpPr/>
          <p:nvPr/>
        </p:nvSpPr>
        <p:spPr>
          <a:xfrm>
            <a:off x="1066800" y="4477792"/>
            <a:ext cx="5139402"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D3557"/>
                </a:solidFill>
                <a:latin typeface="Be Vietnam Pro" pitchFamily="34" charset="0"/>
                <a:ea typeface="Be Vietnam Pro" pitchFamily="34" charset="-122"/>
                <a:cs typeface="Be Vietnam Pro" pitchFamily="34" charset="-120"/>
              </a:rPr>
              <a:t>Living conditions</a:t>
            </a:r>
            <a:endParaRPr lang="en-US" sz="1800" dirty="0"/>
          </a:p>
        </p:txBody>
      </p:sp>
      <p:sp>
        <p:nvSpPr>
          <p:cNvPr id="16" name="Text 14"/>
          <p:cNvSpPr/>
          <p:nvPr/>
        </p:nvSpPr>
        <p:spPr>
          <a:xfrm>
            <a:off x="1066800" y="4802882"/>
            <a:ext cx="5139402"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2A3646"/>
                </a:solidFill>
                <a:latin typeface="Nunito Sans" pitchFamily="34" charset="0"/>
                <a:ea typeface="Nunito Sans" pitchFamily="34" charset="-122"/>
                <a:cs typeface="Nunito Sans" pitchFamily="34" charset="-120"/>
              </a:rPr>
              <a:t>Roof gardens and parks • AI assistants and robots • Renewable energy</a:t>
            </a:r>
            <a:endParaRPr lang="en-US" sz="1400" dirty="0"/>
          </a:p>
        </p:txBody>
      </p:sp>
      <p:sp>
        <p:nvSpPr>
          <p:cNvPr id="17" name="Shape 15"/>
          <p:cNvSpPr/>
          <p:nvPr/>
        </p:nvSpPr>
        <p:spPr>
          <a:xfrm>
            <a:off x="6513711" y="1724620"/>
            <a:ext cx="4865489" cy="3728442"/>
          </a:xfrm>
          <a:prstGeom prst="roundRect">
            <a:avLst>
              <a:gd name="adj" fmla="val 3406"/>
            </a:avLst>
          </a:prstGeom>
          <a:solidFill>
            <a:srgbClr val="EEF4F3"/>
          </a:solidFill>
          <a:ln/>
        </p:spPr>
      </p:sp>
      <p:sp>
        <p:nvSpPr>
          <p:cNvPr id="18" name="Text 16"/>
          <p:cNvSpPr/>
          <p:nvPr/>
        </p:nvSpPr>
        <p:spPr>
          <a:xfrm>
            <a:off x="6767711" y="1953220"/>
            <a:ext cx="4488214"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D3557"/>
                </a:solidFill>
                <a:latin typeface="Be Vietnam Pro" pitchFamily="34" charset="0"/>
                <a:ea typeface="Be Vietnam Pro" pitchFamily="34" charset="-122"/>
                <a:cs typeface="Be Vietnam Pro" pitchFamily="34" charset="-120"/>
              </a:rPr>
              <a:t>Discuss</a:t>
            </a:r>
            <a:endParaRPr lang="en-US" sz="1800" dirty="0"/>
          </a:p>
        </p:txBody>
      </p:sp>
      <p:sp>
        <p:nvSpPr>
          <p:cNvPr id="19" name="Text 17"/>
          <p:cNvSpPr/>
          <p:nvPr/>
        </p:nvSpPr>
        <p:spPr>
          <a:xfrm>
            <a:off x="6852293" y="2329111"/>
            <a:ext cx="4396012" cy="2016522"/>
          </a:xfrm>
          <a:prstGeom prst="rect">
            <a:avLst/>
          </a:prstGeom>
          <a:noFill/>
          <a:ln/>
        </p:spPr>
        <p:txBody>
          <a:bodyPr wrap="square" lIns="0" tIns="0" rIns="0" bIns="0" rtlCol="0" anchor="t">
            <a:normAutofit/>
          </a:bodyPr>
          <a:lstStyle/>
          <a:p>
            <a:pPr marL="169418" indent="-169418" algn="l">
              <a:lnSpc>
                <a:spcPts val="1960"/>
              </a:lnSpc>
              <a:buSzPct val="100000"/>
              <a:buChar char="•"/>
            </a:pPr>
            <a:r>
              <a:rPr lang="en-US" sz="1400" dirty="0">
                <a:solidFill>
                  <a:srgbClr val="2A3646"/>
                </a:solidFill>
                <a:latin typeface="Nunito Sans" pitchFamily="34" charset="0"/>
                <a:ea typeface="Nunito Sans" pitchFamily="34" charset="-122"/>
                <a:cs typeface="Nunito Sans" pitchFamily="34" charset="-120"/>
              </a:rPr>
              <a:t>What will your future city have?</a:t>
            </a:r>
            <a:endParaRPr lang="en-US" sz="1400" dirty="0"/>
          </a:p>
          <a:p>
            <a:pPr marL="169418" indent="-169418" algn="l">
              <a:lnSpc>
                <a:spcPts val="1960"/>
              </a:lnSpc>
              <a:buSzPct val="100000"/>
              <a:buChar char="•"/>
            </a:pPr>
            <a:r>
              <a:rPr lang="en-US" sz="1400" dirty="0">
                <a:solidFill>
                  <a:srgbClr val="2A3646"/>
                </a:solidFill>
                <a:latin typeface="Nunito Sans" pitchFamily="34" charset="0"/>
                <a:ea typeface="Nunito Sans" pitchFamily="34" charset="-122"/>
                <a:cs typeface="Nunito Sans" pitchFamily="34" charset="-120"/>
              </a:rPr>
              <a:t>How will each feature work?</a:t>
            </a:r>
            <a:endParaRPr lang="en-US" sz="1400" dirty="0"/>
          </a:p>
          <a:p>
            <a:pPr marL="169418" indent="-169418" algn="l">
              <a:lnSpc>
                <a:spcPts val="1960"/>
              </a:lnSpc>
              <a:buSzPct val="100000"/>
              <a:buChar char="•"/>
            </a:pPr>
            <a:r>
              <a:rPr lang="en-US" sz="1400" dirty="0">
                <a:solidFill>
                  <a:srgbClr val="2A3646"/>
                </a:solidFill>
                <a:latin typeface="Nunito Sans" pitchFamily="34" charset="0"/>
                <a:ea typeface="Nunito Sans" pitchFamily="34" charset="-122"/>
                <a:cs typeface="Nunito Sans" pitchFamily="34" charset="-120"/>
              </a:rPr>
              <a:t>Why will it make life better?</a:t>
            </a:r>
            <a:endParaRPr lang="en-US" sz="1400" dirty="0"/>
          </a:p>
          <a:p>
            <a:pPr marL="169418" indent="-169418" algn="l">
              <a:lnSpc>
                <a:spcPts val="1960"/>
              </a:lnSpc>
              <a:buSzPct val="100000"/>
              <a:buChar char="•"/>
            </a:pPr>
            <a:r>
              <a:rPr lang="en-US" sz="1400" dirty="0">
                <a:solidFill>
                  <a:srgbClr val="2A3646"/>
                </a:solidFill>
                <a:latin typeface="Nunito Sans" pitchFamily="34" charset="0"/>
                <a:ea typeface="Nunito Sans" pitchFamily="34" charset="-122"/>
                <a:cs typeface="Nunito Sans" pitchFamily="34" charset="-120"/>
              </a:rPr>
              <a:t>Which feature is the most important? Why?</a:t>
            </a:r>
            <a:endParaRPr lang="en-US" sz="1400" dirty="0"/>
          </a:p>
          <a:p>
            <a:pPr marL="169418" indent="-169418" algn="l">
              <a:lnSpc>
                <a:spcPts val="1960"/>
              </a:lnSpc>
              <a:buSzPct val="100000"/>
              <a:buChar char="•"/>
            </a:pPr>
            <a:r>
              <a:rPr lang="en-US" sz="1400" dirty="0">
                <a:solidFill>
                  <a:srgbClr val="2A3646"/>
                </a:solidFill>
                <a:latin typeface="Nunito Sans" pitchFamily="34" charset="0"/>
                <a:ea typeface="Nunito Sans" pitchFamily="34" charset="-122"/>
                <a:cs typeface="Nunito Sans" pitchFamily="34" charset="-120"/>
              </a:rPr>
              <a:t>Where will people live and work? What jobs will they do?</a:t>
            </a:r>
            <a:endParaRPr lang="en-US" sz="1400" dirty="0"/>
          </a:p>
          <a:p>
            <a:pPr marL="169418" indent="-169418" algn="l">
              <a:lnSpc>
                <a:spcPts val="1960"/>
              </a:lnSpc>
              <a:buSzPct val="100000"/>
              <a:buChar char="•"/>
            </a:pPr>
            <a:r>
              <a:rPr lang="en-US" sz="1400" dirty="0">
                <a:solidFill>
                  <a:srgbClr val="2A3646"/>
                </a:solidFill>
                <a:latin typeface="Nunito Sans" pitchFamily="34" charset="0"/>
                <a:ea typeface="Nunito Sans" pitchFamily="34" charset="-122"/>
                <a:cs typeface="Nunito Sans" pitchFamily="34" charset="-120"/>
              </a:rPr>
              <a:t>What problems might your city face? How will you solve them?</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BFAF6"/>
        </a:solidFill>
        <a:effectLst/>
      </p:bgPr>
    </p:bg>
    <p:spTree>
      <p:nvGrpSpPr>
        <p:cNvPr id="1" name=""/>
        <p:cNvGrpSpPr/>
        <p:nvPr/>
      </p:nvGrpSpPr>
      <p:grpSpPr>
        <a:xfrm>
          <a:off x="0" y="0"/>
          <a:ext cx="0" cy="0"/>
          <a:chOff x="0" y="0"/>
          <a:chExt cx="0" cy="0"/>
        </a:xfrm>
      </p:grpSpPr>
      <p:sp>
        <p:nvSpPr>
          <p:cNvPr id="2" name="Text 0"/>
          <p:cNvSpPr/>
          <p:nvPr/>
        </p:nvSpPr>
        <p:spPr>
          <a:xfrm>
            <a:off x="812800" y="7620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17279"/>
                </a:solidFill>
                <a:latin typeface="Nunito Sans" pitchFamily="34" charset="0"/>
                <a:ea typeface="Nunito Sans" pitchFamily="34" charset="-122"/>
                <a:cs typeface="Nunito Sans" pitchFamily="34" charset="-120"/>
              </a:rPr>
              <a:t>TASK 4 • MODEL PRESENTATION</a:t>
            </a:r>
            <a:endParaRPr lang="en-US" sz="1200" dirty="0"/>
          </a:p>
        </p:txBody>
      </p:sp>
      <p:sp>
        <p:nvSpPr>
          <p:cNvPr id="3" name="Text 1"/>
          <p:cNvSpPr>
            <a:spLocks noGrp="1"/>
          </p:cNvSpPr>
          <p:nvPr>
            <p:ph type="title"/>
          </p:nvPr>
        </p:nvSpPr>
        <p:spPr>
          <a:xfrm>
            <a:off x="812800" y="10515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D3557"/>
                </a:solidFill>
                <a:latin typeface="Be Vietnam Pro" pitchFamily="34" charset="0"/>
                <a:ea typeface="Be Vietnam Pro" pitchFamily="34" charset="-122"/>
                <a:cs typeface="Be Vietnam Pro" pitchFamily="34" charset="-120"/>
              </a:rPr>
              <a:t>Our dream city in 2050</a:t>
            </a:r>
            <a:endParaRPr lang="en-US" sz="3000" dirty="0"/>
          </a:p>
        </p:txBody>
      </p:sp>
      <p:sp>
        <p:nvSpPr>
          <p:cNvPr id="4" name="Text 2"/>
          <p:cNvSpPr/>
          <p:nvPr/>
        </p:nvSpPr>
        <p:spPr>
          <a:xfrm>
            <a:off x="812800" y="1724620"/>
            <a:ext cx="209296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17279"/>
                </a:solidFill>
                <a:latin typeface="Nunito Sans" pitchFamily="34" charset="0"/>
                <a:ea typeface="Nunito Sans" pitchFamily="34" charset="-122"/>
                <a:cs typeface="Nunito Sans" pitchFamily="34" charset="-120"/>
              </a:rPr>
              <a:t>INTRODUCTION</a:t>
            </a:r>
            <a:endParaRPr lang="en-US" sz="1200" dirty="0"/>
          </a:p>
        </p:txBody>
      </p:sp>
      <p:sp>
        <p:nvSpPr>
          <p:cNvPr id="5" name="Text 3"/>
          <p:cNvSpPr/>
          <p:nvPr/>
        </p:nvSpPr>
        <p:spPr>
          <a:xfrm>
            <a:off x="3048000" y="1699220"/>
            <a:ext cx="8581136"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2A3646"/>
                </a:solidFill>
                <a:latin typeface="Nunito Sans" pitchFamily="34" charset="0"/>
                <a:ea typeface="Nunito Sans" pitchFamily="34" charset="-122"/>
                <a:cs typeface="Nunito Sans" pitchFamily="34" charset="-120"/>
              </a:rPr>
              <a:t>Hello everyone! Today, we’d like to introduce our dream city in 2050.</a:t>
            </a:r>
            <a:endParaRPr lang="en-US" sz="1400" dirty="0"/>
          </a:p>
        </p:txBody>
      </p:sp>
      <p:sp>
        <p:nvSpPr>
          <p:cNvPr id="6" name="Text 4"/>
          <p:cNvSpPr/>
          <p:nvPr/>
        </p:nvSpPr>
        <p:spPr>
          <a:xfrm>
            <a:off x="812800" y="2075111"/>
            <a:ext cx="209296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17279"/>
                </a:solidFill>
                <a:latin typeface="Nunito Sans" pitchFamily="34" charset="0"/>
                <a:ea typeface="Nunito Sans" pitchFamily="34" charset="-122"/>
                <a:cs typeface="Nunito Sans" pitchFamily="34" charset="-120"/>
              </a:rPr>
              <a:t>TRANSPORT</a:t>
            </a:r>
            <a:endParaRPr lang="en-US" sz="1200" dirty="0"/>
          </a:p>
        </p:txBody>
      </p:sp>
      <p:sp>
        <p:nvSpPr>
          <p:cNvPr id="7" name="Text 5"/>
          <p:cNvSpPr/>
          <p:nvPr/>
        </p:nvSpPr>
        <p:spPr>
          <a:xfrm>
            <a:off x="3048000" y="2049711"/>
            <a:ext cx="8581136"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2A3646"/>
                </a:solidFill>
                <a:latin typeface="Nunito Sans" pitchFamily="34" charset="0"/>
                <a:ea typeface="Nunito Sans" pitchFamily="34" charset="-122"/>
                <a:cs typeface="Nunito Sans" pitchFamily="34" charset="-120"/>
              </a:rPr>
              <a:t>First, regarding transport, people will use electric buses and trams instead of private cars. This will help reduce traffic jams and air pollution.</a:t>
            </a:r>
            <a:endParaRPr lang="en-US" sz="1400" dirty="0"/>
          </a:p>
        </p:txBody>
      </p:sp>
      <p:sp>
        <p:nvSpPr>
          <p:cNvPr id="8" name="Text 6"/>
          <p:cNvSpPr/>
          <p:nvPr/>
        </p:nvSpPr>
        <p:spPr>
          <a:xfrm>
            <a:off x="812800" y="2674491"/>
            <a:ext cx="209296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17279"/>
                </a:solidFill>
                <a:latin typeface="Nunito Sans" pitchFamily="34" charset="0"/>
                <a:ea typeface="Nunito Sans" pitchFamily="34" charset="-122"/>
                <a:cs typeface="Nunito Sans" pitchFamily="34" charset="-120"/>
              </a:rPr>
              <a:t>INFRASTRUCTURE</a:t>
            </a:r>
            <a:endParaRPr lang="en-US" sz="1200" dirty="0"/>
          </a:p>
        </p:txBody>
      </p:sp>
      <p:sp>
        <p:nvSpPr>
          <p:cNvPr id="9" name="Text 7"/>
          <p:cNvSpPr/>
          <p:nvPr/>
        </p:nvSpPr>
        <p:spPr>
          <a:xfrm>
            <a:off x="3048000" y="2649091"/>
            <a:ext cx="8581136"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2A3646"/>
                </a:solidFill>
                <a:latin typeface="Nunito Sans" pitchFamily="34" charset="0"/>
                <a:ea typeface="Nunito Sans" pitchFamily="34" charset="-122"/>
                <a:cs typeface="Nunito Sans" pitchFamily="34" charset="-120"/>
              </a:rPr>
              <a:t>Second, our city will have smart infrastructure, including sensors, smart street lights and green skyscrapers. These technologies will help save energy and make the city operate more efficiently.</a:t>
            </a:r>
            <a:endParaRPr lang="en-US" sz="1400" dirty="0"/>
          </a:p>
        </p:txBody>
      </p:sp>
      <p:sp>
        <p:nvSpPr>
          <p:cNvPr id="10" name="Text 8"/>
          <p:cNvSpPr/>
          <p:nvPr/>
        </p:nvSpPr>
        <p:spPr>
          <a:xfrm>
            <a:off x="812800" y="3273871"/>
            <a:ext cx="209296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17279"/>
                </a:solidFill>
                <a:latin typeface="Nunito Sans" pitchFamily="34" charset="0"/>
                <a:ea typeface="Nunito Sans" pitchFamily="34" charset="-122"/>
                <a:cs typeface="Nunito Sans" pitchFamily="34" charset="-120"/>
              </a:rPr>
              <a:t>LIVING CONDITIONS</a:t>
            </a:r>
            <a:endParaRPr lang="en-US" sz="1200" dirty="0"/>
          </a:p>
        </p:txBody>
      </p:sp>
      <p:sp>
        <p:nvSpPr>
          <p:cNvPr id="11" name="Text 9"/>
          <p:cNvSpPr/>
          <p:nvPr/>
        </p:nvSpPr>
        <p:spPr>
          <a:xfrm>
            <a:off x="3048000" y="3248471"/>
            <a:ext cx="8581136"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2A3646"/>
                </a:solidFill>
                <a:latin typeface="Nunito Sans" pitchFamily="34" charset="0"/>
                <a:ea typeface="Nunito Sans" pitchFamily="34" charset="-122"/>
                <a:cs typeface="Nunito Sans" pitchFamily="34" charset="-120"/>
              </a:rPr>
              <a:t>Finally, there will be more green spaces and roof gardens. AI assistants will also help people with their daily activities. As a result, people will enjoy healthier and more comfortable lives.</a:t>
            </a:r>
            <a:endParaRPr lang="en-US" sz="1400" dirty="0"/>
          </a:p>
        </p:txBody>
      </p:sp>
      <p:sp>
        <p:nvSpPr>
          <p:cNvPr id="12" name="Text 10"/>
          <p:cNvSpPr/>
          <p:nvPr/>
        </p:nvSpPr>
        <p:spPr>
          <a:xfrm>
            <a:off x="812800" y="3873252"/>
            <a:ext cx="2092960" cy="452041"/>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00F"/>
                </a:solidFill>
                <a:latin typeface="Nunito Sans" pitchFamily="34" charset="0"/>
                <a:ea typeface="Nunito Sans" pitchFamily="34" charset="-122"/>
                <a:cs typeface="Nunito Sans" pitchFamily="34" charset="-120"/>
              </a:rPr>
              <a:t>CHALLENGE (OPTIONAL)</a:t>
            </a:r>
            <a:endParaRPr lang="en-US" sz="1200" dirty="0"/>
          </a:p>
        </p:txBody>
      </p:sp>
      <p:sp>
        <p:nvSpPr>
          <p:cNvPr id="13" name="Text 11"/>
          <p:cNvSpPr/>
          <p:nvPr/>
        </p:nvSpPr>
        <p:spPr>
          <a:xfrm>
            <a:off x="3048000" y="3847852"/>
            <a:ext cx="8581136"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2A3646"/>
                </a:solidFill>
                <a:latin typeface="Nunito Sans" pitchFamily="34" charset="0"/>
                <a:ea typeface="Nunito Sans" pitchFamily="34" charset="-122"/>
                <a:cs typeface="Nunito Sans" pitchFamily="34" charset="-120"/>
              </a:rPr>
              <a:t>However, some people may worry about their privacy. That’s why our city will have clear rules to protect personal information.</a:t>
            </a:r>
            <a:endParaRPr lang="en-US" sz="1400" dirty="0"/>
          </a:p>
        </p:txBody>
      </p:sp>
      <p:sp>
        <p:nvSpPr>
          <p:cNvPr id="14" name="Text 12"/>
          <p:cNvSpPr/>
          <p:nvPr/>
        </p:nvSpPr>
        <p:spPr>
          <a:xfrm>
            <a:off x="812800" y="4472632"/>
            <a:ext cx="209296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17279"/>
                </a:solidFill>
                <a:latin typeface="Nunito Sans" pitchFamily="34" charset="0"/>
                <a:ea typeface="Nunito Sans" pitchFamily="34" charset="-122"/>
                <a:cs typeface="Nunito Sans" pitchFamily="34" charset="-120"/>
              </a:rPr>
              <a:t>CONCLUSION</a:t>
            </a:r>
            <a:endParaRPr lang="en-US" sz="1200" dirty="0"/>
          </a:p>
        </p:txBody>
      </p:sp>
      <p:sp>
        <p:nvSpPr>
          <p:cNvPr id="15" name="Text 13"/>
          <p:cNvSpPr/>
          <p:nvPr/>
        </p:nvSpPr>
        <p:spPr>
          <a:xfrm>
            <a:off x="3048000" y="4447232"/>
            <a:ext cx="8581136"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2A3646"/>
                </a:solidFill>
                <a:latin typeface="Nunito Sans" pitchFamily="34" charset="0"/>
                <a:ea typeface="Nunito Sans" pitchFamily="34" charset="-122"/>
                <a:cs typeface="Nunito Sans" pitchFamily="34" charset="-120"/>
              </a:rPr>
              <a:t>We believe our city will be greener, smarter and more liveable. Thank you for listening! Do you have any questions?</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D3557"/>
        </a:solidFill>
        <a:effectLst/>
      </p:bgPr>
    </p:bg>
    <p:spTree>
      <p:nvGrpSpPr>
        <p:cNvPr id="1" name=""/>
        <p:cNvGrpSpPr/>
        <p:nvPr/>
      </p:nvGrpSpPr>
      <p:grpSpPr>
        <a:xfrm>
          <a:off x="0" y="0"/>
          <a:ext cx="0" cy="0"/>
          <a:chOff x="0" y="0"/>
          <a:chExt cx="0" cy="0"/>
        </a:xfrm>
      </p:grpSpPr>
      <p:sp>
        <p:nvSpPr>
          <p:cNvPr id="2" name="Text 0"/>
          <p:cNvSpPr/>
          <p:nvPr/>
        </p:nvSpPr>
        <p:spPr>
          <a:xfrm>
            <a:off x="812800" y="7620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0A060"/>
                </a:solidFill>
                <a:latin typeface="Nunito Sans" pitchFamily="34" charset="0"/>
                <a:ea typeface="Nunito Sans" pitchFamily="34" charset="-122"/>
                <a:cs typeface="Nunito Sans" pitchFamily="34" charset="-120"/>
              </a:rPr>
              <a:t>TASK 4 • GROUP WORK</a:t>
            </a:r>
            <a:endParaRPr lang="en-US" sz="1200" dirty="0"/>
          </a:p>
        </p:txBody>
      </p:sp>
      <p:sp>
        <p:nvSpPr>
          <p:cNvPr id="3" name="Text 1"/>
          <p:cNvSpPr>
            <a:spLocks noGrp="1"/>
          </p:cNvSpPr>
          <p:nvPr>
            <p:ph type="title"/>
          </p:nvPr>
        </p:nvSpPr>
        <p:spPr>
          <a:xfrm>
            <a:off x="812800" y="10515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F3F1EA"/>
                </a:solidFill>
                <a:latin typeface="Be Vietnam Pro" pitchFamily="34" charset="0"/>
                <a:ea typeface="Be Vietnam Pro" pitchFamily="34" charset="-122"/>
                <a:cs typeface="Be Vietnam Pro" pitchFamily="34" charset="-120"/>
              </a:rPr>
              <a:t>Present your group’s city</a:t>
            </a:r>
            <a:endParaRPr lang="en-US" sz="3000" dirty="0"/>
          </a:p>
        </p:txBody>
      </p:sp>
      <p:sp>
        <p:nvSpPr>
          <p:cNvPr id="4" name="Shape 2"/>
          <p:cNvSpPr/>
          <p:nvPr/>
        </p:nvSpPr>
        <p:spPr>
          <a:xfrm>
            <a:off x="812800" y="1800820"/>
            <a:ext cx="2527300" cy="1661071"/>
          </a:xfrm>
          <a:prstGeom prst="roundRect">
            <a:avLst>
              <a:gd name="adj" fmla="val 9175"/>
            </a:avLst>
          </a:prstGeom>
          <a:solidFill>
            <a:srgbClr val="284A70"/>
          </a:solidFill>
          <a:ln/>
        </p:spPr>
      </p:sp>
      <p:pic>
        <p:nvPicPr>
          <p:cNvPr id="5" name="Image 0" descr="Star"/>
          <p:cNvPicPr>
            <a:picLocks noChangeAspect="1"/>
          </p:cNvPicPr>
          <p:nvPr/>
        </p:nvPicPr>
        <p:blipFill>
          <a:blip r:embed="rId3"/>
          <a:srcRect/>
          <a:stretch/>
        </p:blipFill>
        <p:spPr>
          <a:xfrm>
            <a:off x="1016000" y="2029420"/>
            <a:ext cx="279400" cy="279400"/>
          </a:xfrm>
          <a:prstGeom prst="rect">
            <a:avLst/>
          </a:prstGeom>
        </p:spPr>
      </p:pic>
      <p:sp>
        <p:nvSpPr>
          <p:cNvPr id="6" name="Text 3"/>
          <p:cNvSpPr/>
          <p:nvPr/>
        </p:nvSpPr>
        <p:spPr>
          <a:xfrm>
            <a:off x="1016000" y="2385020"/>
            <a:ext cx="2184527"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3F1EA"/>
                </a:solidFill>
                <a:latin typeface="Be Vietnam Pro" pitchFamily="34" charset="0"/>
                <a:ea typeface="Be Vietnam Pro" pitchFamily="34" charset="-122"/>
                <a:cs typeface="Be Vietnam Pro" pitchFamily="34" charset="-120"/>
              </a:rPr>
              <a:t>Leader</a:t>
            </a:r>
            <a:endParaRPr lang="en-US" sz="1800" dirty="0"/>
          </a:p>
        </p:txBody>
      </p:sp>
      <p:sp>
        <p:nvSpPr>
          <p:cNvPr id="7" name="Text 4"/>
          <p:cNvSpPr/>
          <p:nvPr/>
        </p:nvSpPr>
        <p:spPr>
          <a:xfrm>
            <a:off x="1016000" y="2735511"/>
            <a:ext cx="2184527"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D5E2E8"/>
                </a:solidFill>
                <a:latin typeface="Nunito Sans" pitchFamily="34" charset="0"/>
                <a:ea typeface="Nunito Sans" pitchFamily="34" charset="-122"/>
                <a:cs typeface="Nunito Sans" pitchFamily="34" charset="-120"/>
              </a:rPr>
              <a:t>Introduction and conclusion</a:t>
            </a:r>
            <a:endParaRPr lang="en-US" sz="1400" dirty="0"/>
          </a:p>
        </p:txBody>
      </p:sp>
      <p:sp>
        <p:nvSpPr>
          <p:cNvPr id="8" name="Shape 5"/>
          <p:cNvSpPr/>
          <p:nvPr/>
        </p:nvSpPr>
        <p:spPr>
          <a:xfrm>
            <a:off x="3492500" y="1800820"/>
            <a:ext cx="2527300" cy="1661071"/>
          </a:xfrm>
          <a:prstGeom prst="roundRect">
            <a:avLst>
              <a:gd name="adj" fmla="val 9175"/>
            </a:avLst>
          </a:prstGeom>
          <a:solidFill>
            <a:srgbClr val="284A70"/>
          </a:solidFill>
          <a:ln/>
        </p:spPr>
      </p:sp>
      <p:pic>
        <p:nvPicPr>
          <p:cNvPr id="9" name="Image 1" descr="Users"/>
          <p:cNvPicPr>
            <a:picLocks noChangeAspect="1"/>
          </p:cNvPicPr>
          <p:nvPr/>
        </p:nvPicPr>
        <p:blipFill>
          <a:blip r:embed="rId4"/>
          <a:srcRect/>
          <a:stretch/>
        </p:blipFill>
        <p:spPr>
          <a:xfrm>
            <a:off x="3695700" y="2029420"/>
            <a:ext cx="279400" cy="279400"/>
          </a:xfrm>
          <a:prstGeom prst="rect">
            <a:avLst/>
          </a:prstGeom>
        </p:spPr>
      </p:pic>
      <p:sp>
        <p:nvSpPr>
          <p:cNvPr id="10" name="Text 6"/>
          <p:cNvSpPr/>
          <p:nvPr/>
        </p:nvSpPr>
        <p:spPr>
          <a:xfrm>
            <a:off x="3695700" y="2385020"/>
            <a:ext cx="2184527"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3F1EA"/>
                </a:solidFill>
                <a:latin typeface="Be Vietnam Pro" pitchFamily="34" charset="0"/>
                <a:ea typeface="Be Vietnam Pro" pitchFamily="34" charset="-122"/>
                <a:cs typeface="Be Vietnam Pro" pitchFamily="34" charset="-120"/>
              </a:rPr>
              <a:t>Speaker 1</a:t>
            </a:r>
            <a:endParaRPr lang="en-US" sz="1800" dirty="0"/>
          </a:p>
        </p:txBody>
      </p:sp>
      <p:sp>
        <p:nvSpPr>
          <p:cNvPr id="11" name="Text 7"/>
          <p:cNvSpPr/>
          <p:nvPr/>
        </p:nvSpPr>
        <p:spPr>
          <a:xfrm>
            <a:off x="3695700" y="2735511"/>
            <a:ext cx="2184527"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D5E2E8"/>
                </a:solidFill>
                <a:latin typeface="Nunito Sans" pitchFamily="34" charset="0"/>
                <a:ea typeface="Nunito Sans" pitchFamily="34" charset="-122"/>
                <a:cs typeface="Nunito Sans" pitchFamily="34" charset="-120"/>
              </a:rPr>
              <a:t>Transport</a:t>
            </a:r>
            <a:endParaRPr lang="en-US" sz="1400" dirty="0"/>
          </a:p>
        </p:txBody>
      </p:sp>
      <p:sp>
        <p:nvSpPr>
          <p:cNvPr id="12" name="Shape 8"/>
          <p:cNvSpPr/>
          <p:nvPr/>
        </p:nvSpPr>
        <p:spPr>
          <a:xfrm>
            <a:off x="6172200" y="1800820"/>
            <a:ext cx="2527300" cy="1661071"/>
          </a:xfrm>
          <a:prstGeom prst="roundRect">
            <a:avLst>
              <a:gd name="adj" fmla="val 9175"/>
            </a:avLst>
          </a:prstGeom>
          <a:solidFill>
            <a:srgbClr val="284A70"/>
          </a:solidFill>
          <a:ln/>
        </p:spPr>
      </p:sp>
      <p:pic>
        <p:nvPicPr>
          <p:cNvPr id="13" name="Image 2" descr="Home"/>
          <p:cNvPicPr>
            <a:picLocks noChangeAspect="1"/>
          </p:cNvPicPr>
          <p:nvPr/>
        </p:nvPicPr>
        <p:blipFill>
          <a:blip r:embed="rId5"/>
          <a:srcRect/>
          <a:stretch/>
        </p:blipFill>
        <p:spPr>
          <a:xfrm>
            <a:off x="6375400" y="2029420"/>
            <a:ext cx="279400" cy="279400"/>
          </a:xfrm>
          <a:prstGeom prst="rect">
            <a:avLst/>
          </a:prstGeom>
        </p:spPr>
      </p:pic>
      <p:sp>
        <p:nvSpPr>
          <p:cNvPr id="14" name="Text 9"/>
          <p:cNvSpPr/>
          <p:nvPr/>
        </p:nvSpPr>
        <p:spPr>
          <a:xfrm>
            <a:off x="6375400" y="2385020"/>
            <a:ext cx="2184527"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3F1EA"/>
                </a:solidFill>
                <a:latin typeface="Be Vietnam Pro" pitchFamily="34" charset="0"/>
                <a:ea typeface="Be Vietnam Pro" pitchFamily="34" charset="-122"/>
                <a:cs typeface="Be Vietnam Pro" pitchFamily="34" charset="-120"/>
              </a:rPr>
              <a:t>Speaker 2</a:t>
            </a:r>
            <a:endParaRPr lang="en-US" sz="1800" dirty="0"/>
          </a:p>
        </p:txBody>
      </p:sp>
      <p:sp>
        <p:nvSpPr>
          <p:cNvPr id="15" name="Text 10"/>
          <p:cNvSpPr/>
          <p:nvPr/>
        </p:nvSpPr>
        <p:spPr>
          <a:xfrm>
            <a:off x="6375400" y="2735511"/>
            <a:ext cx="2184527"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D5E2E8"/>
                </a:solidFill>
                <a:latin typeface="Nunito Sans" pitchFamily="34" charset="0"/>
                <a:ea typeface="Nunito Sans" pitchFamily="34" charset="-122"/>
                <a:cs typeface="Nunito Sans" pitchFamily="34" charset="-120"/>
              </a:rPr>
              <a:t>Infrastructure</a:t>
            </a:r>
            <a:endParaRPr lang="en-US" sz="1400" dirty="0"/>
          </a:p>
        </p:txBody>
      </p:sp>
      <p:sp>
        <p:nvSpPr>
          <p:cNvPr id="16" name="Shape 11"/>
          <p:cNvSpPr/>
          <p:nvPr/>
        </p:nvSpPr>
        <p:spPr>
          <a:xfrm>
            <a:off x="8851900" y="1800820"/>
            <a:ext cx="2527300" cy="1661071"/>
          </a:xfrm>
          <a:prstGeom prst="roundRect">
            <a:avLst>
              <a:gd name="adj" fmla="val 9175"/>
            </a:avLst>
          </a:prstGeom>
          <a:solidFill>
            <a:srgbClr val="284A70"/>
          </a:solidFill>
          <a:ln/>
        </p:spPr>
      </p:sp>
      <p:pic>
        <p:nvPicPr>
          <p:cNvPr id="17" name="Image 3" descr="Lightbulb"/>
          <p:cNvPicPr>
            <a:picLocks noChangeAspect="1"/>
          </p:cNvPicPr>
          <p:nvPr/>
        </p:nvPicPr>
        <p:blipFill>
          <a:blip r:embed="rId6"/>
          <a:srcRect/>
          <a:stretch/>
        </p:blipFill>
        <p:spPr>
          <a:xfrm>
            <a:off x="9055100" y="2029420"/>
            <a:ext cx="279400" cy="279400"/>
          </a:xfrm>
          <a:prstGeom prst="rect">
            <a:avLst/>
          </a:prstGeom>
        </p:spPr>
      </p:pic>
      <p:sp>
        <p:nvSpPr>
          <p:cNvPr id="18" name="Text 12"/>
          <p:cNvSpPr/>
          <p:nvPr/>
        </p:nvSpPr>
        <p:spPr>
          <a:xfrm>
            <a:off x="9055100" y="2385020"/>
            <a:ext cx="2184527"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3F1EA"/>
                </a:solidFill>
                <a:latin typeface="Be Vietnam Pro" pitchFamily="34" charset="0"/>
                <a:ea typeface="Be Vietnam Pro" pitchFamily="34" charset="-122"/>
                <a:cs typeface="Be Vietnam Pro" pitchFamily="34" charset="-120"/>
              </a:rPr>
              <a:t>Speaker 3</a:t>
            </a:r>
            <a:endParaRPr lang="en-US" sz="1800" dirty="0"/>
          </a:p>
        </p:txBody>
      </p:sp>
      <p:sp>
        <p:nvSpPr>
          <p:cNvPr id="19" name="Text 13"/>
          <p:cNvSpPr/>
          <p:nvPr/>
        </p:nvSpPr>
        <p:spPr>
          <a:xfrm>
            <a:off x="9055100" y="2735511"/>
            <a:ext cx="2184527"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D5E2E8"/>
                </a:solidFill>
                <a:latin typeface="Nunito Sans" pitchFamily="34" charset="0"/>
                <a:ea typeface="Nunito Sans" pitchFamily="34" charset="-122"/>
                <a:cs typeface="Nunito Sans" pitchFamily="34" charset="-120"/>
              </a:rPr>
              <a:t>Living conditions and challenge</a:t>
            </a:r>
            <a:endParaRPr lang="en-US" sz="1400" dirty="0"/>
          </a:p>
        </p:txBody>
      </p:sp>
      <p:sp>
        <p:nvSpPr>
          <p:cNvPr id="20" name="Text 14"/>
          <p:cNvSpPr/>
          <p:nvPr/>
        </p:nvSpPr>
        <p:spPr>
          <a:xfrm>
            <a:off x="819150" y="3798441"/>
            <a:ext cx="2088009" cy="413990"/>
          </a:xfrm>
          <a:prstGeom prst="roundRect">
            <a:avLst>
              <a:gd name="adj" fmla="val 50000"/>
            </a:avLst>
          </a:prstGeom>
          <a:noFill/>
          <a:ln w="12700">
            <a:solidFill>
              <a:srgbClr val="4F7096"/>
            </a:solidFill>
            <a:prstDash val="solid"/>
          </a:ln>
        </p:spPr>
        <p:txBody>
          <a:bodyPr wrap="none" lIns="0" tIns="0" rIns="0" bIns="0" rtlCol="0" anchor="ctr">
            <a:normAutofit/>
          </a:bodyPr>
          <a:lstStyle/>
          <a:p>
            <a:pPr marL="0" indent="0" algn="ctr">
              <a:lnSpc>
                <a:spcPts val="1960"/>
              </a:lnSpc>
              <a:buNone/>
            </a:pPr>
            <a:r>
              <a:rPr lang="en-US" sz="1400" b="1" dirty="0">
                <a:solidFill>
                  <a:srgbClr val="F3F1EA"/>
                </a:solidFill>
                <a:latin typeface="Nunito Sans" pitchFamily="34" charset="0"/>
                <a:ea typeface="Nunito Sans" pitchFamily="34" charset="-122"/>
                <a:cs typeface="Nunito Sans" pitchFamily="34" charset="-120"/>
              </a:rPr>
              <a:t>Plan in your handout</a:t>
            </a:r>
            <a:endParaRPr lang="en-US" sz="1400" dirty="0"/>
          </a:p>
        </p:txBody>
      </p:sp>
      <p:pic>
        <p:nvPicPr>
          <p:cNvPr id="21" name="Image 4" descr="arrow-right"/>
          <p:cNvPicPr>
            <a:picLocks noChangeAspect="1"/>
          </p:cNvPicPr>
          <p:nvPr/>
        </p:nvPicPr>
        <p:blipFill>
          <a:blip r:embed="rId7"/>
          <a:srcRect/>
          <a:stretch/>
        </p:blipFill>
        <p:spPr>
          <a:xfrm>
            <a:off x="3040509" y="3916511"/>
            <a:ext cx="355600" cy="177800"/>
          </a:xfrm>
          <a:prstGeom prst="rect">
            <a:avLst/>
          </a:prstGeom>
        </p:spPr>
      </p:pic>
      <p:sp>
        <p:nvSpPr>
          <p:cNvPr id="22" name="Text 15"/>
          <p:cNvSpPr/>
          <p:nvPr/>
        </p:nvSpPr>
        <p:spPr>
          <a:xfrm>
            <a:off x="3529459" y="3798441"/>
            <a:ext cx="1566863" cy="413990"/>
          </a:xfrm>
          <a:prstGeom prst="roundRect">
            <a:avLst>
              <a:gd name="adj" fmla="val 50000"/>
            </a:avLst>
          </a:prstGeom>
          <a:noFill/>
          <a:ln w="12700">
            <a:solidFill>
              <a:srgbClr val="4F7096"/>
            </a:solidFill>
            <a:prstDash val="solid"/>
          </a:ln>
        </p:spPr>
        <p:txBody>
          <a:bodyPr wrap="none" lIns="0" tIns="0" rIns="0" bIns="0" rtlCol="0" anchor="ctr">
            <a:normAutofit/>
          </a:bodyPr>
          <a:lstStyle/>
          <a:p>
            <a:pPr marL="0" indent="0" algn="ctr">
              <a:lnSpc>
                <a:spcPts val="1960"/>
              </a:lnSpc>
              <a:buNone/>
            </a:pPr>
            <a:r>
              <a:rPr lang="en-US" sz="1400" b="1" dirty="0">
                <a:solidFill>
                  <a:srgbClr val="F3F1EA"/>
                </a:solidFill>
                <a:latin typeface="Nunito Sans" pitchFamily="34" charset="0"/>
                <a:ea typeface="Nunito Sans" pitchFamily="34" charset="-122"/>
                <a:cs typeface="Nunito Sans" pitchFamily="34" charset="-120"/>
              </a:rPr>
              <a:t>Rehearse once</a:t>
            </a:r>
            <a:endParaRPr lang="en-US" sz="1400" dirty="0"/>
          </a:p>
        </p:txBody>
      </p:sp>
      <p:pic>
        <p:nvPicPr>
          <p:cNvPr id="23" name="Image 5" descr="arrow-right"/>
          <p:cNvPicPr>
            <a:picLocks noChangeAspect="1"/>
          </p:cNvPicPr>
          <p:nvPr/>
        </p:nvPicPr>
        <p:blipFill>
          <a:blip r:embed="rId7"/>
          <a:srcRect/>
          <a:stretch/>
        </p:blipFill>
        <p:spPr>
          <a:xfrm>
            <a:off x="5229671" y="3916511"/>
            <a:ext cx="355600" cy="177800"/>
          </a:xfrm>
          <a:prstGeom prst="rect">
            <a:avLst/>
          </a:prstGeom>
        </p:spPr>
      </p:pic>
      <p:sp>
        <p:nvSpPr>
          <p:cNvPr id="24" name="Text 16"/>
          <p:cNvSpPr/>
          <p:nvPr/>
        </p:nvSpPr>
        <p:spPr>
          <a:xfrm>
            <a:off x="5718621" y="3798441"/>
            <a:ext cx="2678113" cy="413990"/>
          </a:xfrm>
          <a:prstGeom prst="roundRect">
            <a:avLst>
              <a:gd name="adj" fmla="val 50000"/>
            </a:avLst>
          </a:prstGeom>
          <a:noFill/>
          <a:ln w="12700">
            <a:solidFill>
              <a:srgbClr val="4F7096"/>
            </a:solidFill>
            <a:prstDash val="solid"/>
          </a:ln>
        </p:spPr>
        <p:txBody>
          <a:bodyPr wrap="none" lIns="0" tIns="0" rIns="0" bIns="0" rtlCol="0" anchor="ctr">
            <a:normAutofit/>
          </a:bodyPr>
          <a:lstStyle/>
          <a:p>
            <a:pPr marL="0" indent="0" algn="ctr">
              <a:lnSpc>
                <a:spcPts val="1960"/>
              </a:lnSpc>
              <a:buNone/>
            </a:pPr>
            <a:r>
              <a:rPr lang="en-US" sz="1400" b="1" dirty="0">
                <a:solidFill>
                  <a:srgbClr val="F3F1EA"/>
                </a:solidFill>
                <a:latin typeface="Nunito Sans" pitchFamily="34" charset="0"/>
                <a:ea typeface="Nunito Sans" pitchFamily="34" charset="-122"/>
                <a:cs typeface="Nunito Sans" pitchFamily="34" charset="-120"/>
              </a:rPr>
              <a:t>Present: 1 minute per group</a:t>
            </a:r>
            <a:endParaRPr lang="en-US" sz="1400" dirty="0"/>
          </a:p>
        </p:txBody>
      </p:sp>
      <p:sp>
        <p:nvSpPr>
          <p:cNvPr id="25" name="Text 17"/>
          <p:cNvSpPr/>
          <p:nvPr/>
        </p:nvSpPr>
        <p:spPr>
          <a:xfrm>
            <a:off x="812800" y="4548981"/>
            <a:ext cx="10883392"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FD3DA"/>
                </a:solidFill>
                <a:latin typeface="Nunito Sans" pitchFamily="34" charset="0"/>
                <a:ea typeface="Nunito Sans" pitchFamily="34" charset="-122"/>
                <a:cs typeface="Nunito Sans" pitchFamily="34" charset="-120"/>
              </a:rPr>
              <a:t>Stronger groups: add one challenge and one solution to your presentation.</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EEF4F3"/>
        </a:solidFill>
        <a:effectLst/>
      </p:bgPr>
    </p:bg>
    <p:spTree>
      <p:nvGrpSpPr>
        <p:cNvPr id="1" name=""/>
        <p:cNvGrpSpPr/>
        <p:nvPr/>
      </p:nvGrpSpPr>
      <p:grpSpPr>
        <a:xfrm>
          <a:off x="0" y="0"/>
          <a:ext cx="0" cy="0"/>
          <a:chOff x="0" y="0"/>
          <a:chExt cx="0" cy="0"/>
        </a:xfrm>
      </p:grpSpPr>
      <p:sp>
        <p:nvSpPr>
          <p:cNvPr id="2" name="Text 0"/>
          <p:cNvSpPr/>
          <p:nvPr/>
        </p:nvSpPr>
        <p:spPr>
          <a:xfrm>
            <a:off x="812800" y="7620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17279"/>
                </a:solidFill>
                <a:latin typeface="Nunito Sans" pitchFamily="34" charset="0"/>
                <a:ea typeface="Nunito Sans" pitchFamily="34" charset="-122"/>
                <a:cs typeface="Nunito Sans" pitchFamily="34" charset="-120"/>
              </a:rPr>
              <a:t>EXIT TICKET</a:t>
            </a:r>
            <a:endParaRPr lang="en-US" sz="1200" dirty="0"/>
          </a:p>
        </p:txBody>
      </p:sp>
      <p:sp>
        <p:nvSpPr>
          <p:cNvPr id="3" name="Text 1"/>
          <p:cNvSpPr>
            <a:spLocks noGrp="1"/>
          </p:cNvSpPr>
          <p:nvPr>
            <p:ph type="title"/>
          </p:nvPr>
        </p:nvSpPr>
        <p:spPr>
          <a:xfrm>
            <a:off x="812800" y="105152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D3557"/>
                </a:solidFill>
                <a:latin typeface="Be Vietnam Pro" pitchFamily="34" charset="0"/>
                <a:ea typeface="Be Vietnam Pro" pitchFamily="34" charset="-122"/>
                <a:cs typeface="Be Vietnam Pro" pitchFamily="34" charset="-120"/>
              </a:rPr>
              <a:t>Before you leave, answer ONE question</a:t>
            </a:r>
            <a:endParaRPr lang="en-US" sz="3000" dirty="0"/>
          </a:p>
        </p:txBody>
      </p:sp>
      <p:sp>
        <p:nvSpPr>
          <p:cNvPr id="4" name="Shape 2"/>
          <p:cNvSpPr/>
          <p:nvPr/>
        </p:nvSpPr>
        <p:spPr>
          <a:xfrm>
            <a:off x="812800" y="1750020"/>
            <a:ext cx="10566400" cy="675630"/>
          </a:xfrm>
          <a:prstGeom prst="roundRect">
            <a:avLst>
              <a:gd name="adj" fmla="val 18797"/>
            </a:avLst>
          </a:prstGeom>
          <a:solidFill>
            <a:srgbClr val="FFFEFB"/>
          </a:solidFill>
          <a:ln/>
        </p:spPr>
      </p:sp>
      <p:sp>
        <p:nvSpPr>
          <p:cNvPr id="5" name="Text 3"/>
          <p:cNvSpPr/>
          <p:nvPr/>
        </p:nvSpPr>
        <p:spPr>
          <a:xfrm>
            <a:off x="1041400" y="1927820"/>
            <a:ext cx="152797" cy="34543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B4500F"/>
                </a:solidFill>
                <a:latin typeface="Be Vietnam Pro" pitchFamily="34" charset="0"/>
                <a:ea typeface="Be Vietnam Pro" pitchFamily="34" charset="-122"/>
                <a:cs typeface="Be Vietnam Pro" pitchFamily="34" charset="-120"/>
              </a:rPr>
              <a:t>1</a:t>
            </a:r>
            <a:endParaRPr lang="en-US" sz="1800" dirty="0"/>
          </a:p>
        </p:txBody>
      </p:sp>
      <p:sp>
        <p:nvSpPr>
          <p:cNvPr id="6" name="Text 4"/>
          <p:cNvSpPr/>
          <p:nvPr/>
        </p:nvSpPr>
        <p:spPr>
          <a:xfrm>
            <a:off x="1321197" y="1963390"/>
            <a:ext cx="6139041"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2A3646"/>
                </a:solidFill>
                <a:latin typeface="Nunito Sans" pitchFamily="34" charset="0"/>
                <a:ea typeface="Nunito Sans" pitchFamily="34" charset="-122"/>
                <a:cs typeface="Nunito Sans" pitchFamily="34" charset="-120"/>
              </a:rPr>
              <a:t>What is one feature of your dream city? How will it help people?</a:t>
            </a:r>
            <a:endParaRPr lang="en-US" sz="1400" dirty="0"/>
          </a:p>
        </p:txBody>
      </p:sp>
      <p:sp>
        <p:nvSpPr>
          <p:cNvPr id="7" name="Shape 5"/>
          <p:cNvSpPr/>
          <p:nvPr/>
        </p:nvSpPr>
        <p:spPr>
          <a:xfrm>
            <a:off x="812800" y="2552650"/>
            <a:ext cx="10566400" cy="675630"/>
          </a:xfrm>
          <a:prstGeom prst="roundRect">
            <a:avLst>
              <a:gd name="adj" fmla="val 18797"/>
            </a:avLst>
          </a:prstGeom>
          <a:solidFill>
            <a:srgbClr val="FFFEFB"/>
          </a:solidFill>
          <a:ln/>
        </p:spPr>
      </p:sp>
      <p:sp>
        <p:nvSpPr>
          <p:cNvPr id="8" name="Text 6"/>
          <p:cNvSpPr/>
          <p:nvPr/>
        </p:nvSpPr>
        <p:spPr>
          <a:xfrm>
            <a:off x="1041400" y="2730450"/>
            <a:ext cx="203746" cy="34543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B4500F"/>
                </a:solidFill>
                <a:latin typeface="Be Vietnam Pro" pitchFamily="34" charset="0"/>
                <a:ea typeface="Be Vietnam Pro" pitchFamily="34" charset="-122"/>
                <a:cs typeface="Be Vietnam Pro" pitchFamily="34" charset="-120"/>
              </a:rPr>
              <a:t>2</a:t>
            </a:r>
            <a:endParaRPr lang="en-US" sz="1800" dirty="0"/>
          </a:p>
        </p:txBody>
      </p:sp>
      <p:sp>
        <p:nvSpPr>
          <p:cNvPr id="9" name="Text 7"/>
          <p:cNvSpPr/>
          <p:nvPr/>
        </p:nvSpPr>
        <p:spPr>
          <a:xfrm>
            <a:off x="1372146" y="2766020"/>
            <a:ext cx="6308943"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2A3646"/>
                </a:solidFill>
                <a:latin typeface="Nunito Sans" pitchFamily="34" charset="0"/>
                <a:ea typeface="Nunito Sans" pitchFamily="34" charset="-122"/>
                <a:cs typeface="Nunito Sans" pitchFamily="34" charset="-120"/>
              </a:rPr>
              <a:t>What is one problem smart cities may have? How can we solve it?</a:t>
            </a:r>
            <a:endParaRPr lang="en-US" sz="1400" dirty="0"/>
          </a:p>
        </p:txBody>
      </p:sp>
      <p:sp>
        <p:nvSpPr>
          <p:cNvPr id="10" name="Shape 8"/>
          <p:cNvSpPr/>
          <p:nvPr/>
        </p:nvSpPr>
        <p:spPr>
          <a:xfrm>
            <a:off x="812800" y="3355280"/>
            <a:ext cx="10566400" cy="675630"/>
          </a:xfrm>
          <a:prstGeom prst="roundRect">
            <a:avLst>
              <a:gd name="adj" fmla="val 18797"/>
            </a:avLst>
          </a:prstGeom>
          <a:solidFill>
            <a:srgbClr val="FFFEFB"/>
          </a:solidFill>
          <a:ln/>
        </p:spPr>
      </p:sp>
      <p:sp>
        <p:nvSpPr>
          <p:cNvPr id="11" name="Text 9"/>
          <p:cNvSpPr/>
          <p:nvPr/>
        </p:nvSpPr>
        <p:spPr>
          <a:xfrm>
            <a:off x="1041400" y="3533080"/>
            <a:ext cx="207863" cy="34543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B4500F"/>
                </a:solidFill>
                <a:latin typeface="Be Vietnam Pro" pitchFamily="34" charset="0"/>
                <a:ea typeface="Be Vietnam Pro" pitchFamily="34" charset="-122"/>
                <a:cs typeface="Be Vietnam Pro" pitchFamily="34" charset="-120"/>
              </a:rPr>
              <a:t>3</a:t>
            </a:r>
            <a:endParaRPr lang="en-US" sz="1800" dirty="0"/>
          </a:p>
        </p:txBody>
      </p:sp>
      <p:sp>
        <p:nvSpPr>
          <p:cNvPr id="12" name="Text 10"/>
          <p:cNvSpPr/>
          <p:nvPr/>
        </p:nvSpPr>
        <p:spPr>
          <a:xfrm>
            <a:off x="1376263" y="3568650"/>
            <a:ext cx="5667256"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2A3646"/>
                </a:solidFill>
                <a:latin typeface="Nunito Sans" pitchFamily="34" charset="0"/>
                <a:ea typeface="Nunito Sans" pitchFamily="34" charset="-122"/>
                <a:cs typeface="Nunito Sans" pitchFamily="34" charset="-120"/>
              </a:rPr>
              <a:t>Would you like to live in your city in 2050? Why / Why not?</a:t>
            </a:r>
            <a:endParaRPr lang="en-US" sz="1400" dirty="0"/>
          </a:p>
        </p:txBody>
      </p:sp>
      <p:sp>
        <p:nvSpPr>
          <p:cNvPr id="13" name="Text 11"/>
          <p:cNvSpPr/>
          <p:nvPr/>
        </p:nvSpPr>
        <p:spPr>
          <a:xfrm>
            <a:off x="812800" y="4310311"/>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5D6877"/>
                </a:solidFill>
                <a:latin typeface="Nunito Sans" pitchFamily="34" charset="0"/>
                <a:ea typeface="Nunito Sans" pitchFamily="34" charset="-122"/>
                <a:cs typeface="Nunito Sans" pitchFamily="34" charset="-120"/>
              </a:rPr>
              <a:t>USE AT LEAST TWO OF THESE WORDS</a:t>
            </a:r>
            <a:endParaRPr lang="en-US" sz="1200" dirty="0"/>
          </a:p>
        </p:txBody>
      </p:sp>
      <p:sp>
        <p:nvSpPr>
          <p:cNvPr id="14" name="Text 12"/>
          <p:cNvSpPr/>
          <p:nvPr/>
        </p:nvSpPr>
        <p:spPr>
          <a:xfrm>
            <a:off x="819150" y="4631581"/>
            <a:ext cx="940246" cy="388590"/>
          </a:xfrm>
          <a:prstGeom prst="roundRect">
            <a:avLst>
              <a:gd name="adj" fmla="val 50000"/>
            </a:avLst>
          </a:prstGeom>
          <a:solidFill>
            <a:srgbClr val="FFFEFB"/>
          </a:solidFill>
          <a:ln w="12700">
            <a:solidFill>
              <a:srgbClr val="DCE5E8"/>
            </a:solidFill>
            <a:prstDash val="solid"/>
          </a:ln>
        </p:spPr>
        <p:txBody>
          <a:bodyPr wrap="none" lIns="0" tIns="0" rIns="0" bIns="0" rtlCol="0" anchor="ctr">
            <a:normAutofit/>
          </a:bodyPr>
          <a:lstStyle/>
          <a:p>
            <a:pPr marL="0" indent="0" algn="ctr">
              <a:lnSpc>
                <a:spcPts val="1960"/>
              </a:lnSpc>
              <a:buNone/>
            </a:pPr>
            <a:r>
              <a:rPr lang="en-US" sz="1400" dirty="0">
                <a:solidFill>
                  <a:srgbClr val="2A3646"/>
                </a:solidFill>
                <a:latin typeface="Nunito Sans" pitchFamily="34" charset="0"/>
                <a:ea typeface="Nunito Sans" pitchFamily="34" charset="-122"/>
                <a:cs typeface="Nunito Sans" pitchFamily="34" charset="-120"/>
              </a:rPr>
              <a:t>liveable</a:t>
            </a:r>
            <a:endParaRPr lang="en-US" sz="1400" dirty="0"/>
          </a:p>
        </p:txBody>
      </p:sp>
      <p:sp>
        <p:nvSpPr>
          <p:cNvPr id="15" name="Text 13"/>
          <p:cNvSpPr/>
          <p:nvPr/>
        </p:nvSpPr>
        <p:spPr>
          <a:xfrm>
            <a:off x="1860996" y="4631581"/>
            <a:ext cx="1230213" cy="388590"/>
          </a:xfrm>
          <a:prstGeom prst="roundRect">
            <a:avLst>
              <a:gd name="adj" fmla="val 50000"/>
            </a:avLst>
          </a:prstGeom>
          <a:solidFill>
            <a:srgbClr val="FFFEFB"/>
          </a:solidFill>
          <a:ln w="12700">
            <a:solidFill>
              <a:srgbClr val="DCE5E8"/>
            </a:solidFill>
            <a:prstDash val="solid"/>
          </a:ln>
        </p:spPr>
        <p:txBody>
          <a:bodyPr wrap="none" lIns="0" tIns="0" rIns="0" bIns="0" rtlCol="0" anchor="ctr">
            <a:normAutofit/>
          </a:bodyPr>
          <a:lstStyle/>
          <a:p>
            <a:pPr marL="0" indent="0" algn="ctr">
              <a:lnSpc>
                <a:spcPts val="1960"/>
              </a:lnSpc>
              <a:buNone/>
            </a:pPr>
            <a:r>
              <a:rPr lang="en-US" sz="1400" dirty="0">
                <a:solidFill>
                  <a:srgbClr val="2A3646"/>
                </a:solidFill>
                <a:latin typeface="Nunito Sans" pitchFamily="34" charset="0"/>
                <a:ea typeface="Nunito Sans" pitchFamily="34" charset="-122"/>
                <a:cs typeface="Nunito Sans" pitchFamily="34" charset="-120"/>
              </a:rPr>
              <a:t>sustainable</a:t>
            </a:r>
            <a:endParaRPr lang="en-US" sz="1400" dirty="0"/>
          </a:p>
        </p:txBody>
      </p:sp>
      <p:sp>
        <p:nvSpPr>
          <p:cNvPr id="16" name="Text 14"/>
          <p:cNvSpPr/>
          <p:nvPr/>
        </p:nvSpPr>
        <p:spPr>
          <a:xfrm>
            <a:off x="3192810" y="4631581"/>
            <a:ext cx="1439416" cy="388590"/>
          </a:xfrm>
          <a:prstGeom prst="roundRect">
            <a:avLst>
              <a:gd name="adj" fmla="val 50000"/>
            </a:avLst>
          </a:prstGeom>
          <a:solidFill>
            <a:srgbClr val="FFFEFB"/>
          </a:solidFill>
          <a:ln w="12700">
            <a:solidFill>
              <a:srgbClr val="DCE5E8"/>
            </a:solidFill>
            <a:prstDash val="solid"/>
          </a:ln>
        </p:spPr>
        <p:txBody>
          <a:bodyPr wrap="none" lIns="0" tIns="0" rIns="0" bIns="0" rtlCol="0" anchor="ctr">
            <a:normAutofit/>
          </a:bodyPr>
          <a:lstStyle/>
          <a:p>
            <a:pPr marL="0" indent="0" algn="ctr">
              <a:lnSpc>
                <a:spcPts val="1960"/>
              </a:lnSpc>
              <a:buNone/>
            </a:pPr>
            <a:r>
              <a:rPr lang="en-US" sz="1400" dirty="0">
                <a:solidFill>
                  <a:srgbClr val="2A3646"/>
                </a:solidFill>
                <a:latin typeface="Nunito Sans" pitchFamily="34" charset="0"/>
                <a:ea typeface="Nunito Sans" pitchFamily="34" charset="-122"/>
                <a:cs typeface="Nunito Sans" pitchFamily="34" charset="-120"/>
              </a:rPr>
              <a:t>smart sensors</a:t>
            </a:r>
            <a:endParaRPr lang="en-US" sz="1400" dirty="0"/>
          </a:p>
        </p:txBody>
      </p:sp>
      <p:sp>
        <p:nvSpPr>
          <p:cNvPr id="17" name="Text 15"/>
          <p:cNvSpPr/>
          <p:nvPr/>
        </p:nvSpPr>
        <p:spPr>
          <a:xfrm>
            <a:off x="4733826" y="4631581"/>
            <a:ext cx="1667222" cy="388590"/>
          </a:xfrm>
          <a:prstGeom prst="roundRect">
            <a:avLst>
              <a:gd name="adj" fmla="val 50000"/>
            </a:avLst>
          </a:prstGeom>
          <a:solidFill>
            <a:srgbClr val="FFFEFB"/>
          </a:solidFill>
          <a:ln w="12700">
            <a:solidFill>
              <a:srgbClr val="DCE5E8"/>
            </a:solidFill>
            <a:prstDash val="solid"/>
          </a:ln>
        </p:spPr>
        <p:txBody>
          <a:bodyPr wrap="none" lIns="0" tIns="0" rIns="0" bIns="0" rtlCol="0" anchor="ctr">
            <a:normAutofit/>
          </a:bodyPr>
          <a:lstStyle/>
          <a:p>
            <a:pPr marL="0" indent="0" algn="ctr">
              <a:lnSpc>
                <a:spcPts val="1960"/>
              </a:lnSpc>
              <a:buNone/>
            </a:pPr>
            <a:r>
              <a:rPr lang="en-US" sz="1400" dirty="0">
                <a:solidFill>
                  <a:srgbClr val="2A3646"/>
                </a:solidFill>
                <a:latin typeface="Nunito Sans" pitchFamily="34" charset="0"/>
                <a:ea typeface="Nunito Sans" pitchFamily="34" charset="-122"/>
                <a:cs typeface="Nunito Sans" pitchFamily="34" charset="-120"/>
              </a:rPr>
              <a:t>pedestrian zones</a:t>
            </a:r>
            <a:endParaRPr lang="en-US" sz="1400" dirty="0"/>
          </a:p>
        </p:txBody>
      </p:sp>
      <p:sp>
        <p:nvSpPr>
          <p:cNvPr id="18" name="Text 16"/>
          <p:cNvSpPr/>
          <p:nvPr/>
        </p:nvSpPr>
        <p:spPr>
          <a:xfrm>
            <a:off x="6502648" y="4631581"/>
            <a:ext cx="1335187" cy="388590"/>
          </a:xfrm>
          <a:prstGeom prst="roundRect">
            <a:avLst>
              <a:gd name="adj" fmla="val 50000"/>
            </a:avLst>
          </a:prstGeom>
          <a:solidFill>
            <a:srgbClr val="FFFEFB"/>
          </a:solidFill>
          <a:ln w="12700">
            <a:solidFill>
              <a:srgbClr val="DCE5E8"/>
            </a:solidFill>
            <a:prstDash val="solid"/>
          </a:ln>
        </p:spPr>
        <p:txBody>
          <a:bodyPr wrap="none" lIns="0" tIns="0" rIns="0" bIns="0" rtlCol="0" anchor="ctr">
            <a:normAutofit/>
          </a:bodyPr>
          <a:lstStyle/>
          <a:p>
            <a:pPr marL="0" indent="0" algn="ctr">
              <a:lnSpc>
                <a:spcPts val="1960"/>
              </a:lnSpc>
              <a:buNone/>
            </a:pPr>
            <a:r>
              <a:rPr lang="en-US" sz="1400" dirty="0">
                <a:solidFill>
                  <a:srgbClr val="2A3646"/>
                </a:solidFill>
                <a:latin typeface="Nunito Sans" pitchFamily="34" charset="0"/>
                <a:ea typeface="Nunito Sans" pitchFamily="34" charset="-122"/>
                <a:cs typeface="Nunito Sans" pitchFamily="34" charset="-120"/>
              </a:rPr>
              <a:t>city dwellers</a:t>
            </a:r>
            <a:endParaRPr lang="en-US" sz="1400" dirty="0"/>
          </a:p>
        </p:txBody>
      </p:sp>
      <p:sp>
        <p:nvSpPr>
          <p:cNvPr id="19" name="Text 17"/>
          <p:cNvSpPr/>
          <p:nvPr/>
        </p:nvSpPr>
        <p:spPr>
          <a:xfrm>
            <a:off x="7939435" y="4631581"/>
            <a:ext cx="884386" cy="388590"/>
          </a:xfrm>
          <a:prstGeom prst="roundRect">
            <a:avLst>
              <a:gd name="adj" fmla="val 50000"/>
            </a:avLst>
          </a:prstGeom>
          <a:solidFill>
            <a:srgbClr val="FFFEFB"/>
          </a:solidFill>
          <a:ln w="12700">
            <a:solidFill>
              <a:srgbClr val="DCE5E8"/>
            </a:solidFill>
            <a:prstDash val="solid"/>
          </a:ln>
        </p:spPr>
        <p:txBody>
          <a:bodyPr wrap="none" lIns="0" tIns="0" rIns="0" bIns="0" rtlCol="0" anchor="ctr">
            <a:normAutofit/>
          </a:bodyPr>
          <a:lstStyle/>
          <a:p>
            <a:pPr marL="0" indent="0" algn="ctr">
              <a:lnSpc>
                <a:spcPts val="1960"/>
              </a:lnSpc>
              <a:buNone/>
            </a:pPr>
            <a:r>
              <a:rPr lang="en-US" sz="1400" dirty="0">
                <a:solidFill>
                  <a:srgbClr val="2A3646"/>
                </a:solidFill>
                <a:latin typeface="Nunito Sans" pitchFamily="34" charset="0"/>
                <a:ea typeface="Nunito Sans" pitchFamily="34" charset="-122"/>
                <a:cs typeface="Nunito Sans" pitchFamily="34" charset="-120"/>
              </a:rPr>
              <a:t>privacy</a:t>
            </a:r>
            <a:endParaRPr lang="en-US" sz="1400" dirty="0"/>
          </a:p>
        </p:txBody>
      </p:sp>
      <p:sp>
        <p:nvSpPr>
          <p:cNvPr id="20" name="Text 18"/>
          <p:cNvSpPr/>
          <p:nvPr/>
        </p:nvSpPr>
        <p:spPr>
          <a:xfrm>
            <a:off x="8925421" y="4631581"/>
            <a:ext cx="1908175" cy="388590"/>
          </a:xfrm>
          <a:prstGeom prst="roundRect">
            <a:avLst>
              <a:gd name="adj" fmla="val 50000"/>
            </a:avLst>
          </a:prstGeom>
          <a:solidFill>
            <a:srgbClr val="FFFEFB"/>
          </a:solidFill>
          <a:ln w="12700">
            <a:solidFill>
              <a:srgbClr val="DCE5E8"/>
            </a:solidFill>
            <a:prstDash val="solid"/>
          </a:ln>
        </p:spPr>
        <p:txBody>
          <a:bodyPr wrap="none" lIns="0" tIns="0" rIns="0" bIns="0" rtlCol="0" anchor="ctr">
            <a:normAutofit/>
          </a:bodyPr>
          <a:lstStyle/>
          <a:p>
            <a:pPr marL="0" indent="0" algn="ctr">
              <a:lnSpc>
                <a:spcPts val="1960"/>
              </a:lnSpc>
              <a:buNone/>
            </a:pPr>
            <a:r>
              <a:rPr lang="en-US" sz="1400" dirty="0">
                <a:solidFill>
                  <a:srgbClr val="2A3646"/>
                </a:solidFill>
                <a:latin typeface="Nunito Sans" pitchFamily="34" charset="0"/>
                <a:ea typeface="Nunito Sans" pitchFamily="34" charset="-122"/>
                <a:cs typeface="Nunito Sans" pitchFamily="34" charset="-120"/>
              </a:rPr>
              <a:t>sense of community</a:t>
            </a:r>
            <a:endParaRPr lang="en-US" sz="1400" dirty="0"/>
          </a:p>
        </p:txBody>
      </p:sp>
    </p:spTree>
  </p:cSld>
  <p:clrMapOvr>
    <a:masterClrMapping/>
  </p:clrMapOvr>
</p:sld>
</file>

<file path=ppt/theme/theme1.xml><?xml version="1.0" encoding="utf-8"?>
<a:theme xmlns:a="http://schemas.openxmlformats.org/drawingml/2006/main" name="Unit 3 Speaking – Cities of the Future">
  <a:themeElements>
    <a:clrScheme name="Unit 3 Speaking – Cities of the Future">
      <a:dk1>
        <a:srgbClr val="2A3646"/>
      </a:dk1>
      <a:lt1>
        <a:srgbClr val="FBFAF6"/>
      </a:lt1>
      <a:dk2>
        <a:srgbClr val="5E6772"/>
      </a:dk2>
      <a:lt2>
        <a:srgbClr val="E6E6E4"/>
      </a:lt2>
      <a:accent1>
        <a:srgbClr val="117279"/>
      </a:accent1>
      <a:accent2>
        <a:srgbClr val="B4500F"/>
      </a:accent2>
      <a:accent3>
        <a:srgbClr val="E8762A"/>
      </a:accent3>
      <a:accent4>
        <a:srgbClr val="284A70"/>
      </a:accent4>
      <a:accent5>
        <a:srgbClr val="F0A060"/>
      </a:accent5>
      <a:accent6>
        <a:srgbClr val="5D6877"/>
      </a:accent6>
      <a:hlink>
        <a:srgbClr val="0563C1"/>
      </a:hlink>
      <a:folHlink>
        <a:srgbClr val="954F72"/>
      </a:folHlink>
    </a:clrScheme>
    <a:fontScheme name="Unit 3 Speaking – Cities of the Future">
      <a:majorFont>
        <a:latin typeface="Be Vietnam Pr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unito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TotalTime>
  <Words>3259</Words>
  <Application>Microsoft Macintosh PowerPoint</Application>
  <PresentationFormat>Widescreen</PresentationFormat>
  <Paragraphs>395</Paragraphs>
  <Slides>22</Slides>
  <Notes>22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Nunito Sans</vt:lpstr>
      <vt:lpstr>Calibri</vt:lpstr>
      <vt:lpstr>Be Vietnam Pro</vt:lpstr>
      <vt:lpstr>Arial</vt:lpstr>
      <vt:lpstr>Unit 3 Speaking – Cities of the Future</vt:lpstr>
      <vt:lpstr>Cities of the future</vt:lpstr>
      <vt:lpstr>Today’s mission</vt:lpstr>
      <vt:lpstr>What do we already know about future cities?</vt:lpstr>
      <vt:lpstr>Complete the diagram with ideas A, B and C</vt:lpstr>
      <vt:lpstr>Complete the diagram with ideas A, B and C</vt:lpstr>
      <vt:lpstr>Match the questions with the answers</vt:lpstr>
      <vt:lpstr>Practise the conversation</vt:lpstr>
      <vt:lpstr>Build a stronger answer in three steps</vt:lpstr>
      <vt:lpstr>Three features of future cities</vt:lpstr>
      <vt:lpstr>Useful language</vt:lpstr>
      <vt:lpstr>What can we ask about future cities?</vt:lpstr>
      <vt:lpstr>Don’t stop after one answer</vt:lpstr>
      <vt:lpstr>Topic: Infrastructure</vt:lpstr>
      <vt:lpstr>Topic: Living conditions</vt:lpstr>
      <vt:lpstr>Your turn: talk about one feature</vt:lpstr>
      <vt:lpstr>City problems today, solutions tomorrow</vt:lpstr>
      <vt:lpstr>Smart cities have challenges too</vt:lpstr>
      <vt:lpstr>Our city: now and in 2050</vt:lpstr>
      <vt:lpstr>Design your future city</vt:lpstr>
      <vt:lpstr>Our dream city in 2050</vt:lpstr>
      <vt:lpstr>Present your group’s city</vt:lpstr>
      <vt:lpstr>Before you leave, answer ONE question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3 Speaking – Cities of the Future</dc:title>
  <dc:subject/>
  <dc:creator/>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Nunito Sans
Copyright 2016 The Nunito Sans Project Authors (https://github.com/Fonthausen/NunitoSans)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Be Vietnam Pro
Copyright 2021 The Be Vietnam Pro Project Authors (https://github.com/bettergui/BeVietnamPro),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cp:lastModifiedBy>Nguyen Thi Huong Lan</cp:lastModifiedBy>
  <cp:revision>4</cp:revision>
  <dcterms:created xsi:type="dcterms:W3CDTF">2026-10-27T15:19:52Z</dcterms:created>
  <dcterms:modified xsi:type="dcterms:W3CDTF">2026-10-28T01:41:15Z</dcterms:modified>
</cp:coreProperties>
</file>